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291840"/>
            <a:ext cx="8046720" cy="3108960"/>
          </a:xfrm>
          <a:prstGeom prst="rect">
            <a:avLst/>
          </a:prstGeom>
          <a:noFill/>
          <a:ln/>
        </p:spPr>
        <p:txBody>
          <a:bodyPr wrap="square" lIns="0" tIns="0" rIns="0" bIns="0" rtlCol="0" anchor="t"/>
          <a:lstStyle/>
          <a:p>
            <a:pPr marL="177800" indent="-177800">
              <a:spcAft>
                <a:spcPts val="300"/>
              </a:spcAft>
              <a:buSzPct val="100000"/>
              <a:buChar char="•"/>
            </a:pPr>
            <a:r>
              <a:rPr b="1" sz="1300">
                <a:solidFill>
                  <a:srgbClr val="1E293B"/>
                </a:solidFill>
                <a:latin typeface="Calibri"/>
              </a:rPr>
              <a:t>Theme ID - </a:t>
            </a:r>
            <a:r>
              <a:rPr b="0" sz="1300">
                <a:solidFill>
                  <a:srgbClr val="334155"/>
                </a:solidFill>
                <a:latin typeface="Calibri"/>
              </a:rPr>
              <a:t>Theme 4 (Streaming Live RAG)</a:t>
            </a:r>
          </a:p>
          <a:p>
            <a:pPr>
              <a:spcAft>
                <a:spcPts val="300"/>
              </a:spcAft>
            </a:pPr>
            <a:r>
              <a:rPr b="1" sz="1300">
                <a:solidFill>
                  <a:srgbClr val="1E293B"/>
                </a:solidFill>
                <a:latin typeface="Calibri"/>
              </a:rPr>
              <a:t>Team Name - </a:t>
            </a:r>
            <a:r>
              <a:rPr b="0" sz="1300">
                <a:solidFill>
                  <a:srgbClr val="334155"/>
                </a:solidFill>
                <a:latin typeface="Calibri"/>
              </a:rPr>
              <a:t>4 Bottle Codeka</a:t>
            </a:r>
          </a:p>
          <a:p>
            <a:pPr>
              <a:spcAft>
                <a:spcPts val="300"/>
              </a:spcAft>
            </a:pPr>
            <a:r>
              <a:rPr b="1" sz="1300">
                <a:solidFill>
                  <a:srgbClr val="1E293B"/>
                </a:solidFill>
                <a:latin typeface="Calibri"/>
              </a:rPr>
              <a:t>College Name - </a:t>
            </a:r>
            <a:r>
              <a:rPr b="0" sz="1300">
                <a:solidFill>
                  <a:srgbClr val="334155"/>
                </a:solidFill>
                <a:latin typeface="Calibri"/>
              </a:rPr>
              <a:t>Thapar Institute of Engineering &amp; Technology, Patiala</a:t>
            </a:r>
          </a:p>
          <a:p>
            <a:pPr>
              <a:spcAft>
                <a:spcPts val="300"/>
              </a:spcAft>
            </a:pPr>
            <a:r>
              <a:rPr b="1" sz="1300">
                <a:solidFill>
                  <a:srgbClr val="1E293B"/>
                </a:solidFill>
                <a:latin typeface="Calibri"/>
              </a:rPr>
              <a:t>Member Name &amp; Email 1 - </a:t>
            </a:r>
            <a:r>
              <a:rPr b="0" sz="1300">
                <a:solidFill>
                  <a:srgbClr val="334155"/>
                </a:solidFill>
                <a:latin typeface="Calibri"/>
              </a:rPr>
              <a:t>Abhinav Kumar Singh (Lead) | asingh2910.official@gmail.com | 6398779479</a:t>
            </a:r>
          </a:p>
          <a:p>
            <a:pPr>
              <a:spcAft>
                <a:spcPts val="300"/>
              </a:spcAft>
            </a:pPr>
            <a:r>
              <a:rPr b="1" sz="1300">
                <a:solidFill>
                  <a:srgbClr val="1E293B"/>
                </a:solidFill>
                <a:latin typeface="Calibri"/>
              </a:rPr>
              <a:t>Member Name &amp; Email 2 - </a:t>
            </a:r>
            <a:r>
              <a:rPr b="0" sz="1300">
                <a:solidFill>
                  <a:srgbClr val="334155"/>
                </a:solidFill>
                <a:latin typeface="Calibri"/>
              </a:rPr>
              <a:t>Sukhansh Mittal | smittal_be24@thapar.edu | 9877366331</a:t>
            </a:r>
          </a:p>
          <a:p>
            <a:pPr>
              <a:spcAft>
                <a:spcPts val="300"/>
              </a:spcAft>
            </a:pPr>
            <a:r>
              <a:rPr b="1" sz="1300">
                <a:solidFill>
                  <a:srgbClr val="1E293B"/>
                </a:solidFill>
                <a:latin typeface="Calibri"/>
              </a:rPr>
              <a:t>Member Name &amp; Email 3 - </a:t>
            </a:r>
            <a:r>
              <a:rPr b="0" sz="1300">
                <a:solidFill>
                  <a:srgbClr val="334155"/>
                </a:solidFill>
                <a:latin typeface="Calibri"/>
              </a:rPr>
              <a:t>Lakkshya Jha | ljha_be24@thapar.edu | 9574875069</a:t>
            </a:r>
          </a:p>
          <a:p>
            <a:pPr>
              <a:spcAft>
                <a:spcPts val="300"/>
              </a:spcAft>
            </a:pPr>
            <a:r>
              <a:rPr b="1" sz="1300">
                <a:solidFill>
                  <a:srgbClr val="1E293B"/>
                </a:solidFill>
                <a:latin typeface="Calibri"/>
              </a:rPr>
              <a:t>Member Name &amp; Email 4 - </a:t>
            </a:r>
            <a:r>
              <a:rPr b="0" sz="1300">
                <a:solidFill>
                  <a:srgbClr val="334155"/>
                </a:solidFill>
                <a:latin typeface="Calibri"/>
              </a:rPr>
              <a:t>Vikramaditya Singh | vsingh1_be24@thapar.edu | 6239134155</a:t>
            </a:r>
          </a:p>
          <a:p>
            <a:pPr>
              <a:spcAft>
                <a:spcPts val="300"/>
              </a:spcAft>
            </a:pPr>
            <a:r>
              <a:rPr b="1" sz="1300">
                <a:solidFill>
                  <a:srgbClr val="1E293B"/>
                </a:solidFill>
                <a:latin typeface="Calibri"/>
              </a:rPr>
              <a:t>Submission Github link - </a:t>
            </a:r>
            <a:r>
              <a:rPr b="0" sz="1300">
                <a:solidFill>
                  <a:srgbClr val="334155"/>
                </a:solidFill>
                <a:latin typeface="Calibri"/>
              </a:rPr>
              <a:t>https://github.com/abhinav29102005/ultron</a:t>
            </a: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777240" y="365760"/>
            <a:ext cx="10607040" cy="914400"/>
          </a:xfrm>
        </p:spPr>
        <p:txBody>
          <a:bodyPr>
            <a:normAutofit/>
          </a:bodyPr>
          <a:lstStyle/>
          <a:p>
            <a:pPr>
              <a:defRPr sz="2800" b="1">
                <a:solidFill>
                  <a:srgbClr val="704EA6"/>
                </a:solidFill>
                <a:latin typeface="Calibri"/>
              </a:defRPr>
            </a:pPr>
            <a:r>
              <a:t>Problem Statement &amp; Motivation</a:t>
            </a:r>
          </a:p>
        </p:txBody>
      </p:sp>
      <p:sp>
        <p:nvSpPr>
          <p:cNvPr id="3" name="Rounded Rectangle 2"/>
          <p:cNvSpPr/>
          <p:nvPr/>
        </p:nvSpPr>
        <p:spPr>
          <a:xfrm>
            <a:off x="777240" y="1463040"/>
            <a:ext cx="51663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DC2626"/>
                </a:solidFill>
                <a:latin typeface="Calibri"/>
              </a:defRPr>
            </a:pPr>
            <a:r>
              <a:t>The Live Conversational RAG Problem</a:t>
            </a:r>
          </a:p>
          <a:p>
            <a:pPr>
              <a:spcAft>
                <a:spcPts val="600"/>
              </a:spcAft>
            </a:pPr>
            <a:r>
              <a:rPr b="1" sz="1100">
                <a:solidFill>
                  <a:srgbClr val="1E293B"/>
                </a:solidFill>
                <a:latin typeface="Calibri"/>
              </a:rPr>
              <a:t>• Turn-Complete Bottleneck: </a:t>
            </a:r>
            <a:r>
              <a:rPr b="0" sz="1100">
                <a:solidFill>
                  <a:srgbClr val="334155"/>
                </a:solidFill>
                <a:latin typeface="Calibri"/>
              </a:rPr>
              <a:t>Traditional RAG waits for entire sentences to finish before initiating vector search, incurring 1,500ms–2,500ms TTFT delays that destroy natural voice pacing.</a:t>
            </a:r>
          </a:p>
          <a:p>
            <a:pPr>
              <a:spcAft>
                <a:spcPts val="600"/>
              </a:spcAft>
            </a:pPr>
            <a:r>
              <a:rPr b="1" sz="1100">
                <a:solidFill>
                  <a:srgbClr val="1E293B"/>
                </a:solidFill>
                <a:latin typeface="Calibri"/>
              </a:rPr>
              <a:t>• Mid-Utterance Corrections: </a:t>
            </a:r>
            <a:r>
              <a:rPr b="0" sz="1100">
                <a:solidFill>
                  <a:srgbClr val="334155"/>
                </a:solidFill>
                <a:latin typeface="Calibri"/>
              </a:rPr>
              <a:t>Human speech contains self-corrections ('Pune... wait, make that Mumbai'). Standard engines commit to the stale entity or retrieve contradictory chunks.</a:t>
            </a:r>
          </a:p>
          <a:p>
            <a:pPr>
              <a:spcAft>
                <a:spcPts val="600"/>
              </a:spcAft>
            </a:pPr>
            <a:r>
              <a:rPr b="1" sz="1100">
                <a:solidFill>
                  <a:srgbClr val="1E293B"/>
                </a:solidFill>
                <a:latin typeface="Calibri"/>
              </a:rPr>
              <a:t>• Context Discontinuity: </a:t>
            </a:r>
            <a:r>
              <a:rPr b="0" sz="1100">
                <a:solidFill>
                  <a:srgbClr val="334155"/>
                </a:solidFill>
                <a:latin typeface="Calibri"/>
              </a:rPr>
              <a:t>Follow-up questions contain ellipses &amp; anaphora ('What about for 50 people there?'). Systems drift away without cross-turn coreference resolution.</a:t>
            </a:r>
          </a:p>
          <a:p>
            <a:pPr>
              <a:spcAft>
                <a:spcPts val="600"/>
              </a:spcAft>
            </a:pPr>
            <a:r>
              <a:rPr b="1" sz="1100">
                <a:solidFill>
                  <a:srgbClr val="1E293B"/>
                </a:solidFill>
                <a:latin typeface="Calibri"/>
              </a:rPr>
              <a:t>• Audit Failure &amp; Hallucination: </a:t>
            </a:r>
            <a:r>
              <a:rPr b="0" sz="1100">
                <a:solidFill>
                  <a:srgbClr val="334155"/>
                </a:solidFill>
                <a:latin typeface="Calibri"/>
              </a:rPr>
              <a:t>Generic document-level tags fail enterprise audits; systems hallucinate when queries fall outside the corpus without strict uncertainty guarantees.</a:t>
            </a:r>
          </a:p>
        </p:txBody>
      </p:sp>
      <p:sp>
        <p:nvSpPr>
          <p:cNvPr id="4" name="Rounded Rectangle 3"/>
          <p:cNvSpPr/>
          <p:nvPr/>
        </p:nvSpPr>
        <p:spPr>
          <a:xfrm>
            <a:off x="6217920" y="1463040"/>
            <a:ext cx="51663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Ultron's Paradigm &amp; Hackathon Objectives</a:t>
            </a:r>
          </a:p>
          <a:p>
            <a:pPr>
              <a:spcAft>
                <a:spcPts val="600"/>
              </a:spcAft>
            </a:pPr>
            <a:r>
              <a:rPr b="1" sz="1100">
                <a:solidFill>
                  <a:srgbClr val="1E293B"/>
                </a:solidFill>
                <a:latin typeface="Calibri"/>
              </a:rPr>
              <a:t>• Speculative Early Triggering: </a:t>
            </a:r>
            <a:r>
              <a:rPr b="0" sz="1100">
                <a:solidFill>
                  <a:srgbClr val="334155"/>
                </a:solidFill>
                <a:latin typeface="Calibri"/>
              </a:rPr>
              <a:t>Analyzes the streaming token trajectory and fires hybrid retrieval at token 6–8, achieving +1,300ms time gain before utterance completion.</a:t>
            </a:r>
          </a:p>
          <a:p>
            <a:pPr>
              <a:spcAft>
                <a:spcPts val="600"/>
              </a:spcAft>
            </a:pPr>
            <a:r>
              <a:rPr b="1" sz="1100">
                <a:solidFill>
                  <a:srgbClr val="1E293B"/>
                </a:solidFill>
                <a:latin typeface="Calibri"/>
              </a:rPr>
              <a:t>• Intra-Stream Speculative Pivot: </a:t>
            </a:r>
            <a:r>
              <a:rPr b="0" sz="1100">
                <a:solidFill>
                  <a:srgbClr val="334155"/>
                </a:solidFill>
                <a:latin typeface="Calibri"/>
              </a:rPr>
              <a:t>Real-time diff tracking cancels in-flight vector searches upon detecting mid-sentence pivot keywords ('wait', 'actually'), re-dispatching instantly.</a:t>
            </a:r>
          </a:p>
          <a:p>
            <a:pPr>
              <a:spcAft>
                <a:spcPts val="600"/>
              </a:spcAft>
            </a:pPr>
            <a:r>
              <a:rPr b="1" sz="1100">
                <a:solidFill>
                  <a:srgbClr val="1E293B"/>
                </a:solidFill>
                <a:latin typeface="Calibri"/>
              </a:rPr>
              <a:t>• Session Lineage Refinement: </a:t>
            </a:r>
            <a:r>
              <a:rPr b="0" sz="1100">
                <a:solidFill>
                  <a:srgbClr val="334155"/>
                </a:solidFill>
                <a:latin typeface="Calibri"/>
              </a:rPr>
              <a:t>Coreference engine resolves anaphora &amp; deictic markers; Session Lineage tracks constraint mutations (Version 1 → Version 2).</a:t>
            </a:r>
          </a:p>
          <a:p>
            <a:pPr>
              <a:spcAft>
                <a:spcPts val="600"/>
              </a:spcAft>
            </a:pPr>
            <a:r>
              <a:rPr b="1" sz="1100">
                <a:solidFill>
                  <a:srgbClr val="1E293B"/>
                </a:solidFill>
                <a:latin typeface="Calibri"/>
              </a:rPr>
              <a:t>• Gate 0 Query Suppression: </a:t>
            </a:r>
            <a:r>
              <a:rPr b="0" sz="1100">
                <a:solidFill>
                  <a:srgbClr val="334155"/>
                </a:solidFill>
                <a:latin typeface="Calibri"/>
              </a:rPr>
              <a:t>Classifies pure formatting/summarization requests ('format into 2 bullets') and executes 0 corpus vector searches, saving 40% compute.</a:t>
            </a:r>
          </a:p>
          <a:p>
            <a:pPr>
              <a:spcAft>
                <a:spcPts val="600"/>
              </a:spcAft>
            </a:pPr>
            <a:r>
              <a:rPr b="1" sz="1100">
                <a:solidFill>
                  <a:srgbClr val="1E293B"/>
                </a:solidFill>
                <a:latin typeface="Calibri"/>
              </a:rPr>
              <a:t>• Verifiable Enterprise Grounding: </a:t>
            </a:r>
            <a:r>
              <a:rPr b="0" sz="1100">
                <a:solidFill>
                  <a:srgbClr val="334155"/>
                </a:solidFill>
                <a:latin typeface="Calibri"/>
              </a:rPr>
              <a:t>Exact section citations ('[Doc_POLICY §XX]') across 21 corporate policy sections with zero parametric hallucination.</a:t>
            </a:r>
          </a:p>
        </p:txBody>
      </p:sp>
      <p:sp>
        <p:nvSpPr>
          <p:cNvPr id="5" name="Rounded Rectangle 4"/>
          <p:cNvSpPr/>
          <p:nvPr/>
        </p:nvSpPr>
        <p:spPr>
          <a:xfrm>
            <a:off x="777240" y="1463040"/>
            <a:ext cx="51663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DC2626"/>
                </a:solidFill>
                <a:latin typeface="Calibri"/>
              </a:defRPr>
            </a:pPr>
            <a:r>
              <a:t>The Live Conversational RAG Problem</a:t>
            </a:r>
          </a:p>
          <a:p>
            <a:pPr>
              <a:spcAft>
                <a:spcPts val="600"/>
              </a:spcAft>
            </a:pPr>
            <a:r>
              <a:rPr b="1" sz="1100">
                <a:solidFill>
                  <a:srgbClr val="1E293B"/>
                </a:solidFill>
                <a:latin typeface="Calibri"/>
              </a:rPr>
              <a:t>• Turn-Complete Bottleneck: </a:t>
            </a:r>
            <a:r>
              <a:rPr b="0" sz="1100">
                <a:solidFill>
                  <a:srgbClr val="334155"/>
                </a:solidFill>
                <a:latin typeface="Calibri"/>
              </a:rPr>
              <a:t>Traditional RAG waits for entire sentences to finish before initiating vector search, incurring 1,500ms–2,500ms TTFT delays that destroy natural voice pacing.</a:t>
            </a:r>
          </a:p>
          <a:p>
            <a:pPr>
              <a:spcAft>
                <a:spcPts val="600"/>
              </a:spcAft>
            </a:pPr>
            <a:r>
              <a:rPr b="1" sz="1100">
                <a:solidFill>
                  <a:srgbClr val="1E293B"/>
                </a:solidFill>
                <a:latin typeface="Calibri"/>
              </a:rPr>
              <a:t>• Mid-Utterance Corrections: </a:t>
            </a:r>
            <a:r>
              <a:rPr b="0" sz="1100">
                <a:solidFill>
                  <a:srgbClr val="334155"/>
                </a:solidFill>
                <a:latin typeface="Calibri"/>
              </a:rPr>
              <a:t>Human speech contains self-corrections ('Pune... wait, make that Mumbai'). Standard engines commit to the stale entity or retrieve contradictory chunks.</a:t>
            </a:r>
          </a:p>
          <a:p>
            <a:pPr>
              <a:spcAft>
                <a:spcPts val="600"/>
              </a:spcAft>
            </a:pPr>
            <a:r>
              <a:rPr b="1" sz="1100">
                <a:solidFill>
                  <a:srgbClr val="1E293B"/>
                </a:solidFill>
                <a:latin typeface="Calibri"/>
              </a:rPr>
              <a:t>• Context Discontinuity: </a:t>
            </a:r>
            <a:r>
              <a:rPr b="0" sz="1100">
                <a:solidFill>
                  <a:srgbClr val="334155"/>
                </a:solidFill>
                <a:latin typeface="Calibri"/>
              </a:rPr>
              <a:t>Follow-up questions contain ellipses &amp; anaphora ('What about for 50 people there?'). Systems drift away without cross-turn coreference resolution.</a:t>
            </a:r>
          </a:p>
          <a:p>
            <a:pPr>
              <a:spcAft>
                <a:spcPts val="600"/>
              </a:spcAft>
            </a:pPr>
            <a:r>
              <a:rPr b="1" sz="1100">
                <a:solidFill>
                  <a:srgbClr val="1E293B"/>
                </a:solidFill>
                <a:latin typeface="Calibri"/>
              </a:rPr>
              <a:t>• Audit Failure &amp; Hallucination: </a:t>
            </a:r>
            <a:r>
              <a:rPr b="0" sz="1100">
                <a:solidFill>
                  <a:srgbClr val="334155"/>
                </a:solidFill>
                <a:latin typeface="Calibri"/>
              </a:rPr>
              <a:t>Generic document-level tags fail enterprise audits; systems hallucinate when queries fall outside the corpus without strict uncertainty guarantees.</a:t>
            </a:r>
          </a:p>
        </p:txBody>
      </p:sp>
      <p:sp>
        <p:nvSpPr>
          <p:cNvPr id="6" name="Rounded Rectangle 5"/>
          <p:cNvSpPr/>
          <p:nvPr/>
        </p:nvSpPr>
        <p:spPr>
          <a:xfrm>
            <a:off x="6217920" y="1463040"/>
            <a:ext cx="51663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Ultron's Paradigm &amp; Hackathon Objectives</a:t>
            </a:r>
          </a:p>
          <a:p>
            <a:pPr>
              <a:spcAft>
                <a:spcPts val="600"/>
              </a:spcAft>
            </a:pPr>
            <a:r>
              <a:rPr b="1" sz="1100">
                <a:solidFill>
                  <a:srgbClr val="1E293B"/>
                </a:solidFill>
                <a:latin typeface="Calibri"/>
              </a:rPr>
              <a:t>• Speculative Early Triggering: </a:t>
            </a:r>
            <a:r>
              <a:rPr b="0" sz="1100">
                <a:solidFill>
                  <a:srgbClr val="334155"/>
                </a:solidFill>
                <a:latin typeface="Calibri"/>
              </a:rPr>
              <a:t>Analyzes the streaming token trajectory and fires hybrid retrieval at token 6–8, achieving +1,300ms time gain before utterance completion.</a:t>
            </a:r>
          </a:p>
          <a:p>
            <a:pPr>
              <a:spcAft>
                <a:spcPts val="600"/>
              </a:spcAft>
            </a:pPr>
            <a:r>
              <a:rPr b="1" sz="1100">
                <a:solidFill>
                  <a:srgbClr val="1E293B"/>
                </a:solidFill>
                <a:latin typeface="Calibri"/>
              </a:rPr>
              <a:t>• Intra-Stream Speculative Pivot: </a:t>
            </a:r>
            <a:r>
              <a:rPr b="0" sz="1100">
                <a:solidFill>
                  <a:srgbClr val="334155"/>
                </a:solidFill>
                <a:latin typeface="Calibri"/>
              </a:rPr>
              <a:t>Real-time diff tracking cancels in-flight vector searches upon detecting mid-sentence pivot keywords ('wait', 'actually'), re-dispatching instantly.</a:t>
            </a:r>
          </a:p>
          <a:p>
            <a:pPr>
              <a:spcAft>
                <a:spcPts val="600"/>
              </a:spcAft>
            </a:pPr>
            <a:r>
              <a:rPr b="1" sz="1100">
                <a:solidFill>
                  <a:srgbClr val="1E293B"/>
                </a:solidFill>
                <a:latin typeface="Calibri"/>
              </a:rPr>
              <a:t>• Session Lineage Refinement: </a:t>
            </a:r>
            <a:r>
              <a:rPr b="0" sz="1100">
                <a:solidFill>
                  <a:srgbClr val="334155"/>
                </a:solidFill>
                <a:latin typeface="Calibri"/>
              </a:rPr>
              <a:t>Coreference engine resolves anaphora &amp; deictic markers; Session Lineage tracks constraint mutations (Version 1 → Version 2).</a:t>
            </a:r>
          </a:p>
          <a:p>
            <a:pPr>
              <a:spcAft>
                <a:spcPts val="600"/>
              </a:spcAft>
            </a:pPr>
            <a:r>
              <a:rPr b="1" sz="1100">
                <a:solidFill>
                  <a:srgbClr val="1E293B"/>
                </a:solidFill>
                <a:latin typeface="Calibri"/>
              </a:rPr>
              <a:t>• Gate 0 Query Suppression: </a:t>
            </a:r>
            <a:r>
              <a:rPr b="0" sz="1100">
                <a:solidFill>
                  <a:srgbClr val="334155"/>
                </a:solidFill>
                <a:latin typeface="Calibri"/>
              </a:rPr>
              <a:t>Classifies pure formatting/summarization requests ('format into 2 bullets') and executes 0 corpus vector searches, saving 40% compute.</a:t>
            </a:r>
          </a:p>
          <a:p>
            <a:pPr>
              <a:spcAft>
                <a:spcPts val="600"/>
              </a:spcAft>
            </a:pPr>
            <a:r>
              <a:rPr b="1" sz="1100">
                <a:solidFill>
                  <a:srgbClr val="1E293B"/>
                </a:solidFill>
                <a:latin typeface="Calibri"/>
              </a:rPr>
              <a:t>• Verifiable Enterprise Grounding: </a:t>
            </a:r>
            <a:r>
              <a:rPr b="0" sz="1100">
                <a:solidFill>
                  <a:srgbClr val="334155"/>
                </a:solidFill>
                <a:latin typeface="Calibri"/>
              </a:rPr>
              <a:t>Exact section citations ('[Doc_POLICY §XX]') across 21 corporate policy sections with zero parametric hallucination.</a:t>
            </a:r>
          </a:p>
        </p:txBody>
      </p:sp>
      <p:sp>
        <p:nvSpPr>
          <p:cNvPr id="7" name="Rounded Rectangle 6"/>
          <p:cNvSpPr/>
          <p:nvPr/>
        </p:nvSpPr>
        <p:spPr>
          <a:xfrm>
            <a:off x="777240" y="1463040"/>
            <a:ext cx="51663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DC2626"/>
                </a:solidFill>
                <a:latin typeface="Calibri"/>
              </a:defRPr>
            </a:pPr>
            <a:r>
              <a:t>The Live Conversational RAG Problem</a:t>
            </a:r>
          </a:p>
          <a:p>
            <a:pPr>
              <a:spcAft>
                <a:spcPts val="600"/>
              </a:spcAft>
            </a:pPr>
            <a:r>
              <a:rPr b="1" sz="1100">
                <a:solidFill>
                  <a:srgbClr val="1E293B"/>
                </a:solidFill>
                <a:latin typeface="Calibri"/>
              </a:rPr>
              <a:t>• Turn-Complete Bottleneck: </a:t>
            </a:r>
            <a:r>
              <a:rPr b="0" sz="1100">
                <a:solidFill>
                  <a:srgbClr val="334155"/>
                </a:solidFill>
                <a:latin typeface="Calibri"/>
              </a:rPr>
              <a:t>Traditional RAG waits for entire sentences to finish before initiating vector search, incurring 1,500ms–2,500ms TTFT delays that destroy natural voice pacing.</a:t>
            </a:r>
          </a:p>
          <a:p>
            <a:pPr>
              <a:spcAft>
                <a:spcPts val="600"/>
              </a:spcAft>
            </a:pPr>
            <a:r>
              <a:rPr b="1" sz="1100">
                <a:solidFill>
                  <a:srgbClr val="1E293B"/>
                </a:solidFill>
                <a:latin typeface="Calibri"/>
              </a:rPr>
              <a:t>• Mid-Utterance Corrections: </a:t>
            </a:r>
            <a:r>
              <a:rPr b="0" sz="1100">
                <a:solidFill>
                  <a:srgbClr val="334155"/>
                </a:solidFill>
                <a:latin typeface="Calibri"/>
              </a:rPr>
              <a:t>Human speech contains self-corrections ('Pune... wait, make that Mumbai'). Standard engines commit to the stale entity or retrieve contradictory chunks.</a:t>
            </a:r>
          </a:p>
          <a:p>
            <a:pPr>
              <a:spcAft>
                <a:spcPts val="600"/>
              </a:spcAft>
            </a:pPr>
            <a:r>
              <a:rPr b="1" sz="1100">
                <a:solidFill>
                  <a:srgbClr val="1E293B"/>
                </a:solidFill>
                <a:latin typeface="Calibri"/>
              </a:rPr>
              <a:t>• Context Discontinuity: </a:t>
            </a:r>
            <a:r>
              <a:rPr b="0" sz="1100">
                <a:solidFill>
                  <a:srgbClr val="334155"/>
                </a:solidFill>
                <a:latin typeface="Calibri"/>
              </a:rPr>
              <a:t>Follow-up questions contain ellipses &amp; anaphora ('What about for 50 people there?'). Systems drift away without cross-turn coreference resolution.</a:t>
            </a:r>
          </a:p>
          <a:p>
            <a:pPr>
              <a:spcAft>
                <a:spcPts val="600"/>
              </a:spcAft>
            </a:pPr>
            <a:r>
              <a:rPr b="1" sz="1100">
                <a:solidFill>
                  <a:srgbClr val="1E293B"/>
                </a:solidFill>
                <a:latin typeface="Calibri"/>
              </a:rPr>
              <a:t>• Audit Failure &amp; Hallucination: </a:t>
            </a:r>
            <a:r>
              <a:rPr b="0" sz="1100">
                <a:solidFill>
                  <a:srgbClr val="334155"/>
                </a:solidFill>
                <a:latin typeface="Calibri"/>
              </a:rPr>
              <a:t>Generic document-level tags fail enterprise audits; systems hallucinate when queries fall outside the corpus without strict uncertainty guarantees.</a:t>
            </a:r>
          </a:p>
        </p:txBody>
      </p:sp>
      <p:sp>
        <p:nvSpPr>
          <p:cNvPr id="8" name="Rounded Rectangle 7"/>
          <p:cNvSpPr/>
          <p:nvPr/>
        </p:nvSpPr>
        <p:spPr>
          <a:xfrm>
            <a:off x="6217920" y="1463040"/>
            <a:ext cx="51663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Ultron's Paradigm &amp; Hackathon Objectives</a:t>
            </a:r>
          </a:p>
          <a:p>
            <a:pPr>
              <a:spcAft>
                <a:spcPts val="600"/>
              </a:spcAft>
            </a:pPr>
            <a:r>
              <a:rPr b="1" sz="1100">
                <a:solidFill>
                  <a:srgbClr val="1E293B"/>
                </a:solidFill>
                <a:latin typeface="Calibri"/>
              </a:rPr>
              <a:t>• Speculative Early Triggering: </a:t>
            </a:r>
            <a:r>
              <a:rPr b="0" sz="1100">
                <a:solidFill>
                  <a:srgbClr val="334155"/>
                </a:solidFill>
                <a:latin typeface="Calibri"/>
              </a:rPr>
              <a:t>Analyzes the streaming token trajectory and fires hybrid retrieval at token 6–8, achieving +1,300ms time gain before utterance completion.</a:t>
            </a:r>
          </a:p>
          <a:p>
            <a:pPr>
              <a:spcAft>
                <a:spcPts val="600"/>
              </a:spcAft>
            </a:pPr>
            <a:r>
              <a:rPr b="1" sz="1100">
                <a:solidFill>
                  <a:srgbClr val="1E293B"/>
                </a:solidFill>
                <a:latin typeface="Calibri"/>
              </a:rPr>
              <a:t>• Intra-Stream Speculative Pivot: </a:t>
            </a:r>
            <a:r>
              <a:rPr b="0" sz="1100">
                <a:solidFill>
                  <a:srgbClr val="334155"/>
                </a:solidFill>
                <a:latin typeface="Calibri"/>
              </a:rPr>
              <a:t>Real-time diff tracking cancels in-flight vector searches upon detecting mid-sentence pivot keywords ('wait', 'actually'), re-dispatching instantly.</a:t>
            </a:r>
          </a:p>
          <a:p>
            <a:pPr>
              <a:spcAft>
                <a:spcPts val="600"/>
              </a:spcAft>
            </a:pPr>
            <a:r>
              <a:rPr b="1" sz="1100">
                <a:solidFill>
                  <a:srgbClr val="1E293B"/>
                </a:solidFill>
                <a:latin typeface="Calibri"/>
              </a:rPr>
              <a:t>• Session Lineage Refinement: </a:t>
            </a:r>
            <a:r>
              <a:rPr b="0" sz="1100">
                <a:solidFill>
                  <a:srgbClr val="334155"/>
                </a:solidFill>
                <a:latin typeface="Calibri"/>
              </a:rPr>
              <a:t>Coreference engine resolves anaphora &amp; deictic markers; Session Lineage tracks constraint mutations (Version 1 → Version 2).</a:t>
            </a:r>
          </a:p>
          <a:p>
            <a:pPr>
              <a:spcAft>
                <a:spcPts val="600"/>
              </a:spcAft>
            </a:pPr>
            <a:r>
              <a:rPr b="1" sz="1100">
                <a:solidFill>
                  <a:srgbClr val="1E293B"/>
                </a:solidFill>
                <a:latin typeface="Calibri"/>
              </a:rPr>
              <a:t>• Gate 0 Query Suppression: </a:t>
            </a:r>
            <a:r>
              <a:rPr b="0" sz="1100">
                <a:solidFill>
                  <a:srgbClr val="334155"/>
                </a:solidFill>
                <a:latin typeface="Calibri"/>
              </a:rPr>
              <a:t>Classifies pure formatting/summarization requests ('format into 2 bullets') and executes 0 corpus vector searches, saving 40% compute.</a:t>
            </a:r>
          </a:p>
          <a:p>
            <a:pPr>
              <a:spcAft>
                <a:spcPts val="600"/>
              </a:spcAft>
            </a:pPr>
            <a:r>
              <a:rPr b="1" sz="1100">
                <a:solidFill>
                  <a:srgbClr val="1E293B"/>
                </a:solidFill>
                <a:latin typeface="Calibri"/>
              </a:rPr>
              <a:t>• Verifiable Enterprise Grounding: </a:t>
            </a:r>
            <a:r>
              <a:rPr b="0" sz="1100">
                <a:solidFill>
                  <a:srgbClr val="334155"/>
                </a:solidFill>
                <a:latin typeface="Calibri"/>
              </a:rPr>
              <a:t>Exact section citations ('[Doc_POLICY §XX]') across 21 corporate policy sections with zero parametric hallucination.</a:t>
            </a:r>
          </a:p>
        </p:txBody>
      </p:sp>
      <p:sp>
        <p:nvSpPr>
          <p:cNvPr id="9" name="Rounded Rectangle 8"/>
          <p:cNvSpPr/>
          <p:nvPr/>
        </p:nvSpPr>
        <p:spPr>
          <a:xfrm>
            <a:off x="777240" y="1371600"/>
            <a:ext cx="5166360" cy="2011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The Voice Latency Bottleneck</a:t>
            </a:r>
          </a:p>
          <a:p>
            <a:pPr>
              <a:spcAft>
                <a:spcPts val="600"/>
              </a:spcAft>
            </a:pPr>
            <a:r>
              <a:rPr b="1" sz="1100">
                <a:solidFill>
                  <a:srgbClr val="1E293B"/>
                </a:solidFill>
                <a:latin typeface="Calibri"/>
              </a:rPr>
              <a:t>• Synchronous Waiting: </a:t>
            </a:r>
            <a:r>
              <a:rPr b="0" sz="1100">
                <a:solidFill>
                  <a:srgbClr val="334155"/>
                </a:solidFill>
                <a:latin typeface="Calibri"/>
              </a:rPr>
              <a:t>Traditional RAG waits for a user to finish speaking, processes ASR, chunks text, searches vectors, and only then streams output (often 1.5s - 3s latency).</a:t>
            </a:r>
          </a:p>
          <a:p>
            <a:pPr>
              <a:spcAft>
                <a:spcPts val="600"/>
              </a:spcAft>
            </a:pPr>
            <a:r>
              <a:rPr b="1" sz="1100">
                <a:solidFill>
                  <a:srgbClr val="1E293B"/>
                </a:solidFill>
                <a:latin typeface="Calibri"/>
              </a:rPr>
              <a:t>• Speech Corrections: </a:t>
            </a:r>
            <a:r>
              <a:rPr b="0" sz="1100">
                <a:solidFill>
                  <a:srgbClr val="334155"/>
                </a:solidFill>
                <a:latin typeface="Calibri"/>
              </a:rPr>
              <a:t>If a user misspeaks ('Wait, no, I meant policy B'), traditional pipelines fetch stale context, leading to hallucinations.</a:t>
            </a:r>
          </a:p>
        </p:txBody>
      </p:sp>
      <p:sp>
        <p:nvSpPr>
          <p:cNvPr id="10" name="Rounded Rectangle 9"/>
          <p:cNvSpPr/>
          <p:nvPr/>
        </p:nvSpPr>
        <p:spPr>
          <a:xfrm>
            <a:off x="6217920" y="1371600"/>
            <a:ext cx="5166360" cy="2011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Our Solution: Event-Driven Live RAG</a:t>
            </a:r>
          </a:p>
          <a:p>
            <a:pPr>
              <a:spcAft>
                <a:spcPts val="600"/>
              </a:spcAft>
            </a:pPr>
            <a:r>
              <a:rPr b="1" sz="1100">
                <a:solidFill>
                  <a:srgbClr val="1E293B"/>
                </a:solidFill>
                <a:latin typeface="Calibri"/>
              </a:rPr>
              <a:t>• Sub-Word Speculation: </a:t>
            </a:r>
            <a:r>
              <a:rPr b="0" sz="1100">
                <a:solidFill>
                  <a:srgbClr val="334155"/>
                </a:solidFill>
                <a:latin typeface="Calibri"/>
              </a:rPr>
              <a:t>Triggering vector search at token 6-8, long before the sentence finishes.</a:t>
            </a:r>
          </a:p>
          <a:p>
            <a:pPr>
              <a:spcAft>
                <a:spcPts val="600"/>
              </a:spcAft>
            </a:pPr>
            <a:r>
              <a:rPr b="1" sz="1100">
                <a:solidFill>
                  <a:srgbClr val="1E293B"/>
                </a:solidFill>
                <a:latin typeface="Calibri"/>
              </a:rPr>
              <a:t>• Dynamic Mid-Stream Pivot: </a:t>
            </a:r>
            <a:r>
              <a:rPr b="0" sz="1100">
                <a:solidFill>
                  <a:srgbClr val="334155"/>
                </a:solidFill>
                <a:latin typeface="Calibri"/>
              </a:rPr>
              <a:t>If the user corrects themselves, the pipeline detects the diff, aborts the in-flight vector query, and updates the intent.</a:t>
            </a:r>
          </a:p>
        </p:txBody>
      </p:sp>
      <p:sp>
        <p:nvSpPr>
          <p:cNvPr id="11" name="Rounded Rectangle 10"/>
          <p:cNvSpPr/>
          <p:nvPr/>
        </p:nvSpPr>
        <p:spPr>
          <a:xfrm>
            <a:off x="777240" y="3566160"/>
            <a:ext cx="10607040" cy="26517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Flowchart: Traditional RAG vs Ultron Streaming RAG</a:t>
            </a:r>
          </a:p>
        </p:txBody>
      </p:sp>
      <p:sp>
        <p:nvSpPr>
          <p:cNvPr id="12" name="Rounded Rectangle 11"/>
          <p:cNvSpPr/>
          <p:nvPr/>
        </p:nvSpPr>
        <p:spPr>
          <a:xfrm>
            <a:off x="1005840" y="4114800"/>
            <a:ext cx="1645920" cy="5486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User Speaks (Wait for EOS)</a:t>
            </a:r>
          </a:p>
        </p:txBody>
      </p:sp>
      <p:sp>
        <p:nvSpPr>
          <p:cNvPr id="13" name="Right Arrow 12"/>
          <p:cNvSpPr/>
          <p:nvPr/>
        </p:nvSpPr>
        <p:spPr>
          <a:xfrm>
            <a:off x="2743200" y="4251960"/>
            <a:ext cx="365760"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00400" y="4114800"/>
            <a:ext cx="1645920" cy="5486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ASR Transcribe</a:t>
            </a:r>
          </a:p>
        </p:txBody>
      </p:sp>
      <p:sp>
        <p:nvSpPr>
          <p:cNvPr id="15" name="Right Arrow 14"/>
          <p:cNvSpPr/>
          <p:nvPr/>
        </p:nvSpPr>
        <p:spPr>
          <a:xfrm>
            <a:off x="4937760" y="4251960"/>
            <a:ext cx="365760"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394960" y="4114800"/>
            <a:ext cx="1645920" cy="5486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Vector Search (Blocks!)</a:t>
            </a:r>
          </a:p>
        </p:txBody>
      </p:sp>
      <p:sp>
        <p:nvSpPr>
          <p:cNvPr id="17" name="Right Arrow 16"/>
          <p:cNvSpPr/>
          <p:nvPr/>
        </p:nvSpPr>
        <p:spPr>
          <a:xfrm>
            <a:off x="7132320" y="4251960"/>
            <a:ext cx="365760"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89520" y="4114800"/>
            <a:ext cx="1645920" cy="548640"/>
          </a:xfrm>
          <a:prstGeom prst="roundRect">
            <a:avLst/>
          </a:prstGeom>
          <a:solidFill>
            <a:srgbClr val="FEE2E2"/>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LLM Generation</a:t>
            </a:r>
          </a:p>
        </p:txBody>
      </p:sp>
      <p:sp>
        <p:nvSpPr>
          <p:cNvPr id="19" name="Rounded Rectangle 18"/>
          <p:cNvSpPr/>
          <p:nvPr/>
        </p:nvSpPr>
        <p:spPr>
          <a:xfrm>
            <a:off x="1005840" y="5120640"/>
            <a:ext cx="1645920" cy="5486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User Speaks (Token 6-8)</a:t>
            </a:r>
          </a:p>
        </p:txBody>
      </p:sp>
      <p:sp>
        <p:nvSpPr>
          <p:cNvPr id="20" name="Right Arrow 19"/>
          <p:cNvSpPr/>
          <p:nvPr/>
        </p:nvSpPr>
        <p:spPr>
          <a:xfrm>
            <a:off x="2743200" y="5257800"/>
            <a:ext cx="365760"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200400" y="5120640"/>
            <a:ext cx="1645920" cy="5486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Speculative Trigger</a:t>
            </a:r>
          </a:p>
        </p:txBody>
      </p:sp>
      <p:sp>
        <p:nvSpPr>
          <p:cNvPr id="22" name="Right Arrow 21"/>
          <p:cNvSpPr/>
          <p:nvPr/>
        </p:nvSpPr>
        <p:spPr>
          <a:xfrm>
            <a:off x="4937760" y="5257800"/>
            <a:ext cx="365760"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94960" y="5120640"/>
            <a:ext cx="1645920" cy="5486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Parallel Multi-Intent DB</a:t>
            </a:r>
          </a:p>
        </p:txBody>
      </p:sp>
      <p:sp>
        <p:nvSpPr>
          <p:cNvPr id="24" name="Right Arrow 23"/>
          <p:cNvSpPr/>
          <p:nvPr/>
        </p:nvSpPr>
        <p:spPr>
          <a:xfrm>
            <a:off x="7132320" y="5257800"/>
            <a:ext cx="365760"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89520" y="5120640"/>
            <a:ext cx="1645920" cy="548640"/>
          </a:xfrm>
          <a:prstGeom prst="roundRect">
            <a:avLst/>
          </a:prstGeom>
          <a:solidFill>
            <a:srgbClr val="DCFCE7"/>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Zero-Latency Stream</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777240" y="365760"/>
            <a:ext cx="10607040" cy="914400"/>
          </a:xfrm>
        </p:spPr>
        <p:txBody>
          <a:bodyPr>
            <a:normAutofit/>
          </a:bodyPr>
          <a:lstStyle/>
          <a:p>
            <a:pPr>
              <a:defRPr sz="2800" b="1">
                <a:solidFill>
                  <a:srgbClr val="704EA6"/>
                </a:solidFill>
                <a:latin typeface="Calibri"/>
              </a:defRPr>
            </a:pPr>
            <a:r>
              <a:t>Existing Solutions &amp; Critical Industry Gaps</a:t>
            </a:r>
          </a:p>
        </p:txBody>
      </p:sp>
      <p:sp>
        <p:nvSpPr>
          <p:cNvPr id="3" name="Rounded Rectangle 2"/>
          <p:cNvSpPr/>
          <p:nvPr/>
        </p:nvSpPr>
        <p:spPr>
          <a:xfrm>
            <a:off x="777240" y="1463040"/>
            <a:ext cx="33375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475569"/>
                </a:solidFill>
                <a:latin typeface="Calibri"/>
              </a:defRPr>
            </a:pPr>
            <a:r>
              <a:t>1. Existing Approaches</a:t>
            </a:r>
          </a:p>
          <a:p>
            <a:pPr>
              <a:spcAft>
                <a:spcPts val="600"/>
              </a:spcAft>
            </a:pPr>
            <a:r>
              <a:rPr b="1" sz="1100">
                <a:solidFill>
                  <a:srgbClr val="1E293B"/>
                </a:solidFill>
                <a:latin typeface="Calibri"/>
              </a:rPr>
              <a:t>• Turn-Based RAG: </a:t>
            </a:r>
            <a:r>
              <a:rPr b="0" sz="1100">
                <a:solidFill>
                  <a:srgbClr val="334155"/>
                </a:solidFill>
                <a:latin typeface="Calibri"/>
              </a:rPr>
              <a:t>LangChain &amp; LlamaIndex wait for sentence boundaries before embedding generation; high user-perceived latency (1.8s+ TTFT).</a:t>
            </a:r>
          </a:p>
          <a:p>
            <a:pPr>
              <a:spcAft>
                <a:spcPts val="600"/>
              </a:spcAft>
            </a:pPr>
            <a:r>
              <a:rPr b="1" sz="1100">
                <a:solidFill>
                  <a:srgbClr val="1E293B"/>
                </a:solidFill>
                <a:latin typeface="Calibri"/>
              </a:rPr>
              <a:t>• Naive Token Streaming: </a:t>
            </a:r>
            <a:r>
              <a:rPr b="0" sz="1100">
                <a:solidFill>
                  <a:srgbClr val="334155"/>
                </a:solidFill>
                <a:latin typeface="Calibri"/>
              </a:rPr>
              <a:t>Streams only LLM token output; retrieval itself remains synchronous, blocking, and isolated.</a:t>
            </a:r>
          </a:p>
          <a:p>
            <a:pPr>
              <a:spcAft>
                <a:spcPts val="600"/>
              </a:spcAft>
            </a:pPr>
            <a:r>
              <a:rPr b="1" sz="1100">
                <a:solidFill>
                  <a:srgbClr val="1E293B"/>
                </a:solidFill>
                <a:latin typeface="Calibri"/>
              </a:rPr>
              <a:t>• Static Keyword Search: </a:t>
            </a:r>
            <a:r>
              <a:rPr b="0" sz="1100">
                <a:solidFill>
                  <a:srgbClr val="334155"/>
                </a:solidFill>
                <a:latin typeface="Calibri"/>
              </a:rPr>
              <a:t>Pure lexical search lacks semantic awareness and fails completely on coreference and anaphora.</a:t>
            </a:r>
          </a:p>
        </p:txBody>
      </p:sp>
      <p:sp>
        <p:nvSpPr>
          <p:cNvPr id="4" name="Rounded Rectangle 3"/>
          <p:cNvSpPr/>
          <p:nvPr/>
        </p:nvSpPr>
        <p:spPr>
          <a:xfrm>
            <a:off x="4389120" y="1463040"/>
            <a:ext cx="33375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DC2626"/>
                </a:solidFill>
                <a:latin typeface="Calibri"/>
              </a:defRPr>
            </a:pPr>
            <a:r>
              <a:t>2. Critical Industry Gaps</a:t>
            </a:r>
          </a:p>
          <a:p>
            <a:pPr>
              <a:spcAft>
                <a:spcPts val="600"/>
              </a:spcAft>
            </a:pPr>
            <a:r>
              <a:rPr b="1" sz="1100">
                <a:solidFill>
                  <a:srgbClr val="1E293B"/>
                </a:solidFill>
                <a:latin typeface="Calibri"/>
              </a:rPr>
              <a:t>• Gap 1: No Pre-Retrieval: </a:t>
            </a:r>
            <a:r>
              <a:rPr b="0" sz="1100">
                <a:solidFill>
                  <a:srgbClr val="334155"/>
                </a:solidFill>
                <a:latin typeface="Calibri"/>
              </a:rPr>
              <a:t>1,400ms+ of wasted dead air while the user is actively speaking.</a:t>
            </a:r>
          </a:p>
          <a:p>
            <a:pPr>
              <a:spcAft>
                <a:spcPts val="600"/>
              </a:spcAft>
            </a:pPr>
            <a:r>
              <a:rPr b="1" sz="1100">
                <a:solidFill>
                  <a:srgbClr val="1E293B"/>
                </a:solidFill>
                <a:latin typeface="Calibri"/>
              </a:rPr>
              <a:t>• Gap 2: In-Flight Blindness: </a:t>
            </a:r>
            <a:r>
              <a:rPr b="0" sz="1100">
                <a:solidFill>
                  <a:srgbClr val="334155"/>
                </a:solidFill>
                <a:latin typeface="Calibri"/>
              </a:rPr>
              <a:t>Zero ability to abort stale in-flight vector searches when users correct themselves mid-sentence.</a:t>
            </a:r>
          </a:p>
          <a:p>
            <a:pPr>
              <a:spcAft>
                <a:spcPts val="600"/>
              </a:spcAft>
            </a:pPr>
            <a:r>
              <a:rPr b="1" sz="1100">
                <a:solidFill>
                  <a:srgbClr val="1E293B"/>
                </a:solidFill>
                <a:latin typeface="Calibri"/>
              </a:rPr>
              <a:t>• Gap 3: Compute Waste: </a:t>
            </a:r>
            <a:r>
              <a:rPr b="0" sz="1100">
                <a:solidFill>
                  <a:srgbClr val="334155"/>
                </a:solidFill>
                <a:latin typeface="Calibri"/>
              </a:rPr>
              <a:t>Unnecessary vector searches executed on reformatting turns ('summarize this').</a:t>
            </a:r>
          </a:p>
          <a:p>
            <a:pPr>
              <a:spcAft>
                <a:spcPts val="600"/>
              </a:spcAft>
            </a:pPr>
            <a:r>
              <a:rPr b="1" sz="1100">
                <a:solidFill>
                  <a:srgbClr val="1E293B"/>
                </a:solidFill>
                <a:latin typeface="Calibri"/>
              </a:rPr>
              <a:t>• Gap 4: Citation Blindness: </a:t>
            </a:r>
            <a:r>
              <a:rPr b="0" sz="1100">
                <a:solidFill>
                  <a:srgbClr val="334155"/>
                </a:solidFill>
                <a:latin typeface="Calibri"/>
              </a:rPr>
              <a:t>Broad document-level references unable to survive rigorous enterprise compliance audits.</a:t>
            </a:r>
          </a:p>
        </p:txBody>
      </p:sp>
      <p:sp>
        <p:nvSpPr>
          <p:cNvPr id="5" name="Rounded Rectangle 4"/>
          <p:cNvSpPr/>
          <p:nvPr/>
        </p:nvSpPr>
        <p:spPr>
          <a:xfrm>
            <a:off x="8001000" y="1463040"/>
            <a:ext cx="338328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3. Ultron's Breakthrough</a:t>
            </a:r>
          </a:p>
          <a:p>
            <a:pPr>
              <a:spcAft>
                <a:spcPts val="600"/>
              </a:spcAft>
            </a:pPr>
            <a:r>
              <a:rPr b="1" sz="1100">
                <a:solidFill>
                  <a:srgbClr val="1E293B"/>
                </a:solidFill>
                <a:latin typeface="Calibri"/>
              </a:rPr>
              <a:t>• Sub-50ms TTFT: </a:t>
            </a:r>
            <a:r>
              <a:rPr b="0" sz="1100">
                <a:solidFill>
                  <a:srgbClr val="334155"/>
                </a:solidFill>
                <a:latin typeface="Calibri"/>
              </a:rPr>
              <a:t>Measured 16.0ms TTFT via speculative pre-retrieval; +1,300ms retrieval head start.</a:t>
            </a:r>
          </a:p>
          <a:p>
            <a:pPr>
              <a:spcAft>
                <a:spcPts val="600"/>
              </a:spcAft>
            </a:pPr>
            <a:r>
              <a:rPr b="1" sz="1100">
                <a:solidFill>
                  <a:srgbClr val="1E293B"/>
                </a:solidFill>
                <a:latin typeface="Calibri"/>
              </a:rPr>
              <a:t>• Dynamic Pivot Engine: </a:t>
            </a:r>
            <a:r>
              <a:rPr b="0" sz="1100">
                <a:solidFill>
                  <a:srgbClr val="334155"/>
                </a:solidFill>
                <a:latin typeface="Calibri"/>
              </a:rPr>
              <a:t>Instant invalidation of stale cache on speech corrections ('Pune' -&gt; 'Mumbai').</a:t>
            </a:r>
          </a:p>
          <a:p>
            <a:pPr>
              <a:spcAft>
                <a:spcPts val="600"/>
              </a:spcAft>
            </a:pPr>
            <a:r>
              <a:rPr b="1" sz="1100">
                <a:solidFill>
                  <a:srgbClr val="1E293B"/>
                </a:solidFill>
                <a:latin typeface="Calibri"/>
              </a:rPr>
              <a:t>• Gate 0 Suppression: </a:t>
            </a:r>
            <a:r>
              <a:rPr b="0" sz="1100">
                <a:solidFill>
                  <a:srgbClr val="334155"/>
                </a:solidFill>
                <a:latin typeface="Calibri"/>
              </a:rPr>
              <a:t>0 vector queries executed on presentation formatting turns, preserving original citations.</a:t>
            </a:r>
          </a:p>
          <a:p>
            <a:pPr>
              <a:spcAft>
                <a:spcPts val="600"/>
              </a:spcAft>
            </a:pPr>
            <a:r>
              <a:rPr b="1" sz="1100">
                <a:solidFill>
                  <a:srgbClr val="1E293B"/>
                </a:solidFill>
                <a:latin typeface="Calibri"/>
              </a:rPr>
              <a:t>• Granular Grounding: </a:t>
            </a:r>
            <a:r>
              <a:rPr b="0" sz="1100">
                <a:solidFill>
                  <a:srgbClr val="334155"/>
                </a:solidFill>
                <a:latin typeface="Calibri"/>
              </a:rPr>
              <a:t>Every proposition attributed with exact clause citations ('[Doc_POLICY §16]').</a:t>
            </a:r>
          </a:p>
        </p:txBody>
      </p:sp>
      <p:sp>
        <p:nvSpPr>
          <p:cNvPr id="6" name="Rounded Rectangle 5"/>
          <p:cNvSpPr/>
          <p:nvPr/>
        </p:nvSpPr>
        <p:spPr>
          <a:xfrm>
            <a:off x="777240" y="1463040"/>
            <a:ext cx="33375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475569"/>
                </a:solidFill>
                <a:latin typeface="Calibri"/>
              </a:defRPr>
            </a:pPr>
            <a:r>
              <a:t>1. Existing Approaches</a:t>
            </a:r>
          </a:p>
          <a:p>
            <a:pPr>
              <a:spcAft>
                <a:spcPts val="600"/>
              </a:spcAft>
            </a:pPr>
            <a:r>
              <a:rPr b="1" sz="1100">
                <a:solidFill>
                  <a:srgbClr val="1E293B"/>
                </a:solidFill>
                <a:latin typeface="Calibri"/>
              </a:rPr>
              <a:t>• Turn-Based RAG: </a:t>
            </a:r>
            <a:r>
              <a:rPr b="0" sz="1100">
                <a:solidFill>
                  <a:srgbClr val="334155"/>
                </a:solidFill>
                <a:latin typeface="Calibri"/>
              </a:rPr>
              <a:t>LangChain &amp; LlamaIndex wait for sentence boundaries before embedding generation; high user-perceived latency (1.8s+ TTFT).</a:t>
            </a:r>
          </a:p>
          <a:p>
            <a:pPr>
              <a:spcAft>
                <a:spcPts val="600"/>
              </a:spcAft>
            </a:pPr>
            <a:r>
              <a:rPr b="1" sz="1100">
                <a:solidFill>
                  <a:srgbClr val="1E293B"/>
                </a:solidFill>
                <a:latin typeface="Calibri"/>
              </a:rPr>
              <a:t>• Naive Token Streaming: </a:t>
            </a:r>
            <a:r>
              <a:rPr b="0" sz="1100">
                <a:solidFill>
                  <a:srgbClr val="334155"/>
                </a:solidFill>
                <a:latin typeface="Calibri"/>
              </a:rPr>
              <a:t>Streams only LLM token output; retrieval itself remains synchronous, blocking, and isolated.</a:t>
            </a:r>
          </a:p>
          <a:p>
            <a:pPr>
              <a:spcAft>
                <a:spcPts val="600"/>
              </a:spcAft>
            </a:pPr>
            <a:r>
              <a:rPr b="1" sz="1100">
                <a:solidFill>
                  <a:srgbClr val="1E293B"/>
                </a:solidFill>
                <a:latin typeface="Calibri"/>
              </a:rPr>
              <a:t>• Static Keyword Search: </a:t>
            </a:r>
            <a:r>
              <a:rPr b="0" sz="1100">
                <a:solidFill>
                  <a:srgbClr val="334155"/>
                </a:solidFill>
                <a:latin typeface="Calibri"/>
              </a:rPr>
              <a:t>Pure lexical search lacks semantic awareness and fails completely on coreference and anaphora.</a:t>
            </a:r>
          </a:p>
        </p:txBody>
      </p:sp>
      <p:sp>
        <p:nvSpPr>
          <p:cNvPr id="7" name="Rounded Rectangle 6"/>
          <p:cNvSpPr/>
          <p:nvPr/>
        </p:nvSpPr>
        <p:spPr>
          <a:xfrm>
            <a:off x="4389120" y="1463040"/>
            <a:ext cx="33375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DC2626"/>
                </a:solidFill>
                <a:latin typeface="Calibri"/>
              </a:defRPr>
            </a:pPr>
            <a:r>
              <a:t>2. Critical Industry Gaps</a:t>
            </a:r>
          </a:p>
          <a:p>
            <a:pPr>
              <a:spcAft>
                <a:spcPts val="600"/>
              </a:spcAft>
            </a:pPr>
            <a:r>
              <a:rPr b="1" sz="1100">
                <a:solidFill>
                  <a:srgbClr val="1E293B"/>
                </a:solidFill>
                <a:latin typeface="Calibri"/>
              </a:rPr>
              <a:t>• Gap 1: No Pre-Retrieval: </a:t>
            </a:r>
            <a:r>
              <a:rPr b="0" sz="1100">
                <a:solidFill>
                  <a:srgbClr val="334155"/>
                </a:solidFill>
                <a:latin typeface="Calibri"/>
              </a:rPr>
              <a:t>1,400ms+ of wasted dead air while the user is actively speaking.</a:t>
            </a:r>
          </a:p>
          <a:p>
            <a:pPr>
              <a:spcAft>
                <a:spcPts val="600"/>
              </a:spcAft>
            </a:pPr>
            <a:r>
              <a:rPr b="1" sz="1100">
                <a:solidFill>
                  <a:srgbClr val="1E293B"/>
                </a:solidFill>
                <a:latin typeface="Calibri"/>
              </a:rPr>
              <a:t>• Gap 2: In-Flight Blindness: </a:t>
            </a:r>
            <a:r>
              <a:rPr b="0" sz="1100">
                <a:solidFill>
                  <a:srgbClr val="334155"/>
                </a:solidFill>
                <a:latin typeface="Calibri"/>
              </a:rPr>
              <a:t>Zero ability to abort stale in-flight vector searches when users correct themselves mid-sentence.</a:t>
            </a:r>
          </a:p>
          <a:p>
            <a:pPr>
              <a:spcAft>
                <a:spcPts val="600"/>
              </a:spcAft>
            </a:pPr>
            <a:r>
              <a:rPr b="1" sz="1100">
                <a:solidFill>
                  <a:srgbClr val="1E293B"/>
                </a:solidFill>
                <a:latin typeface="Calibri"/>
              </a:rPr>
              <a:t>• Gap 3: Compute Waste: </a:t>
            </a:r>
            <a:r>
              <a:rPr b="0" sz="1100">
                <a:solidFill>
                  <a:srgbClr val="334155"/>
                </a:solidFill>
                <a:latin typeface="Calibri"/>
              </a:rPr>
              <a:t>Unnecessary vector searches executed on reformatting turns ('summarize this').</a:t>
            </a:r>
          </a:p>
          <a:p>
            <a:pPr>
              <a:spcAft>
                <a:spcPts val="600"/>
              </a:spcAft>
            </a:pPr>
            <a:r>
              <a:rPr b="1" sz="1100">
                <a:solidFill>
                  <a:srgbClr val="1E293B"/>
                </a:solidFill>
                <a:latin typeface="Calibri"/>
              </a:rPr>
              <a:t>• Gap 4: Citation Blindness: </a:t>
            </a:r>
            <a:r>
              <a:rPr b="0" sz="1100">
                <a:solidFill>
                  <a:srgbClr val="334155"/>
                </a:solidFill>
                <a:latin typeface="Calibri"/>
              </a:rPr>
              <a:t>Broad document-level references unable to survive rigorous enterprise compliance audits.</a:t>
            </a:r>
          </a:p>
        </p:txBody>
      </p:sp>
      <p:sp>
        <p:nvSpPr>
          <p:cNvPr id="8" name="Rounded Rectangle 7"/>
          <p:cNvSpPr/>
          <p:nvPr/>
        </p:nvSpPr>
        <p:spPr>
          <a:xfrm>
            <a:off x="8001000" y="1463040"/>
            <a:ext cx="338328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3. Ultron's Breakthrough</a:t>
            </a:r>
          </a:p>
          <a:p>
            <a:pPr>
              <a:spcAft>
                <a:spcPts val="600"/>
              </a:spcAft>
            </a:pPr>
            <a:r>
              <a:rPr b="1" sz="1100">
                <a:solidFill>
                  <a:srgbClr val="1E293B"/>
                </a:solidFill>
                <a:latin typeface="Calibri"/>
              </a:rPr>
              <a:t>• Sub-50ms TTFT: </a:t>
            </a:r>
            <a:r>
              <a:rPr b="0" sz="1100">
                <a:solidFill>
                  <a:srgbClr val="334155"/>
                </a:solidFill>
                <a:latin typeface="Calibri"/>
              </a:rPr>
              <a:t>Measured 16.0ms TTFT via speculative pre-retrieval; +1,300ms retrieval head start.</a:t>
            </a:r>
          </a:p>
          <a:p>
            <a:pPr>
              <a:spcAft>
                <a:spcPts val="600"/>
              </a:spcAft>
            </a:pPr>
            <a:r>
              <a:rPr b="1" sz="1100">
                <a:solidFill>
                  <a:srgbClr val="1E293B"/>
                </a:solidFill>
                <a:latin typeface="Calibri"/>
              </a:rPr>
              <a:t>• Dynamic Pivot Engine: </a:t>
            </a:r>
            <a:r>
              <a:rPr b="0" sz="1100">
                <a:solidFill>
                  <a:srgbClr val="334155"/>
                </a:solidFill>
                <a:latin typeface="Calibri"/>
              </a:rPr>
              <a:t>Instant invalidation of stale cache on speech corrections ('Pune' -&gt; 'Mumbai').</a:t>
            </a:r>
          </a:p>
          <a:p>
            <a:pPr>
              <a:spcAft>
                <a:spcPts val="600"/>
              </a:spcAft>
            </a:pPr>
            <a:r>
              <a:rPr b="1" sz="1100">
                <a:solidFill>
                  <a:srgbClr val="1E293B"/>
                </a:solidFill>
                <a:latin typeface="Calibri"/>
              </a:rPr>
              <a:t>• Gate 0 Suppression: </a:t>
            </a:r>
            <a:r>
              <a:rPr b="0" sz="1100">
                <a:solidFill>
                  <a:srgbClr val="334155"/>
                </a:solidFill>
                <a:latin typeface="Calibri"/>
              </a:rPr>
              <a:t>0 vector queries executed on presentation formatting turns, preserving original citations.</a:t>
            </a:r>
          </a:p>
          <a:p>
            <a:pPr>
              <a:spcAft>
                <a:spcPts val="600"/>
              </a:spcAft>
            </a:pPr>
            <a:r>
              <a:rPr b="1" sz="1100">
                <a:solidFill>
                  <a:srgbClr val="1E293B"/>
                </a:solidFill>
                <a:latin typeface="Calibri"/>
              </a:rPr>
              <a:t>• Granular Grounding: </a:t>
            </a:r>
            <a:r>
              <a:rPr b="0" sz="1100">
                <a:solidFill>
                  <a:srgbClr val="334155"/>
                </a:solidFill>
                <a:latin typeface="Calibri"/>
              </a:rPr>
              <a:t>Every proposition attributed with exact clause citations ('[Doc_POLICY §16]').</a:t>
            </a:r>
          </a:p>
        </p:txBody>
      </p:sp>
      <p:sp>
        <p:nvSpPr>
          <p:cNvPr id="9" name="Rounded Rectangle 8"/>
          <p:cNvSpPr/>
          <p:nvPr/>
        </p:nvSpPr>
        <p:spPr>
          <a:xfrm>
            <a:off x="777240" y="1463040"/>
            <a:ext cx="33375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475569"/>
                </a:solidFill>
                <a:latin typeface="Calibri"/>
              </a:defRPr>
            </a:pPr>
            <a:r>
              <a:t>1. Existing Approaches</a:t>
            </a:r>
          </a:p>
          <a:p>
            <a:pPr>
              <a:spcAft>
                <a:spcPts val="600"/>
              </a:spcAft>
            </a:pPr>
            <a:r>
              <a:rPr b="1" sz="1100">
                <a:solidFill>
                  <a:srgbClr val="1E293B"/>
                </a:solidFill>
                <a:latin typeface="Calibri"/>
              </a:rPr>
              <a:t>• Turn-Based RAG: </a:t>
            </a:r>
            <a:r>
              <a:rPr b="0" sz="1100">
                <a:solidFill>
                  <a:srgbClr val="334155"/>
                </a:solidFill>
                <a:latin typeface="Calibri"/>
              </a:rPr>
              <a:t>LangChain &amp; LlamaIndex wait for sentence boundaries before embedding generation; high user-perceived latency (1.8s+ TTFT).</a:t>
            </a:r>
          </a:p>
          <a:p>
            <a:pPr>
              <a:spcAft>
                <a:spcPts val="600"/>
              </a:spcAft>
            </a:pPr>
            <a:r>
              <a:rPr b="1" sz="1100">
                <a:solidFill>
                  <a:srgbClr val="1E293B"/>
                </a:solidFill>
                <a:latin typeface="Calibri"/>
              </a:rPr>
              <a:t>• Naive Token Streaming: </a:t>
            </a:r>
            <a:r>
              <a:rPr b="0" sz="1100">
                <a:solidFill>
                  <a:srgbClr val="334155"/>
                </a:solidFill>
                <a:latin typeface="Calibri"/>
              </a:rPr>
              <a:t>Streams only LLM token output; retrieval itself remains synchronous, blocking, and isolated.</a:t>
            </a:r>
          </a:p>
          <a:p>
            <a:pPr>
              <a:spcAft>
                <a:spcPts val="600"/>
              </a:spcAft>
            </a:pPr>
            <a:r>
              <a:rPr b="1" sz="1100">
                <a:solidFill>
                  <a:srgbClr val="1E293B"/>
                </a:solidFill>
                <a:latin typeface="Calibri"/>
              </a:rPr>
              <a:t>• Static Keyword Search: </a:t>
            </a:r>
            <a:r>
              <a:rPr b="0" sz="1100">
                <a:solidFill>
                  <a:srgbClr val="334155"/>
                </a:solidFill>
                <a:latin typeface="Calibri"/>
              </a:rPr>
              <a:t>Pure lexical search lacks semantic awareness and fails completely on coreference and anaphora.</a:t>
            </a:r>
          </a:p>
        </p:txBody>
      </p:sp>
      <p:sp>
        <p:nvSpPr>
          <p:cNvPr id="10" name="Rounded Rectangle 9"/>
          <p:cNvSpPr/>
          <p:nvPr/>
        </p:nvSpPr>
        <p:spPr>
          <a:xfrm>
            <a:off x="4389120" y="1463040"/>
            <a:ext cx="33375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DC2626"/>
                </a:solidFill>
                <a:latin typeface="Calibri"/>
              </a:defRPr>
            </a:pPr>
            <a:r>
              <a:t>2. Critical Industry Gaps</a:t>
            </a:r>
          </a:p>
          <a:p>
            <a:pPr>
              <a:spcAft>
                <a:spcPts val="600"/>
              </a:spcAft>
            </a:pPr>
            <a:r>
              <a:rPr b="1" sz="1100">
                <a:solidFill>
                  <a:srgbClr val="1E293B"/>
                </a:solidFill>
                <a:latin typeface="Calibri"/>
              </a:rPr>
              <a:t>• Gap 1: No Pre-Retrieval: </a:t>
            </a:r>
            <a:r>
              <a:rPr b="0" sz="1100">
                <a:solidFill>
                  <a:srgbClr val="334155"/>
                </a:solidFill>
                <a:latin typeface="Calibri"/>
              </a:rPr>
              <a:t>1,400ms+ of wasted dead air while the user is actively speaking.</a:t>
            </a:r>
          </a:p>
          <a:p>
            <a:pPr>
              <a:spcAft>
                <a:spcPts val="600"/>
              </a:spcAft>
            </a:pPr>
            <a:r>
              <a:rPr b="1" sz="1100">
                <a:solidFill>
                  <a:srgbClr val="1E293B"/>
                </a:solidFill>
                <a:latin typeface="Calibri"/>
              </a:rPr>
              <a:t>• Gap 2: In-Flight Blindness: </a:t>
            </a:r>
            <a:r>
              <a:rPr b="0" sz="1100">
                <a:solidFill>
                  <a:srgbClr val="334155"/>
                </a:solidFill>
                <a:latin typeface="Calibri"/>
              </a:rPr>
              <a:t>Zero ability to abort stale in-flight vector searches when users correct themselves mid-sentence.</a:t>
            </a:r>
          </a:p>
          <a:p>
            <a:pPr>
              <a:spcAft>
                <a:spcPts val="600"/>
              </a:spcAft>
            </a:pPr>
            <a:r>
              <a:rPr b="1" sz="1100">
                <a:solidFill>
                  <a:srgbClr val="1E293B"/>
                </a:solidFill>
                <a:latin typeface="Calibri"/>
              </a:rPr>
              <a:t>• Gap 3: Compute Waste: </a:t>
            </a:r>
            <a:r>
              <a:rPr b="0" sz="1100">
                <a:solidFill>
                  <a:srgbClr val="334155"/>
                </a:solidFill>
                <a:latin typeface="Calibri"/>
              </a:rPr>
              <a:t>Unnecessary vector searches executed on reformatting turns ('summarize this').</a:t>
            </a:r>
          </a:p>
          <a:p>
            <a:pPr>
              <a:spcAft>
                <a:spcPts val="600"/>
              </a:spcAft>
            </a:pPr>
            <a:r>
              <a:rPr b="1" sz="1100">
                <a:solidFill>
                  <a:srgbClr val="1E293B"/>
                </a:solidFill>
                <a:latin typeface="Calibri"/>
              </a:rPr>
              <a:t>• Gap 4: Citation Blindness: </a:t>
            </a:r>
            <a:r>
              <a:rPr b="0" sz="1100">
                <a:solidFill>
                  <a:srgbClr val="334155"/>
                </a:solidFill>
                <a:latin typeface="Calibri"/>
              </a:rPr>
              <a:t>Broad document-level references unable to survive rigorous enterprise compliance audits.</a:t>
            </a:r>
          </a:p>
        </p:txBody>
      </p:sp>
      <p:sp>
        <p:nvSpPr>
          <p:cNvPr id="11" name="Rounded Rectangle 10"/>
          <p:cNvSpPr/>
          <p:nvPr/>
        </p:nvSpPr>
        <p:spPr>
          <a:xfrm>
            <a:off x="8001000" y="1463040"/>
            <a:ext cx="338328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3. Ultron's Breakthrough</a:t>
            </a:r>
          </a:p>
          <a:p>
            <a:pPr>
              <a:spcAft>
                <a:spcPts val="600"/>
              </a:spcAft>
            </a:pPr>
            <a:r>
              <a:rPr b="1" sz="1100">
                <a:solidFill>
                  <a:srgbClr val="1E293B"/>
                </a:solidFill>
                <a:latin typeface="Calibri"/>
              </a:rPr>
              <a:t>• Sub-50ms TTFT: </a:t>
            </a:r>
            <a:r>
              <a:rPr b="0" sz="1100">
                <a:solidFill>
                  <a:srgbClr val="334155"/>
                </a:solidFill>
                <a:latin typeface="Calibri"/>
              </a:rPr>
              <a:t>Measured 16.0ms TTFT via speculative pre-retrieval; +1,300ms retrieval head start.</a:t>
            </a:r>
          </a:p>
          <a:p>
            <a:pPr>
              <a:spcAft>
                <a:spcPts val="600"/>
              </a:spcAft>
            </a:pPr>
            <a:r>
              <a:rPr b="1" sz="1100">
                <a:solidFill>
                  <a:srgbClr val="1E293B"/>
                </a:solidFill>
                <a:latin typeface="Calibri"/>
              </a:rPr>
              <a:t>• Dynamic Pivot Engine: </a:t>
            </a:r>
            <a:r>
              <a:rPr b="0" sz="1100">
                <a:solidFill>
                  <a:srgbClr val="334155"/>
                </a:solidFill>
                <a:latin typeface="Calibri"/>
              </a:rPr>
              <a:t>Instant invalidation of stale cache on speech corrections ('Pune' -&gt; 'Mumbai').</a:t>
            </a:r>
          </a:p>
          <a:p>
            <a:pPr>
              <a:spcAft>
                <a:spcPts val="600"/>
              </a:spcAft>
            </a:pPr>
            <a:r>
              <a:rPr b="1" sz="1100">
                <a:solidFill>
                  <a:srgbClr val="1E293B"/>
                </a:solidFill>
                <a:latin typeface="Calibri"/>
              </a:rPr>
              <a:t>• Gate 0 Suppression: </a:t>
            </a:r>
            <a:r>
              <a:rPr b="0" sz="1100">
                <a:solidFill>
                  <a:srgbClr val="334155"/>
                </a:solidFill>
                <a:latin typeface="Calibri"/>
              </a:rPr>
              <a:t>0 vector queries executed on presentation formatting turns, preserving original citations.</a:t>
            </a:r>
          </a:p>
          <a:p>
            <a:pPr>
              <a:spcAft>
                <a:spcPts val="600"/>
              </a:spcAft>
            </a:pPr>
            <a:r>
              <a:rPr b="1" sz="1100">
                <a:solidFill>
                  <a:srgbClr val="1E293B"/>
                </a:solidFill>
                <a:latin typeface="Calibri"/>
              </a:rPr>
              <a:t>• Granular Grounding: </a:t>
            </a:r>
            <a:r>
              <a:rPr b="0" sz="1100">
                <a:solidFill>
                  <a:srgbClr val="334155"/>
                </a:solidFill>
                <a:latin typeface="Calibri"/>
              </a:rPr>
              <a:t>Every proposition attributed with exact clause citations ('[Doc_POLICY §16]').</a:t>
            </a:r>
          </a:p>
        </p:txBody>
      </p:sp>
      <p:sp>
        <p:nvSpPr>
          <p:cNvPr id="12" name="Rounded Rectangle 11"/>
          <p:cNvSpPr/>
          <p:nvPr/>
        </p:nvSpPr>
        <p:spPr>
          <a:xfrm>
            <a:off x="777240" y="1463040"/>
            <a:ext cx="33375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475569"/>
                </a:solidFill>
                <a:latin typeface="Calibri"/>
              </a:defRPr>
            </a:pPr>
            <a:r>
              <a:t>1. Existing Approaches</a:t>
            </a:r>
          </a:p>
          <a:p>
            <a:pPr>
              <a:spcAft>
                <a:spcPts val="600"/>
              </a:spcAft>
            </a:pPr>
            <a:r>
              <a:rPr b="1" sz="1100">
                <a:solidFill>
                  <a:srgbClr val="1E293B"/>
                </a:solidFill>
                <a:latin typeface="Calibri"/>
              </a:rPr>
              <a:t>• Turn-Based RAG: </a:t>
            </a:r>
            <a:r>
              <a:rPr b="0" sz="1100">
                <a:solidFill>
                  <a:srgbClr val="334155"/>
                </a:solidFill>
                <a:latin typeface="Calibri"/>
              </a:rPr>
              <a:t>LangChain &amp; LlamaIndex wait for sentence boundaries before embedding generation; high user-perceived latency (1.8s+ TTFT).</a:t>
            </a:r>
          </a:p>
          <a:p>
            <a:pPr>
              <a:spcAft>
                <a:spcPts val="600"/>
              </a:spcAft>
            </a:pPr>
            <a:r>
              <a:rPr b="1" sz="1100">
                <a:solidFill>
                  <a:srgbClr val="1E293B"/>
                </a:solidFill>
                <a:latin typeface="Calibri"/>
              </a:rPr>
              <a:t>• Naive Token Streaming: </a:t>
            </a:r>
            <a:r>
              <a:rPr b="0" sz="1100">
                <a:solidFill>
                  <a:srgbClr val="334155"/>
                </a:solidFill>
                <a:latin typeface="Calibri"/>
              </a:rPr>
              <a:t>Streams only LLM token output; retrieval itself remains synchronous, blocking, and isolated.</a:t>
            </a:r>
          </a:p>
          <a:p>
            <a:pPr>
              <a:spcAft>
                <a:spcPts val="600"/>
              </a:spcAft>
            </a:pPr>
            <a:r>
              <a:rPr b="1" sz="1100">
                <a:solidFill>
                  <a:srgbClr val="1E293B"/>
                </a:solidFill>
                <a:latin typeface="Calibri"/>
              </a:rPr>
              <a:t>• Static Keyword Search: </a:t>
            </a:r>
            <a:r>
              <a:rPr b="0" sz="1100">
                <a:solidFill>
                  <a:srgbClr val="334155"/>
                </a:solidFill>
                <a:latin typeface="Calibri"/>
              </a:rPr>
              <a:t>Pure lexical search lacks semantic awareness and fails completely on coreference and anaphora.</a:t>
            </a:r>
          </a:p>
          <a:p>
            <a:pPr>
              <a:spcAft>
                <a:spcPts val="600"/>
              </a:spcAft>
            </a:pPr>
            <a:r>
              <a:rPr b="1" sz="1100">
                <a:solidFill>
                  <a:srgbClr val="1E293B"/>
                </a:solidFill>
                <a:latin typeface="Calibri"/>
              </a:rPr>
              <a:t>• Rigid Chunking: </a:t>
            </a:r>
            <a:r>
              <a:rPr b="0" sz="1100">
                <a:solidFill>
                  <a:srgbClr val="334155"/>
                </a:solidFill>
                <a:latin typeface="Calibri"/>
              </a:rPr>
              <a:t>Fixed 512-token split breaks semantic boundaries, destroying context.</a:t>
            </a:r>
          </a:p>
        </p:txBody>
      </p:sp>
      <p:sp>
        <p:nvSpPr>
          <p:cNvPr id="13" name="Rounded Rectangle 12"/>
          <p:cNvSpPr/>
          <p:nvPr/>
        </p:nvSpPr>
        <p:spPr>
          <a:xfrm>
            <a:off x="4389120" y="1463040"/>
            <a:ext cx="333756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DC2626"/>
                </a:solidFill>
                <a:latin typeface="Calibri"/>
              </a:defRPr>
            </a:pPr>
            <a:r>
              <a:t>2. Critical Industry Gaps</a:t>
            </a:r>
          </a:p>
          <a:p>
            <a:pPr>
              <a:spcAft>
                <a:spcPts val="600"/>
              </a:spcAft>
            </a:pPr>
            <a:r>
              <a:rPr b="1" sz="1100">
                <a:solidFill>
                  <a:srgbClr val="1E293B"/>
                </a:solidFill>
                <a:latin typeface="Calibri"/>
              </a:rPr>
              <a:t>• Gap 1: No Pre-Retrieval: </a:t>
            </a:r>
            <a:r>
              <a:rPr b="0" sz="1100">
                <a:solidFill>
                  <a:srgbClr val="334155"/>
                </a:solidFill>
                <a:latin typeface="Calibri"/>
              </a:rPr>
              <a:t>1,400ms+ of wasted dead air while the user is actively speaking.</a:t>
            </a:r>
          </a:p>
          <a:p>
            <a:pPr>
              <a:spcAft>
                <a:spcPts val="600"/>
              </a:spcAft>
            </a:pPr>
            <a:r>
              <a:rPr b="1" sz="1100">
                <a:solidFill>
                  <a:srgbClr val="1E293B"/>
                </a:solidFill>
                <a:latin typeface="Calibri"/>
              </a:rPr>
              <a:t>• Gap 2: In-Flight Blindness: </a:t>
            </a:r>
            <a:r>
              <a:rPr b="0" sz="1100">
                <a:solidFill>
                  <a:srgbClr val="334155"/>
                </a:solidFill>
                <a:latin typeface="Calibri"/>
              </a:rPr>
              <a:t>Zero ability to abort stale in-flight vector searches when users correct themselves mid-sentence.</a:t>
            </a:r>
          </a:p>
          <a:p>
            <a:pPr>
              <a:spcAft>
                <a:spcPts val="600"/>
              </a:spcAft>
            </a:pPr>
            <a:r>
              <a:rPr b="1" sz="1100">
                <a:solidFill>
                  <a:srgbClr val="1E293B"/>
                </a:solidFill>
                <a:latin typeface="Calibri"/>
              </a:rPr>
              <a:t>• Gap 3: Compute Waste: </a:t>
            </a:r>
            <a:r>
              <a:rPr b="0" sz="1100">
                <a:solidFill>
                  <a:srgbClr val="334155"/>
                </a:solidFill>
                <a:latin typeface="Calibri"/>
              </a:rPr>
              <a:t>Unnecessary vector searches executed on reformatting turns ('summarize this').</a:t>
            </a:r>
          </a:p>
          <a:p>
            <a:pPr>
              <a:spcAft>
                <a:spcPts val="600"/>
              </a:spcAft>
            </a:pPr>
            <a:r>
              <a:rPr b="1" sz="1100">
                <a:solidFill>
                  <a:srgbClr val="1E293B"/>
                </a:solidFill>
                <a:latin typeface="Calibri"/>
              </a:rPr>
              <a:t>• Gap 4: Citation Blindness: </a:t>
            </a:r>
            <a:r>
              <a:rPr b="0" sz="1100">
                <a:solidFill>
                  <a:srgbClr val="334155"/>
                </a:solidFill>
                <a:latin typeface="Calibri"/>
              </a:rPr>
              <a:t>Broad document-level references unable to survive rigorous enterprise compliance audits.</a:t>
            </a:r>
          </a:p>
          <a:p>
            <a:pPr>
              <a:spcAft>
                <a:spcPts val="600"/>
              </a:spcAft>
            </a:pPr>
            <a:r>
              <a:rPr b="1" sz="1100">
                <a:solidFill>
                  <a:srgbClr val="1E293B"/>
                </a:solidFill>
                <a:latin typeface="Calibri"/>
              </a:rPr>
              <a:t>• Gap 5: Context Drift: </a:t>
            </a:r>
            <a:r>
              <a:rPr b="0" sz="1100">
                <a:solidFill>
                  <a:srgbClr val="334155"/>
                </a:solidFill>
                <a:latin typeface="Calibri"/>
              </a:rPr>
              <a:t>Long sessions lose the original constraint (e.g. 'flight under $500').</a:t>
            </a:r>
          </a:p>
        </p:txBody>
      </p:sp>
      <p:sp>
        <p:nvSpPr>
          <p:cNvPr id="14" name="Rounded Rectangle 13"/>
          <p:cNvSpPr/>
          <p:nvPr/>
        </p:nvSpPr>
        <p:spPr>
          <a:xfrm>
            <a:off x="8001000" y="1463040"/>
            <a:ext cx="338328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3. Ultron's Breakthrough</a:t>
            </a:r>
          </a:p>
          <a:p>
            <a:pPr>
              <a:spcAft>
                <a:spcPts val="600"/>
              </a:spcAft>
            </a:pPr>
            <a:r>
              <a:rPr b="1" sz="1100">
                <a:solidFill>
                  <a:srgbClr val="1E293B"/>
                </a:solidFill>
                <a:latin typeface="Calibri"/>
              </a:rPr>
              <a:t>• Sub-50ms TTFT: </a:t>
            </a:r>
            <a:r>
              <a:rPr b="0" sz="1100">
                <a:solidFill>
                  <a:srgbClr val="334155"/>
                </a:solidFill>
                <a:latin typeface="Calibri"/>
              </a:rPr>
              <a:t>Measured 16.0ms TTFT via speculative pre-retrieval; +1,300ms retrieval head start.</a:t>
            </a:r>
          </a:p>
          <a:p>
            <a:pPr>
              <a:spcAft>
                <a:spcPts val="600"/>
              </a:spcAft>
            </a:pPr>
            <a:r>
              <a:rPr b="1" sz="1100">
                <a:solidFill>
                  <a:srgbClr val="1E293B"/>
                </a:solidFill>
                <a:latin typeface="Calibri"/>
              </a:rPr>
              <a:t>• Dynamic Pivot Engine: </a:t>
            </a:r>
            <a:r>
              <a:rPr b="0" sz="1100">
                <a:solidFill>
                  <a:srgbClr val="334155"/>
                </a:solidFill>
                <a:latin typeface="Calibri"/>
              </a:rPr>
              <a:t>Instant invalidation of stale cache on speech corrections ('Pune' -&gt; 'Mumbai').</a:t>
            </a:r>
          </a:p>
          <a:p>
            <a:pPr>
              <a:spcAft>
                <a:spcPts val="600"/>
              </a:spcAft>
            </a:pPr>
            <a:r>
              <a:rPr b="1" sz="1100">
                <a:solidFill>
                  <a:srgbClr val="1E293B"/>
                </a:solidFill>
                <a:latin typeface="Calibri"/>
              </a:rPr>
              <a:t>• Gate 0 Suppression: </a:t>
            </a:r>
            <a:r>
              <a:rPr b="0" sz="1100">
                <a:solidFill>
                  <a:srgbClr val="334155"/>
                </a:solidFill>
                <a:latin typeface="Calibri"/>
              </a:rPr>
              <a:t>0 vector queries executed on presentation formatting turns, preserving original citations.</a:t>
            </a:r>
          </a:p>
          <a:p>
            <a:pPr>
              <a:spcAft>
                <a:spcPts val="600"/>
              </a:spcAft>
            </a:pPr>
            <a:r>
              <a:rPr b="1" sz="1100">
                <a:solidFill>
                  <a:srgbClr val="1E293B"/>
                </a:solidFill>
                <a:latin typeface="Calibri"/>
              </a:rPr>
              <a:t>• Granular Grounding: </a:t>
            </a:r>
            <a:r>
              <a:rPr b="0" sz="1100">
                <a:solidFill>
                  <a:srgbClr val="334155"/>
                </a:solidFill>
                <a:latin typeface="Calibri"/>
              </a:rPr>
              <a:t>Every proposition attributed with exact clause citations ('[Doc_POLICY §16]').</a:t>
            </a:r>
          </a:p>
          <a:p>
            <a:pPr>
              <a:spcAft>
                <a:spcPts val="600"/>
              </a:spcAft>
            </a:pPr>
            <a:r>
              <a:rPr b="1" sz="1100">
                <a:solidFill>
                  <a:srgbClr val="1E293B"/>
                </a:solidFill>
                <a:latin typeface="Calibri"/>
              </a:rPr>
              <a:t>• Session Lineage: </a:t>
            </a:r>
            <a:r>
              <a:rPr b="0" sz="1100">
                <a:solidFill>
                  <a:srgbClr val="334155"/>
                </a:solidFill>
                <a:latin typeface="Calibri"/>
              </a:rPr>
              <a:t>Tracks constraint mutations seamlessly across 20+ turns.</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777240" y="365760"/>
            <a:ext cx="10607040" cy="914400"/>
          </a:xfrm>
        </p:spPr>
        <p:txBody>
          <a:bodyPr/>
          <a:lstStyle/>
          <a:p>
            <a:pPr>
              <a:defRPr sz="2800" b="1">
                <a:solidFill>
                  <a:srgbClr val="704EA6"/>
                </a:solidFill>
                <a:latin typeface="Calibri"/>
              </a:defRPr>
            </a:pPr>
            <a:r>
              <a:t>Our Solutions &amp; Architecture Diagram</a:t>
            </a:r>
          </a:p>
        </p:txBody>
      </p:sp>
      <p:pic>
        <p:nvPicPr>
          <p:cNvPr id="3" name="Picture 2" descr="architecture_diagram.png"/>
          <p:cNvPicPr>
            <a:picLocks noChangeAspect="1"/>
          </p:cNvPicPr>
          <p:nvPr/>
        </p:nvPicPr>
        <p:blipFill>
          <a:blip r:embed="rId3"/>
          <a:stretch>
            <a:fillRect/>
          </a:stretch>
        </p:blipFill>
        <p:spPr>
          <a:xfrm>
            <a:off x="777240" y="1371600"/>
            <a:ext cx="10607040" cy="4846320"/>
          </a:xfrm>
          <a:prstGeom prst="rect">
            <a:avLst/>
          </a:prstGeom>
        </p:spPr>
      </p:pic>
      <p:pic>
        <p:nvPicPr>
          <p:cNvPr id="4" name="Picture 3" descr="image.png"/>
          <p:cNvPicPr>
            <a:picLocks noChangeAspect="1"/>
          </p:cNvPicPr>
          <p:nvPr/>
        </p:nvPicPr>
        <p:blipFill>
          <a:blip r:embed="rId3"/>
          <a:stretch>
            <a:fillRect/>
          </a:stretch>
        </p:blipFill>
        <p:spPr>
          <a:xfrm>
            <a:off x="777240" y="1371600"/>
            <a:ext cx="10607040" cy="4846320"/>
          </a:xfrm>
          <a:prstGeom prst="rect">
            <a:avLst/>
          </a:prstGeom>
        </p:spPr>
      </p:pic>
      <p:pic>
        <p:nvPicPr>
          <p:cNvPr id="5" name="Picture 4" descr="image.png"/>
          <p:cNvPicPr>
            <a:picLocks noChangeAspect="1"/>
          </p:cNvPicPr>
          <p:nvPr/>
        </p:nvPicPr>
        <p:blipFill>
          <a:blip r:embed="rId3"/>
          <a:stretch>
            <a:fillRect/>
          </a:stretch>
        </p:blipFill>
        <p:spPr>
          <a:xfrm>
            <a:off x="777240" y="1371600"/>
            <a:ext cx="10607040" cy="4846320"/>
          </a:xfrm>
          <a:prstGeom prst="rect">
            <a:avLst/>
          </a:prstGeom>
        </p:spPr>
      </p:pic>
      <p:sp>
        <p:nvSpPr>
          <p:cNvPr id="6" name="Rounded Rectangle 5"/>
          <p:cNvSpPr/>
          <p:nvPr/>
        </p:nvSpPr>
        <p:spPr>
          <a:xfrm>
            <a:off x="777240" y="1188720"/>
            <a:ext cx="10607040" cy="50292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Ultron End-to-End Streaming Live RAG Pipeline</a:t>
            </a:r>
          </a:p>
        </p:txBody>
      </p:sp>
      <p:pic>
        <p:nvPicPr>
          <p:cNvPr id="7" name="Picture 6" descr="image.png"/>
          <p:cNvPicPr>
            <a:picLocks noChangeAspect="1"/>
          </p:cNvPicPr>
          <p:nvPr/>
        </p:nvPicPr>
        <p:blipFill>
          <a:blip r:embed="rId3"/>
          <a:stretch>
            <a:fillRect/>
          </a:stretch>
        </p:blipFill>
        <p:spPr>
          <a:xfrm>
            <a:off x="914400" y="1645920"/>
            <a:ext cx="5486400" cy="4389120"/>
          </a:xfrm>
          <a:prstGeom prst="rect">
            <a:avLst/>
          </a:prstGeom>
        </p:spPr>
      </p:pic>
      <p:sp>
        <p:nvSpPr>
          <p:cNvPr id="8" name="Rounded Rectangle 7"/>
          <p:cNvSpPr/>
          <p:nvPr/>
        </p:nvSpPr>
        <p:spPr>
          <a:xfrm>
            <a:off x="6583680" y="1645920"/>
            <a:ext cx="457200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Pipeline Components</a:t>
            </a:r>
          </a:p>
          <a:p>
            <a:pPr>
              <a:spcAft>
                <a:spcPts val="600"/>
              </a:spcAft>
            </a:pPr>
            <a:r>
              <a:rPr b="1" sz="1100">
                <a:solidFill>
                  <a:srgbClr val="1E293B"/>
                </a:solidFill>
                <a:latin typeface="Calibri"/>
              </a:rPr>
              <a:t>• Ingestion Layer: </a:t>
            </a:r>
            <a:r>
              <a:rPr b="0" sz="1100">
                <a:solidFill>
                  <a:srgbClr val="334155"/>
                </a:solidFill>
                <a:latin typeface="Calibri"/>
              </a:rPr>
              <a:t>Structured 21-section corporate policy parser with canonical citation mapper.</a:t>
            </a:r>
          </a:p>
          <a:p>
            <a:pPr>
              <a:spcAft>
                <a:spcPts val="600"/>
              </a:spcAft>
            </a:pPr>
            <a:r>
              <a:rPr b="1" sz="1100">
                <a:solidFill>
                  <a:srgbClr val="1E293B"/>
                </a:solidFill>
                <a:latin typeface="Calibri"/>
              </a:rPr>
              <a:t>• Speculative Engine: </a:t>
            </a:r>
            <a:r>
              <a:rPr b="0" sz="1100">
                <a:solidFill>
                  <a:srgbClr val="334155"/>
                </a:solidFill>
                <a:latin typeface="Calibri"/>
              </a:rPr>
              <a:t>Early query trigger at token 6-8 + rolling n-gram pivot controller.</a:t>
            </a:r>
          </a:p>
          <a:p>
            <a:pPr>
              <a:spcAft>
                <a:spcPts val="600"/>
              </a:spcAft>
            </a:pPr>
            <a:r>
              <a:rPr b="1" sz="1100">
                <a:solidFill>
                  <a:srgbClr val="1E293B"/>
                </a:solidFill>
                <a:latin typeface="Calibri"/>
              </a:rPr>
              <a:t>• Hybrid Search: </a:t>
            </a:r>
            <a:r>
              <a:rPr b="0" sz="1100">
                <a:solidFill>
                  <a:srgbClr val="334155"/>
                </a:solidFill>
                <a:latin typeface="Calibri"/>
              </a:rPr>
              <a:t>BM25 Okapi + Dense Vectors + Reciprocal Rank Fusion (RRF) + Cross-Encoder Reranker.</a:t>
            </a:r>
          </a:p>
          <a:p>
            <a:pPr>
              <a:spcAft>
                <a:spcPts val="600"/>
              </a:spcAft>
            </a:pPr>
            <a:r>
              <a:rPr b="1" sz="1100">
                <a:solidFill>
                  <a:srgbClr val="1E293B"/>
                </a:solidFill>
                <a:latin typeface="Calibri"/>
              </a:rPr>
              <a:t>• Dual LLM Generation: </a:t>
            </a:r>
            <a:r>
              <a:rPr b="0" sz="1100">
                <a:solidFill>
                  <a:srgbClr val="334155"/>
                </a:solidFill>
                <a:latin typeface="Calibri"/>
              </a:rPr>
              <a:t>Groq LPU for low-latency streaming + Qwen for offline fallback.</a:t>
            </a:r>
          </a:p>
          <a:p>
            <a:pPr>
              <a:spcAft>
                <a:spcPts val="600"/>
              </a:spcAft>
            </a:pPr>
            <a:r>
              <a:rPr b="1" sz="1100">
                <a:solidFill>
                  <a:srgbClr val="1E293B"/>
                </a:solidFill>
                <a:latin typeface="Calibri"/>
              </a:rPr>
              <a:t>• Telemetry HUD: </a:t>
            </a:r>
            <a:r>
              <a:rPr b="0" sz="1100">
                <a:solidFill>
                  <a:srgbClr val="334155"/>
                </a:solidFill>
                <a:latin typeface="Calibri"/>
              </a:rPr>
              <a:t>Real-time cost &amp; latency monitoring terminal UI.</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777240" y="365760"/>
            <a:ext cx="10607040" cy="914400"/>
          </a:xfrm>
        </p:spPr>
        <p:txBody>
          <a:bodyPr/>
          <a:lstStyle/>
          <a:p>
            <a:pPr>
              <a:defRPr sz="2800" b="1">
                <a:solidFill>
                  <a:srgbClr val="704EA6"/>
                </a:solidFill>
                <a:latin typeface="Calibri"/>
              </a:defRPr>
            </a:pPr>
            <a:r>
              <a:t>Demo &amp; Product Walkthrough (Gates G1 – G9 Verified)</a:t>
            </a:r>
          </a:p>
        </p:txBody>
      </p:sp>
      <p:sp>
        <p:nvSpPr>
          <p:cNvPr id="3" name="Rounded Rectangle 2"/>
          <p:cNvSpPr/>
          <p:nvPr/>
        </p:nvSpPr>
        <p:spPr>
          <a:xfrm>
            <a:off x="777240" y="1417320"/>
            <a:ext cx="5029200" cy="48920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9-Scene Verification Showcase</a:t>
            </a:r>
          </a:p>
          <a:p>
            <a:pPr>
              <a:spcAft>
                <a:spcPts val="600"/>
              </a:spcAft>
            </a:pPr>
            <a:r>
              <a:rPr b="1" sz="1100">
                <a:solidFill>
                  <a:srgbClr val="1E293B"/>
                </a:solidFill>
                <a:latin typeface="Calibri"/>
              </a:rPr>
              <a:t>• Scene 1 (G1-G9 Harness): </a:t>
            </a:r>
            <a:r>
              <a:rPr b="0" sz="1100">
                <a:solidFill>
                  <a:srgbClr val="334155"/>
                </a:solidFill>
                <a:latin typeface="Calibri"/>
              </a:rPr>
              <a:t>Automated test harness validating all hackathon evaluation criteria.</a:t>
            </a:r>
          </a:p>
          <a:p>
            <a:pPr>
              <a:spcAft>
                <a:spcPts val="600"/>
              </a:spcAft>
            </a:pPr>
            <a:r>
              <a:rPr b="1" sz="1100">
                <a:solidFill>
                  <a:srgbClr val="1E293B"/>
                </a:solidFill>
                <a:latin typeface="Calibri"/>
              </a:rPr>
              <a:t>• Scene 2 (Early Trigger): </a:t>
            </a:r>
            <a:r>
              <a:rPr b="0" sz="1100">
                <a:solidFill>
                  <a:srgbClr val="334155"/>
                </a:solidFill>
                <a:latin typeface="Calibri"/>
              </a:rPr>
              <a:t>Query triggered at token 7; +1,300ms time gain with 16ms TTFT.</a:t>
            </a:r>
          </a:p>
          <a:p>
            <a:pPr>
              <a:spcAft>
                <a:spcPts val="600"/>
              </a:spcAft>
            </a:pPr>
            <a:r>
              <a:rPr b="1" sz="1100">
                <a:solidFill>
                  <a:srgbClr val="1E293B"/>
                </a:solidFill>
                <a:latin typeface="Calibri"/>
              </a:rPr>
              <a:t>• Scene 3 (Compound Intent): </a:t>
            </a:r>
            <a:r>
              <a:rPr b="0" sz="1100">
                <a:solidFill>
                  <a:srgbClr val="334155"/>
                </a:solidFill>
                <a:latin typeface="Calibri"/>
              </a:rPr>
              <a:t>Parallel retrieval across 3 orthogonal corporate policy sections.</a:t>
            </a:r>
          </a:p>
          <a:p>
            <a:pPr>
              <a:spcAft>
                <a:spcPts val="600"/>
              </a:spcAft>
            </a:pPr>
            <a:r>
              <a:rPr b="1" sz="1100">
                <a:solidFill>
                  <a:srgbClr val="1E293B"/>
                </a:solidFill>
                <a:latin typeface="Calibri"/>
              </a:rPr>
              <a:t>• Scene 4 (Context Continuity): </a:t>
            </a:r>
            <a:r>
              <a:rPr b="0" sz="1100">
                <a:solidFill>
                  <a:srgbClr val="334155"/>
                </a:solidFill>
                <a:latin typeface="Calibri"/>
              </a:rPr>
              <a:t>Resolves 'there' and 'for 50 people' across turns without context drift.</a:t>
            </a:r>
          </a:p>
          <a:p>
            <a:pPr>
              <a:spcAft>
                <a:spcPts val="600"/>
              </a:spcAft>
            </a:pPr>
            <a:r>
              <a:rPr b="1" sz="1100">
                <a:solidFill>
                  <a:srgbClr val="1E293B"/>
                </a:solidFill>
                <a:latin typeface="Calibri"/>
              </a:rPr>
              <a:t>• Scene 5 (Intra-Stream Pivot): </a:t>
            </a:r>
            <a:r>
              <a:rPr b="0" sz="1100">
                <a:solidFill>
                  <a:srgbClr val="334155"/>
                </a:solidFill>
                <a:latin typeface="Calibri"/>
              </a:rPr>
              <a:t>'Pune... wait, make that Mumbai' -&gt; cache invalidated, pivoted to Mumbai.</a:t>
            </a:r>
          </a:p>
          <a:p>
            <a:pPr>
              <a:spcAft>
                <a:spcPts val="600"/>
              </a:spcAft>
            </a:pPr>
            <a:r>
              <a:rPr b="1" sz="1100">
                <a:solidFill>
                  <a:srgbClr val="1E293B"/>
                </a:solidFill>
                <a:latin typeface="Calibri"/>
              </a:rPr>
              <a:t>• Scene 6 (Session Refinement): </a:t>
            </a:r>
            <a:r>
              <a:rPr b="0" sz="1100">
                <a:solidFill>
                  <a:srgbClr val="334155"/>
                </a:solidFill>
                <a:latin typeface="Calibri"/>
              </a:rPr>
              <a:t>Domestic travel baseline mutated with international delta -&gt; Version 2 state.</a:t>
            </a:r>
          </a:p>
          <a:p>
            <a:pPr>
              <a:spcAft>
                <a:spcPts val="600"/>
              </a:spcAft>
            </a:pPr>
            <a:r>
              <a:rPr b="1" sz="1100">
                <a:solidFill>
                  <a:srgbClr val="1E293B"/>
                </a:solidFill>
                <a:latin typeface="Calibri"/>
              </a:rPr>
              <a:t>• Scene 7 (Gate 0 Suppression): </a:t>
            </a:r>
            <a:r>
              <a:rPr b="0" sz="1100">
                <a:solidFill>
                  <a:srgbClr val="334155"/>
                </a:solidFill>
                <a:latin typeface="Calibri"/>
              </a:rPr>
              <a:t>'Format into 2 bullet points' -&gt; 0 corpus vector queries dispatched.</a:t>
            </a:r>
          </a:p>
          <a:p>
            <a:pPr>
              <a:spcAft>
                <a:spcPts val="600"/>
              </a:spcAft>
            </a:pPr>
            <a:r>
              <a:rPr b="1" sz="1100">
                <a:solidFill>
                  <a:srgbClr val="1E293B"/>
                </a:solidFill>
                <a:latin typeface="Calibri"/>
              </a:rPr>
              <a:t>• Scene 8 (Negative Control): </a:t>
            </a:r>
            <a:r>
              <a:rPr b="0" sz="1100">
                <a:solidFill>
                  <a:srgbClr val="334155"/>
                </a:solidFill>
                <a:latin typeface="Calibri"/>
              </a:rPr>
              <a:t>Out-of-corpus query -&gt; explicit uncertainty, 0 hallucinations.</a:t>
            </a:r>
          </a:p>
          <a:p>
            <a:pPr>
              <a:spcAft>
                <a:spcPts val="600"/>
              </a:spcAft>
            </a:pPr>
            <a:r>
              <a:rPr b="1" sz="1100">
                <a:solidFill>
                  <a:srgbClr val="1E293B"/>
                </a:solidFill>
                <a:latin typeface="Calibri"/>
              </a:rPr>
              <a:t>• Scene 9 (Telemetry HUD): </a:t>
            </a:r>
            <a:r>
              <a:rPr b="0" sz="1100">
                <a:solidFill>
                  <a:srgbClr val="334155"/>
                </a:solidFill>
                <a:latin typeface="Calibri"/>
              </a:rPr>
              <a:t>Live HUD measuring TTFT, latency, token budgets, and citation lineage.</a:t>
            </a:r>
          </a:p>
        </p:txBody>
      </p:sp>
      <p:pic>
        <p:nvPicPr>
          <p:cNvPr id="4" name="Picture 3" descr="demo_telemetry_hud.png"/>
          <p:cNvPicPr>
            <a:picLocks noChangeAspect="1"/>
          </p:cNvPicPr>
          <p:nvPr/>
        </p:nvPicPr>
        <p:blipFill>
          <a:blip r:embed="rId2"/>
          <a:stretch>
            <a:fillRect/>
          </a:stretch>
        </p:blipFill>
        <p:spPr>
          <a:xfrm>
            <a:off x="5989320" y="1417320"/>
            <a:ext cx="5394960" cy="4892040"/>
          </a:xfrm>
          <a:prstGeom prst="rect">
            <a:avLst/>
          </a:prstGeom>
        </p:spPr>
      </p:pic>
      <p:pic>
        <p:nvPicPr>
          <p:cNvPr id="5" name="Picture 4" descr="technical_gates_showcase.png"/>
          <p:cNvPicPr>
            <a:picLocks noChangeAspect="1"/>
          </p:cNvPicPr>
          <p:nvPr/>
        </p:nvPicPr>
        <p:blipFill>
          <a:blip r:embed="rId3"/>
          <a:stretch>
            <a:fillRect/>
          </a:stretch>
        </p:blipFill>
        <p:spPr>
          <a:xfrm>
            <a:off x="777240" y="1325880"/>
            <a:ext cx="10607040" cy="4050791"/>
          </a:xfrm>
          <a:prstGeom prst="rect">
            <a:avLst/>
          </a:prstGeom>
        </p:spPr>
      </p:pic>
      <p:sp>
        <p:nvSpPr>
          <p:cNvPr id="6" name="Rounded Rectangle 5"/>
          <p:cNvSpPr/>
          <p:nvPr/>
        </p:nvSpPr>
        <p:spPr>
          <a:xfrm>
            <a:off x="777240" y="5486400"/>
            <a:ext cx="10607040" cy="1051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1100" b="1">
                <a:solidFill>
                  <a:srgbClr val="704EA6"/>
                </a:solidFill>
                <a:latin typeface="Calibri"/>
              </a:defRPr>
            </a:pPr>
            <a:r>
              <a:t>Live Interactive Demonstration &amp; Automated Verification Harness</a:t>
            </a:r>
          </a:p>
          <a:p>
            <a:pPr>
              <a:spcAft>
                <a:spcPts val="200"/>
              </a:spcAft>
              <a:defRPr sz="950">
                <a:solidFill>
                  <a:srgbClr val="334155"/>
                </a:solidFill>
                <a:latin typeface="Calibri"/>
              </a:defRPr>
            </a:pPr>
            <a:r>
              <a:t>⚡ 9 End-to-End Scenarios: Speculative Early Trigger (+1,300ms) │ Compound Multi-Intent (3 parallel) │ Context Continuity │ Intra-Stream Pivot │ Session Refinement (V1-&gt;V2) │ Gate 0 Suppression (0 queries) │ Sub-50ms TTFT (16ms)</a:t>
            </a:r>
          </a:p>
          <a:p>
            <a:pPr>
              <a:defRPr sz="1000" b="1">
                <a:solidFill>
                  <a:srgbClr val="0284C7"/>
                </a:solidFill>
                <a:latin typeface="Calibri"/>
              </a:defRPr>
            </a:pPr>
            <a:r>
              <a:t>🖥️ Run Interactive Recording: python3 run.py --cli -&gt; type /demo (manual step mode with [ENTER] between scenes) or python3 run.py demo --auto</a:t>
            </a:r>
          </a:p>
        </p:txBody>
      </p:sp>
      <p:pic>
        <p:nvPicPr>
          <p:cNvPr id="7" name="Picture 6" descr="terminal_full_framed.png"/>
          <p:cNvPicPr>
            <a:picLocks noChangeAspect="1"/>
          </p:cNvPicPr>
          <p:nvPr/>
        </p:nvPicPr>
        <p:blipFill>
          <a:blip r:embed="rId4"/>
          <a:stretch>
            <a:fillRect/>
          </a:stretch>
        </p:blipFill>
        <p:spPr>
          <a:xfrm>
            <a:off x="777240" y="1325880"/>
            <a:ext cx="10607040" cy="4425696"/>
          </a:xfrm>
          <a:prstGeom prst="rect">
            <a:avLst/>
          </a:prstGeom>
        </p:spPr>
      </p:pic>
      <p:sp>
        <p:nvSpPr>
          <p:cNvPr id="8" name="Rounded Rectangle 7"/>
          <p:cNvSpPr/>
          <p:nvPr/>
        </p:nvSpPr>
        <p:spPr>
          <a:xfrm>
            <a:off x="777240" y="5833872"/>
            <a:ext cx="10607040" cy="749808"/>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100"/>
              </a:spcAft>
              <a:defRPr sz="1050" b="1">
                <a:solidFill>
                  <a:srgbClr val="704EA6"/>
                </a:solidFill>
                <a:latin typeface="Calibri"/>
              </a:defRPr>
            </a:pPr>
            <a:r>
              <a:t>Live Interactive Demonstration &amp; Automated Verification Harness</a:t>
            </a:r>
          </a:p>
          <a:p>
            <a:pPr>
              <a:defRPr sz="1000" b="1">
                <a:solidFill>
                  <a:srgbClr val="0284C7"/>
                </a:solidFill>
                <a:latin typeface="Calibri"/>
              </a:defRPr>
            </a:pPr>
            <a:r>
              <a:t>🖥️ Run Interactive Recording: python3 run.py --cli -&gt; type /demo (step mode with [ENTER] between scenes) or python3 run.py demo --auto   │   ✔ 100% G1–G9 Gates Green</a:t>
            </a:r>
          </a:p>
        </p:txBody>
      </p:sp>
      <p:pic>
        <p:nvPicPr>
          <p:cNvPr id="9" name="Picture 8" descr="image.png"/>
          <p:cNvPicPr>
            <a:picLocks noChangeAspect="1"/>
          </p:cNvPicPr>
          <p:nvPr/>
        </p:nvPicPr>
        <p:blipFill>
          <a:blip r:embed="rId4"/>
          <a:stretch>
            <a:fillRect/>
          </a:stretch>
        </p:blipFill>
        <p:spPr>
          <a:xfrm>
            <a:off x="777240" y="1325880"/>
            <a:ext cx="10607040" cy="4425696"/>
          </a:xfrm>
          <a:prstGeom prst="rect">
            <a:avLst/>
          </a:prstGeom>
        </p:spPr>
      </p:pic>
      <p:sp>
        <p:nvSpPr>
          <p:cNvPr id="10" name="Rounded Rectangle 9"/>
          <p:cNvSpPr/>
          <p:nvPr/>
        </p:nvSpPr>
        <p:spPr>
          <a:xfrm>
            <a:off x="777240" y="5833872"/>
            <a:ext cx="10607040" cy="749808"/>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100"/>
              </a:spcAft>
              <a:defRPr sz="1050" b="1">
                <a:solidFill>
                  <a:srgbClr val="704EA6"/>
                </a:solidFill>
                <a:latin typeface="Calibri"/>
              </a:defRPr>
            </a:pPr>
            <a:r>
              <a:t>Live Interactive Demonstration &amp; Automated Verification Harness</a:t>
            </a:r>
          </a:p>
          <a:p>
            <a:pPr>
              <a:defRPr sz="1000" b="1">
                <a:solidFill>
                  <a:srgbClr val="0284C7"/>
                </a:solidFill>
                <a:latin typeface="Calibri"/>
              </a:defRPr>
            </a:pPr>
            <a:r>
              <a:t>🖥️ Run Interactive Recording: python3 run.py --cli -&gt; type /demo (step mode with [ENTER] between scenes) or python3 run.py demo --auto   │   ✔ 100% G1–G9 Gates Green</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777240" y="365760"/>
            <a:ext cx="10607040" cy="914400"/>
          </a:xfrm>
        </p:spPr>
        <p:txBody>
          <a:bodyPr/>
          <a:lstStyle/>
          <a:p>
            <a:pPr>
              <a:defRPr sz="2800" b="1">
                <a:solidFill>
                  <a:srgbClr val="704EA6"/>
                </a:solidFill>
                <a:latin typeface="Calibri"/>
              </a:defRPr>
            </a:pPr>
            <a:r>
              <a:t>Tools and Technology Stack</a:t>
            </a:r>
            <a:endParaRPr lang="en-IN" b="1" dirty="0">
              <a:solidFill>
                <a:srgbClr val="704EA6"/>
              </a:solidFill>
            </a:endParaRPr>
          </a:p>
        </p:txBody>
      </p:sp>
      <p:sp>
        <p:nvSpPr>
          <p:cNvPr id="3" name="Rounded Rectangle 2"/>
          <p:cNvSpPr/>
          <p:nvPr/>
        </p:nvSpPr>
        <p:spPr>
          <a:xfrm>
            <a:off x="777240" y="1463040"/>
            <a:ext cx="5166360" cy="2240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Retrieval &amp; Semantic Indexing</a:t>
            </a:r>
          </a:p>
          <a:p>
            <a:pPr>
              <a:spcAft>
                <a:spcPts val="600"/>
              </a:spcAft>
            </a:pPr>
            <a:r>
              <a:rPr b="1" sz="1100">
                <a:solidFill>
                  <a:srgbClr val="1E293B"/>
                </a:solidFill>
                <a:latin typeface="Calibri"/>
              </a:rPr>
              <a:t>• BM25 Okapi: </a:t>
            </a:r>
            <a:r>
              <a:rPr b="0" sz="1100">
                <a:solidFill>
                  <a:srgbClr val="334155"/>
                </a:solidFill>
                <a:latin typeface="Calibri"/>
              </a:rPr>
              <a:t>Fast lexical inverted index for exact keywords, section tags, and numerical caps.</a:t>
            </a:r>
          </a:p>
          <a:p>
            <a:pPr>
              <a:spcAft>
                <a:spcPts val="600"/>
              </a:spcAft>
            </a:pPr>
            <a:r>
              <a:rPr b="1" sz="1100">
                <a:solidFill>
                  <a:srgbClr val="1E293B"/>
                </a:solidFill>
                <a:latin typeface="Calibri"/>
              </a:rPr>
              <a:t>• Dense Semantic Vectors: </a:t>
            </a:r>
            <a:r>
              <a:rPr b="0" sz="1100">
                <a:solidFill>
                  <a:srgbClr val="334155"/>
                </a:solidFill>
                <a:latin typeface="Calibri"/>
              </a:rPr>
              <a:t>High-dimensional vector embeddings for conceptual matching.</a:t>
            </a:r>
          </a:p>
          <a:p>
            <a:pPr>
              <a:spcAft>
                <a:spcPts val="600"/>
              </a:spcAft>
            </a:pPr>
            <a:r>
              <a:rPr b="1" sz="1100">
                <a:solidFill>
                  <a:srgbClr val="1E293B"/>
                </a:solidFill>
                <a:latin typeface="Calibri"/>
              </a:rPr>
              <a:t>• Reciprocal Rank Fusion (RRF): </a:t>
            </a:r>
            <a:r>
              <a:rPr b="0" sz="1100">
                <a:solidFill>
                  <a:srgbClr val="334155"/>
                </a:solidFill>
                <a:latin typeface="Calibri"/>
              </a:rPr>
              <a:t>Merges lexical and dense scores with reciprocal rank weighting.</a:t>
            </a:r>
          </a:p>
        </p:txBody>
      </p:sp>
      <p:sp>
        <p:nvSpPr>
          <p:cNvPr id="4" name="Rounded Rectangle 3"/>
          <p:cNvSpPr/>
          <p:nvPr/>
        </p:nvSpPr>
        <p:spPr>
          <a:xfrm>
            <a:off x="6217920" y="1463040"/>
            <a:ext cx="5166360" cy="2240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Streaming &amp; Concurrency Architecture</a:t>
            </a:r>
          </a:p>
          <a:p>
            <a:pPr>
              <a:spcAft>
                <a:spcPts val="600"/>
              </a:spcAft>
            </a:pPr>
            <a:r>
              <a:rPr b="1" sz="1100">
                <a:solidFill>
                  <a:srgbClr val="1E293B"/>
                </a:solidFill>
                <a:latin typeface="Calibri"/>
              </a:rPr>
              <a:t>• AsyncIO Engine: </a:t>
            </a:r>
            <a:r>
              <a:rPr b="0" sz="1100">
                <a:solidFill>
                  <a:srgbClr val="334155"/>
                </a:solidFill>
                <a:latin typeface="Calibri"/>
              </a:rPr>
              <a:t>Fully asynchronous concurrent retrieval and non-blocking token generation.</a:t>
            </a:r>
          </a:p>
          <a:p>
            <a:pPr>
              <a:spcAft>
                <a:spcPts val="600"/>
              </a:spcAft>
            </a:pPr>
            <a:r>
              <a:rPr b="1" sz="1100">
                <a:solidFill>
                  <a:srgbClr val="1E293B"/>
                </a:solidFill>
                <a:latin typeface="Calibri"/>
              </a:rPr>
              <a:t>• Streaming Token Yielders: </a:t>
            </a:r>
            <a:r>
              <a:rPr b="0" sz="1100">
                <a:solidFill>
                  <a:srgbClr val="334155"/>
                </a:solidFill>
                <a:latin typeface="Calibri"/>
              </a:rPr>
              <a:t>True generator yield delivering sub-50ms TTFT (16ms measured).</a:t>
            </a:r>
          </a:p>
          <a:p>
            <a:pPr>
              <a:spcAft>
                <a:spcPts val="600"/>
              </a:spcAft>
            </a:pPr>
            <a:r>
              <a:rPr b="1" sz="1100">
                <a:solidFill>
                  <a:srgbClr val="1E293B"/>
                </a:solidFill>
                <a:latin typeface="Calibri"/>
              </a:rPr>
              <a:t>• Rolling N-gram Window: </a:t>
            </a:r>
            <a:r>
              <a:rPr b="0" sz="1100">
                <a:solidFill>
                  <a:srgbClr val="334155"/>
                </a:solidFill>
                <a:latin typeface="Calibri"/>
              </a:rPr>
              <a:t>Real-time diff tracking for mid-utterance pivot keyword detection.</a:t>
            </a:r>
          </a:p>
        </p:txBody>
      </p:sp>
      <p:sp>
        <p:nvSpPr>
          <p:cNvPr id="5" name="Rounded Rectangle 4"/>
          <p:cNvSpPr/>
          <p:nvPr/>
        </p:nvSpPr>
        <p:spPr>
          <a:xfrm>
            <a:off x="777240" y="3931920"/>
            <a:ext cx="5166360" cy="23317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EC4899"/>
                </a:solidFill>
                <a:latin typeface="Calibri"/>
              </a:defRPr>
            </a:pPr>
            <a:r>
              <a:t>Dual LLM Inference Engine</a:t>
            </a:r>
          </a:p>
          <a:p>
            <a:pPr>
              <a:spcAft>
                <a:spcPts val="600"/>
              </a:spcAft>
            </a:pPr>
            <a:r>
              <a:rPr b="1" sz="1100">
                <a:solidFill>
                  <a:srgbClr val="1E293B"/>
                </a:solidFill>
                <a:latin typeface="Calibri"/>
              </a:rPr>
              <a:t>• Groq LPU Hardware: </a:t>
            </a:r>
            <a:r>
              <a:rPr b="0" sz="1100">
                <a:solidFill>
                  <a:srgbClr val="334155"/>
                </a:solidFill>
                <a:latin typeface="Calibri"/>
              </a:rPr>
              <a:t>Ultra-fast LPUs for instantaneous streaming token delivery.</a:t>
            </a:r>
          </a:p>
          <a:p>
            <a:pPr>
              <a:spcAft>
                <a:spcPts val="600"/>
              </a:spcAft>
            </a:pPr>
            <a:r>
              <a:rPr b="1" sz="1100">
                <a:solidFill>
                  <a:srgbClr val="1E293B"/>
                </a:solidFill>
                <a:latin typeface="Calibri"/>
              </a:rPr>
              <a:t>• NVIDIA NIM API: </a:t>
            </a:r>
            <a:r>
              <a:rPr b="0" sz="1100">
                <a:solidFill>
                  <a:srgbClr val="334155"/>
                </a:solidFill>
                <a:latin typeface="Calibri"/>
              </a:rPr>
              <a:t>Nemotron-70B high-capacity reasoning for multi-intent decomposition.</a:t>
            </a:r>
          </a:p>
          <a:p>
            <a:pPr>
              <a:spcAft>
                <a:spcPts val="600"/>
              </a:spcAft>
            </a:pPr>
            <a:r>
              <a:rPr b="1" sz="1100">
                <a:solidFill>
                  <a:srgbClr val="1E293B"/>
                </a:solidFill>
                <a:latin typeface="Calibri"/>
              </a:rPr>
              <a:t>• Qwen Local Fallback: </a:t>
            </a:r>
            <a:r>
              <a:rPr b="0" sz="1100">
                <a:solidFill>
                  <a:srgbClr val="334155"/>
                </a:solidFill>
                <a:latin typeface="Calibri"/>
              </a:rPr>
              <a:t>On-device offline execution ensuring 100% uptime and data privacy.</a:t>
            </a:r>
          </a:p>
        </p:txBody>
      </p:sp>
      <p:sp>
        <p:nvSpPr>
          <p:cNvPr id="6" name="Rounded Rectangle 5"/>
          <p:cNvSpPr/>
          <p:nvPr/>
        </p:nvSpPr>
        <p:spPr>
          <a:xfrm>
            <a:off x="6217920" y="3931920"/>
            <a:ext cx="5166360" cy="23317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UI, Ingestion &amp; Observability</a:t>
            </a:r>
          </a:p>
          <a:p>
            <a:pPr>
              <a:spcAft>
                <a:spcPts val="600"/>
              </a:spcAft>
            </a:pPr>
            <a:r>
              <a:rPr b="1" sz="1100">
                <a:solidFill>
                  <a:srgbClr val="1E293B"/>
                </a:solidFill>
                <a:latin typeface="Calibri"/>
              </a:rPr>
              <a:t>• Rich Cybernetic HUD: </a:t>
            </a:r>
            <a:r>
              <a:rPr b="0" sz="1100">
                <a:solidFill>
                  <a:srgbClr val="334155"/>
                </a:solidFill>
                <a:latin typeface="Calibri"/>
              </a:rPr>
              <a:t>Full-color terminal UI with telemetry bars, token budgets, and citation trees.</a:t>
            </a:r>
          </a:p>
          <a:p>
            <a:pPr>
              <a:spcAft>
                <a:spcPts val="600"/>
              </a:spcAft>
            </a:pPr>
            <a:r>
              <a:rPr b="1" sz="1100">
                <a:solidFill>
                  <a:srgbClr val="1E293B"/>
                </a:solidFill>
                <a:latin typeface="Calibri"/>
              </a:rPr>
              <a:t>• prompt_toolkit REPL: </a:t>
            </a:r>
            <a:r>
              <a:rPr b="0" sz="1100">
                <a:solidFill>
                  <a:srgbClr val="334155"/>
                </a:solidFill>
                <a:latin typeface="Calibri"/>
              </a:rPr>
              <a:t>Interactive prompt with auto-completion, history, and /demo command.</a:t>
            </a:r>
          </a:p>
          <a:p>
            <a:pPr>
              <a:spcAft>
                <a:spcPts val="600"/>
              </a:spcAft>
            </a:pPr>
            <a:r>
              <a:rPr b="1" sz="1100">
                <a:solidFill>
                  <a:srgbClr val="1E293B"/>
                </a:solidFill>
                <a:latin typeface="Calibri"/>
              </a:rPr>
              <a:t>• PyPDF Ingestion: </a:t>
            </a:r>
            <a:r>
              <a:rPr b="0" sz="1100">
                <a:solidFill>
                  <a:srgbClr val="334155"/>
                </a:solidFill>
                <a:latin typeface="Calibri"/>
              </a:rPr>
              <a:t>Structured parser mapping enterprise PDFs into canonical [Doc_XX §YY] chunks.</a:t>
            </a:r>
          </a:p>
        </p:txBody>
      </p:sp>
      <p:sp>
        <p:nvSpPr>
          <p:cNvPr id="7" name="Rounded Rectangle 6"/>
          <p:cNvSpPr/>
          <p:nvPr/>
        </p:nvSpPr>
        <p:spPr>
          <a:xfrm>
            <a:off x="777240" y="1463040"/>
            <a:ext cx="5166360" cy="2240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Retrieval &amp; Semantic Indexing</a:t>
            </a:r>
          </a:p>
          <a:p>
            <a:pPr>
              <a:spcAft>
                <a:spcPts val="600"/>
              </a:spcAft>
            </a:pPr>
            <a:r>
              <a:rPr b="1" sz="1100">
                <a:solidFill>
                  <a:srgbClr val="1E293B"/>
                </a:solidFill>
                <a:latin typeface="Calibri"/>
              </a:rPr>
              <a:t>• BM25 Okapi: </a:t>
            </a:r>
            <a:r>
              <a:rPr b="0" sz="1100">
                <a:solidFill>
                  <a:srgbClr val="334155"/>
                </a:solidFill>
                <a:latin typeface="Calibri"/>
              </a:rPr>
              <a:t>Fast lexical inverted index for exact keywords, section tags, and numerical caps.</a:t>
            </a:r>
          </a:p>
          <a:p>
            <a:pPr>
              <a:spcAft>
                <a:spcPts val="600"/>
              </a:spcAft>
            </a:pPr>
            <a:r>
              <a:rPr b="1" sz="1100">
                <a:solidFill>
                  <a:srgbClr val="1E293B"/>
                </a:solidFill>
                <a:latin typeface="Calibri"/>
              </a:rPr>
              <a:t>• Dense Semantic Vectors: </a:t>
            </a:r>
            <a:r>
              <a:rPr b="0" sz="1100">
                <a:solidFill>
                  <a:srgbClr val="334155"/>
                </a:solidFill>
                <a:latin typeface="Calibri"/>
              </a:rPr>
              <a:t>High-dimensional vector embeddings for conceptual matching.</a:t>
            </a:r>
          </a:p>
          <a:p>
            <a:pPr>
              <a:spcAft>
                <a:spcPts val="600"/>
              </a:spcAft>
            </a:pPr>
            <a:r>
              <a:rPr b="1" sz="1100">
                <a:solidFill>
                  <a:srgbClr val="1E293B"/>
                </a:solidFill>
                <a:latin typeface="Calibri"/>
              </a:rPr>
              <a:t>• Reciprocal Rank Fusion (RRF): </a:t>
            </a:r>
            <a:r>
              <a:rPr b="0" sz="1100">
                <a:solidFill>
                  <a:srgbClr val="334155"/>
                </a:solidFill>
                <a:latin typeface="Calibri"/>
              </a:rPr>
              <a:t>Merges lexical and dense scores with reciprocal rank weighting.</a:t>
            </a:r>
          </a:p>
        </p:txBody>
      </p:sp>
      <p:sp>
        <p:nvSpPr>
          <p:cNvPr id="8" name="Rounded Rectangle 7"/>
          <p:cNvSpPr/>
          <p:nvPr/>
        </p:nvSpPr>
        <p:spPr>
          <a:xfrm>
            <a:off x="6217920" y="1463040"/>
            <a:ext cx="5166360" cy="2240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Streaming &amp; Concurrency Architecture</a:t>
            </a:r>
          </a:p>
          <a:p>
            <a:pPr>
              <a:spcAft>
                <a:spcPts val="600"/>
              </a:spcAft>
            </a:pPr>
            <a:r>
              <a:rPr b="1" sz="1100">
                <a:solidFill>
                  <a:srgbClr val="1E293B"/>
                </a:solidFill>
                <a:latin typeface="Calibri"/>
              </a:rPr>
              <a:t>• AsyncIO Engine: </a:t>
            </a:r>
            <a:r>
              <a:rPr b="0" sz="1100">
                <a:solidFill>
                  <a:srgbClr val="334155"/>
                </a:solidFill>
                <a:latin typeface="Calibri"/>
              </a:rPr>
              <a:t>Fully asynchronous concurrent retrieval and non-blocking token generation.</a:t>
            </a:r>
          </a:p>
          <a:p>
            <a:pPr>
              <a:spcAft>
                <a:spcPts val="600"/>
              </a:spcAft>
            </a:pPr>
            <a:r>
              <a:rPr b="1" sz="1100">
                <a:solidFill>
                  <a:srgbClr val="1E293B"/>
                </a:solidFill>
                <a:latin typeface="Calibri"/>
              </a:rPr>
              <a:t>• Streaming Token Yielders: </a:t>
            </a:r>
            <a:r>
              <a:rPr b="0" sz="1100">
                <a:solidFill>
                  <a:srgbClr val="334155"/>
                </a:solidFill>
                <a:latin typeface="Calibri"/>
              </a:rPr>
              <a:t>True generator yield delivering sub-50ms TTFT (16ms measured).</a:t>
            </a:r>
          </a:p>
          <a:p>
            <a:pPr>
              <a:spcAft>
                <a:spcPts val="600"/>
              </a:spcAft>
            </a:pPr>
            <a:r>
              <a:rPr b="1" sz="1100">
                <a:solidFill>
                  <a:srgbClr val="1E293B"/>
                </a:solidFill>
                <a:latin typeface="Calibri"/>
              </a:rPr>
              <a:t>• Rolling N-gram Window: </a:t>
            </a:r>
            <a:r>
              <a:rPr b="0" sz="1100">
                <a:solidFill>
                  <a:srgbClr val="334155"/>
                </a:solidFill>
                <a:latin typeface="Calibri"/>
              </a:rPr>
              <a:t>Real-time diff tracking for mid-utterance pivot keyword detection.</a:t>
            </a:r>
          </a:p>
        </p:txBody>
      </p:sp>
      <p:sp>
        <p:nvSpPr>
          <p:cNvPr id="9" name="Rounded Rectangle 8"/>
          <p:cNvSpPr/>
          <p:nvPr/>
        </p:nvSpPr>
        <p:spPr>
          <a:xfrm>
            <a:off x="777240" y="3931920"/>
            <a:ext cx="5166360" cy="23317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EC4899"/>
                </a:solidFill>
                <a:latin typeface="Calibri"/>
              </a:defRPr>
            </a:pPr>
            <a:r>
              <a:t>Dual LLM Inference Engine</a:t>
            </a:r>
          </a:p>
          <a:p>
            <a:pPr>
              <a:spcAft>
                <a:spcPts val="600"/>
              </a:spcAft>
            </a:pPr>
            <a:r>
              <a:rPr b="1" sz="1100">
                <a:solidFill>
                  <a:srgbClr val="1E293B"/>
                </a:solidFill>
                <a:latin typeface="Calibri"/>
              </a:rPr>
              <a:t>• Groq LPU Hardware: </a:t>
            </a:r>
            <a:r>
              <a:rPr b="0" sz="1100">
                <a:solidFill>
                  <a:srgbClr val="334155"/>
                </a:solidFill>
                <a:latin typeface="Calibri"/>
              </a:rPr>
              <a:t>Ultra-fast LPUs for instantaneous streaming token delivery.</a:t>
            </a:r>
          </a:p>
          <a:p>
            <a:pPr>
              <a:spcAft>
                <a:spcPts val="600"/>
              </a:spcAft>
            </a:pPr>
            <a:r>
              <a:rPr b="1" sz="1100">
                <a:solidFill>
                  <a:srgbClr val="1E293B"/>
                </a:solidFill>
                <a:latin typeface="Calibri"/>
              </a:rPr>
              <a:t>• NVIDIA NIM API: </a:t>
            </a:r>
            <a:r>
              <a:rPr b="0" sz="1100">
                <a:solidFill>
                  <a:srgbClr val="334155"/>
                </a:solidFill>
                <a:latin typeface="Calibri"/>
              </a:rPr>
              <a:t>Nemotron-70B high-capacity reasoning for multi-intent decomposition.</a:t>
            </a:r>
          </a:p>
          <a:p>
            <a:pPr>
              <a:spcAft>
                <a:spcPts val="600"/>
              </a:spcAft>
            </a:pPr>
            <a:r>
              <a:rPr b="1" sz="1100">
                <a:solidFill>
                  <a:srgbClr val="1E293B"/>
                </a:solidFill>
                <a:latin typeface="Calibri"/>
              </a:rPr>
              <a:t>• Qwen Local Fallback: </a:t>
            </a:r>
            <a:r>
              <a:rPr b="0" sz="1100">
                <a:solidFill>
                  <a:srgbClr val="334155"/>
                </a:solidFill>
                <a:latin typeface="Calibri"/>
              </a:rPr>
              <a:t>On-device offline execution ensuring 100% uptime and data privacy.</a:t>
            </a:r>
          </a:p>
        </p:txBody>
      </p:sp>
      <p:sp>
        <p:nvSpPr>
          <p:cNvPr id="10" name="Rounded Rectangle 9"/>
          <p:cNvSpPr/>
          <p:nvPr/>
        </p:nvSpPr>
        <p:spPr>
          <a:xfrm>
            <a:off x="6217920" y="3931920"/>
            <a:ext cx="5166360" cy="23317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UI, Ingestion &amp; Observability</a:t>
            </a:r>
          </a:p>
          <a:p>
            <a:pPr>
              <a:spcAft>
                <a:spcPts val="600"/>
              </a:spcAft>
            </a:pPr>
            <a:r>
              <a:rPr b="1" sz="1100">
                <a:solidFill>
                  <a:srgbClr val="1E293B"/>
                </a:solidFill>
                <a:latin typeface="Calibri"/>
              </a:rPr>
              <a:t>• Rich Cybernetic HUD: </a:t>
            </a:r>
            <a:r>
              <a:rPr b="0" sz="1100">
                <a:solidFill>
                  <a:srgbClr val="334155"/>
                </a:solidFill>
                <a:latin typeface="Calibri"/>
              </a:rPr>
              <a:t>Full-color terminal UI with telemetry bars, token budgets, and citation trees.</a:t>
            </a:r>
          </a:p>
          <a:p>
            <a:pPr>
              <a:spcAft>
                <a:spcPts val="600"/>
              </a:spcAft>
            </a:pPr>
            <a:r>
              <a:rPr b="1" sz="1100">
                <a:solidFill>
                  <a:srgbClr val="1E293B"/>
                </a:solidFill>
                <a:latin typeface="Calibri"/>
              </a:rPr>
              <a:t>• prompt_toolkit REPL: </a:t>
            </a:r>
            <a:r>
              <a:rPr b="0" sz="1100">
                <a:solidFill>
                  <a:srgbClr val="334155"/>
                </a:solidFill>
                <a:latin typeface="Calibri"/>
              </a:rPr>
              <a:t>Interactive prompt with auto-completion, history, and /demo command.</a:t>
            </a:r>
          </a:p>
          <a:p>
            <a:pPr>
              <a:spcAft>
                <a:spcPts val="600"/>
              </a:spcAft>
            </a:pPr>
            <a:r>
              <a:rPr b="1" sz="1100">
                <a:solidFill>
                  <a:srgbClr val="1E293B"/>
                </a:solidFill>
                <a:latin typeface="Calibri"/>
              </a:rPr>
              <a:t>• PyPDF Ingestion: </a:t>
            </a:r>
            <a:r>
              <a:rPr b="0" sz="1100">
                <a:solidFill>
                  <a:srgbClr val="334155"/>
                </a:solidFill>
                <a:latin typeface="Calibri"/>
              </a:rPr>
              <a:t>Structured parser mapping enterprise PDFs into canonical [Doc_XX §YY] chunks.</a:t>
            </a:r>
          </a:p>
        </p:txBody>
      </p:sp>
      <p:sp>
        <p:nvSpPr>
          <p:cNvPr id="11" name="Rounded Rectangle 10"/>
          <p:cNvSpPr/>
          <p:nvPr/>
        </p:nvSpPr>
        <p:spPr>
          <a:xfrm>
            <a:off x="777240" y="1463040"/>
            <a:ext cx="5166360" cy="2240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Retrieval &amp; Semantic Indexing</a:t>
            </a:r>
          </a:p>
          <a:p>
            <a:pPr>
              <a:spcAft>
                <a:spcPts val="600"/>
              </a:spcAft>
            </a:pPr>
            <a:r>
              <a:rPr b="1" sz="1100">
                <a:solidFill>
                  <a:srgbClr val="1E293B"/>
                </a:solidFill>
                <a:latin typeface="Calibri"/>
              </a:rPr>
              <a:t>• BM25 Okapi: </a:t>
            </a:r>
            <a:r>
              <a:rPr b="0" sz="1100">
                <a:solidFill>
                  <a:srgbClr val="334155"/>
                </a:solidFill>
                <a:latin typeface="Calibri"/>
              </a:rPr>
              <a:t>Fast lexical inverted index for exact keywords, section tags, and numerical caps.</a:t>
            </a:r>
          </a:p>
          <a:p>
            <a:pPr>
              <a:spcAft>
                <a:spcPts val="600"/>
              </a:spcAft>
            </a:pPr>
            <a:r>
              <a:rPr b="1" sz="1100">
                <a:solidFill>
                  <a:srgbClr val="1E293B"/>
                </a:solidFill>
                <a:latin typeface="Calibri"/>
              </a:rPr>
              <a:t>• Dense Semantic Vectors: </a:t>
            </a:r>
            <a:r>
              <a:rPr b="0" sz="1100">
                <a:solidFill>
                  <a:srgbClr val="334155"/>
                </a:solidFill>
                <a:latin typeface="Calibri"/>
              </a:rPr>
              <a:t>High-dimensional vector embeddings for conceptual matching.</a:t>
            </a:r>
          </a:p>
          <a:p>
            <a:pPr>
              <a:spcAft>
                <a:spcPts val="600"/>
              </a:spcAft>
            </a:pPr>
            <a:r>
              <a:rPr b="1" sz="1100">
                <a:solidFill>
                  <a:srgbClr val="1E293B"/>
                </a:solidFill>
                <a:latin typeface="Calibri"/>
              </a:rPr>
              <a:t>• Reciprocal Rank Fusion (RRF): </a:t>
            </a:r>
            <a:r>
              <a:rPr b="0" sz="1100">
                <a:solidFill>
                  <a:srgbClr val="334155"/>
                </a:solidFill>
                <a:latin typeface="Calibri"/>
              </a:rPr>
              <a:t>Merges lexical and dense scores with reciprocal rank weighting.</a:t>
            </a:r>
          </a:p>
        </p:txBody>
      </p:sp>
      <p:sp>
        <p:nvSpPr>
          <p:cNvPr id="12" name="Rounded Rectangle 11"/>
          <p:cNvSpPr/>
          <p:nvPr/>
        </p:nvSpPr>
        <p:spPr>
          <a:xfrm>
            <a:off x="6217920" y="1463040"/>
            <a:ext cx="5166360" cy="2240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Streaming &amp; Concurrency Architecture</a:t>
            </a:r>
          </a:p>
          <a:p>
            <a:pPr>
              <a:spcAft>
                <a:spcPts val="600"/>
              </a:spcAft>
            </a:pPr>
            <a:r>
              <a:rPr b="1" sz="1100">
                <a:solidFill>
                  <a:srgbClr val="1E293B"/>
                </a:solidFill>
                <a:latin typeface="Calibri"/>
              </a:rPr>
              <a:t>• AsyncIO Engine: </a:t>
            </a:r>
            <a:r>
              <a:rPr b="0" sz="1100">
                <a:solidFill>
                  <a:srgbClr val="334155"/>
                </a:solidFill>
                <a:latin typeface="Calibri"/>
              </a:rPr>
              <a:t>Fully asynchronous concurrent retrieval and non-blocking token generation.</a:t>
            </a:r>
          </a:p>
          <a:p>
            <a:pPr>
              <a:spcAft>
                <a:spcPts val="600"/>
              </a:spcAft>
            </a:pPr>
            <a:r>
              <a:rPr b="1" sz="1100">
                <a:solidFill>
                  <a:srgbClr val="1E293B"/>
                </a:solidFill>
                <a:latin typeface="Calibri"/>
              </a:rPr>
              <a:t>• Streaming Token Yielders: </a:t>
            </a:r>
            <a:r>
              <a:rPr b="0" sz="1100">
                <a:solidFill>
                  <a:srgbClr val="334155"/>
                </a:solidFill>
                <a:latin typeface="Calibri"/>
              </a:rPr>
              <a:t>True generator yield delivering sub-50ms TTFT (16ms measured).</a:t>
            </a:r>
          </a:p>
          <a:p>
            <a:pPr>
              <a:spcAft>
                <a:spcPts val="600"/>
              </a:spcAft>
            </a:pPr>
            <a:r>
              <a:rPr b="1" sz="1100">
                <a:solidFill>
                  <a:srgbClr val="1E293B"/>
                </a:solidFill>
                <a:latin typeface="Calibri"/>
              </a:rPr>
              <a:t>• Rolling N-gram Window: </a:t>
            </a:r>
            <a:r>
              <a:rPr b="0" sz="1100">
                <a:solidFill>
                  <a:srgbClr val="334155"/>
                </a:solidFill>
                <a:latin typeface="Calibri"/>
              </a:rPr>
              <a:t>Real-time diff tracking for mid-utterance pivot keyword detection.</a:t>
            </a:r>
          </a:p>
        </p:txBody>
      </p:sp>
      <p:sp>
        <p:nvSpPr>
          <p:cNvPr id="13" name="Rounded Rectangle 12"/>
          <p:cNvSpPr/>
          <p:nvPr/>
        </p:nvSpPr>
        <p:spPr>
          <a:xfrm>
            <a:off x="777240" y="3931920"/>
            <a:ext cx="5166360" cy="23317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EC4899"/>
                </a:solidFill>
                <a:latin typeface="Calibri"/>
              </a:defRPr>
            </a:pPr>
            <a:r>
              <a:t>Dual LLM Inference Engine</a:t>
            </a:r>
          </a:p>
          <a:p>
            <a:pPr>
              <a:spcAft>
                <a:spcPts val="600"/>
              </a:spcAft>
            </a:pPr>
            <a:r>
              <a:rPr b="1" sz="1100">
                <a:solidFill>
                  <a:srgbClr val="1E293B"/>
                </a:solidFill>
                <a:latin typeface="Calibri"/>
              </a:rPr>
              <a:t>• Groq LPU Hardware: </a:t>
            </a:r>
            <a:r>
              <a:rPr b="0" sz="1100">
                <a:solidFill>
                  <a:srgbClr val="334155"/>
                </a:solidFill>
                <a:latin typeface="Calibri"/>
              </a:rPr>
              <a:t>Ultra-fast LPUs for instantaneous streaming token delivery.</a:t>
            </a:r>
          </a:p>
          <a:p>
            <a:pPr>
              <a:spcAft>
                <a:spcPts val="600"/>
              </a:spcAft>
            </a:pPr>
            <a:r>
              <a:rPr b="1" sz="1100">
                <a:solidFill>
                  <a:srgbClr val="1E293B"/>
                </a:solidFill>
                <a:latin typeface="Calibri"/>
              </a:rPr>
              <a:t>• NVIDIA NIM API: </a:t>
            </a:r>
            <a:r>
              <a:rPr b="0" sz="1100">
                <a:solidFill>
                  <a:srgbClr val="334155"/>
                </a:solidFill>
                <a:latin typeface="Calibri"/>
              </a:rPr>
              <a:t>Nemotron-70B high-capacity reasoning for multi-intent decomposition.</a:t>
            </a:r>
          </a:p>
          <a:p>
            <a:pPr>
              <a:spcAft>
                <a:spcPts val="600"/>
              </a:spcAft>
            </a:pPr>
            <a:r>
              <a:rPr b="1" sz="1100">
                <a:solidFill>
                  <a:srgbClr val="1E293B"/>
                </a:solidFill>
                <a:latin typeface="Calibri"/>
              </a:rPr>
              <a:t>• Qwen Local Fallback: </a:t>
            </a:r>
            <a:r>
              <a:rPr b="0" sz="1100">
                <a:solidFill>
                  <a:srgbClr val="334155"/>
                </a:solidFill>
                <a:latin typeface="Calibri"/>
              </a:rPr>
              <a:t>On-device offline execution ensuring 100% uptime and data privacy.</a:t>
            </a:r>
          </a:p>
        </p:txBody>
      </p:sp>
      <p:sp>
        <p:nvSpPr>
          <p:cNvPr id="14" name="Rounded Rectangle 13"/>
          <p:cNvSpPr/>
          <p:nvPr/>
        </p:nvSpPr>
        <p:spPr>
          <a:xfrm>
            <a:off x="6217920" y="3931920"/>
            <a:ext cx="5166360" cy="23317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UI, Ingestion &amp; Observability</a:t>
            </a:r>
          </a:p>
          <a:p>
            <a:pPr>
              <a:spcAft>
                <a:spcPts val="600"/>
              </a:spcAft>
            </a:pPr>
            <a:r>
              <a:rPr b="1" sz="1100">
                <a:solidFill>
                  <a:srgbClr val="1E293B"/>
                </a:solidFill>
                <a:latin typeface="Calibri"/>
              </a:rPr>
              <a:t>• Rich Cybernetic HUD: </a:t>
            </a:r>
            <a:r>
              <a:rPr b="0" sz="1100">
                <a:solidFill>
                  <a:srgbClr val="334155"/>
                </a:solidFill>
                <a:latin typeface="Calibri"/>
              </a:rPr>
              <a:t>Full-color terminal UI with telemetry bars, token budgets, and citation trees.</a:t>
            </a:r>
          </a:p>
          <a:p>
            <a:pPr>
              <a:spcAft>
                <a:spcPts val="600"/>
              </a:spcAft>
            </a:pPr>
            <a:r>
              <a:rPr b="1" sz="1100">
                <a:solidFill>
                  <a:srgbClr val="1E293B"/>
                </a:solidFill>
                <a:latin typeface="Calibri"/>
              </a:rPr>
              <a:t>• prompt_toolkit REPL: </a:t>
            </a:r>
            <a:r>
              <a:rPr b="0" sz="1100">
                <a:solidFill>
                  <a:srgbClr val="334155"/>
                </a:solidFill>
                <a:latin typeface="Calibri"/>
              </a:rPr>
              <a:t>Interactive prompt with auto-completion, history, and /demo command.</a:t>
            </a:r>
          </a:p>
          <a:p>
            <a:pPr>
              <a:spcAft>
                <a:spcPts val="600"/>
              </a:spcAft>
            </a:pPr>
            <a:r>
              <a:rPr b="1" sz="1100">
                <a:solidFill>
                  <a:srgbClr val="1E293B"/>
                </a:solidFill>
                <a:latin typeface="Calibri"/>
              </a:rPr>
              <a:t>• PyPDF Ingestion: </a:t>
            </a:r>
            <a:r>
              <a:rPr b="0" sz="1100">
                <a:solidFill>
                  <a:srgbClr val="334155"/>
                </a:solidFill>
                <a:latin typeface="Calibri"/>
              </a:rPr>
              <a:t>Structured parser mapping enterprise PDFs into canonical [Doc_XX §YY] chunks.</a:t>
            </a:r>
          </a:p>
        </p:txBody>
      </p:sp>
      <p:sp>
        <p:nvSpPr>
          <p:cNvPr id="15" name="Rounded Rectangle 14"/>
          <p:cNvSpPr/>
          <p:nvPr/>
        </p:nvSpPr>
        <p:spPr>
          <a:xfrm>
            <a:off x="777240" y="1463040"/>
            <a:ext cx="5166360" cy="2240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Retrieval &amp; Semantic Indexing</a:t>
            </a:r>
          </a:p>
          <a:p>
            <a:pPr>
              <a:spcAft>
                <a:spcPts val="600"/>
              </a:spcAft>
            </a:pPr>
            <a:r>
              <a:rPr b="1" sz="1100">
                <a:solidFill>
                  <a:srgbClr val="1E293B"/>
                </a:solidFill>
                <a:latin typeface="Calibri"/>
              </a:rPr>
              <a:t>• BM25 Okapi: </a:t>
            </a:r>
            <a:r>
              <a:rPr b="0" sz="1100">
                <a:solidFill>
                  <a:srgbClr val="334155"/>
                </a:solidFill>
                <a:latin typeface="Calibri"/>
              </a:rPr>
              <a:t>Fast lexical inverted index for exact keywords, section tags, and numerical caps.</a:t>
            </a:r>
          </a:p>
          <a:p>
            <a:pPr>
              <a:spcAft>
                <a:spcPts val="600"/>
              </a:spcAft>
            </a:pPr>
            <a:r>
              <a:rPr b="1" sz="1100">
                <a:solidFill>
                  <a:srgbClr val="1E293B"/>
                </a:solidFill>
                <a:latin typeface="Calibri"/>
              </a:rPr>
              <a:t>• Dense Semantic Vectors: </a:t>
            </a:r>
            <a:r>
              <a:rPr b="0" sz="1100">
                <a:solidFill>
                  <a:srgbClr val="334155"/>
                </a:solidFill>
                <a:latin typeface="Calibri"/>
              </a:rPr>
              <a:t>High-dimensional vector embeddings for conceptual matching.</a:t>
            </a:r>
          </a:p>
          <a:p>
            <a:pPr>
              <a:spcAft>
                <a:spcPts val="600"/>
              </a:spcAft>
            </a:pPr>
            <a:r>
              <a:rPr b="1" sz="1100">
                <a:solidFill>
                  <a:srgbClr val="1E293B"/>
                </a:solidFill>
                <a:latin typeface="Calibri"/>
              </a:rPr>
              <a:t>• Reciprocal Rank Fusion (RRF): </a:t>
            </a:r>
            <a:r>
              <a:rPr b="0" sz="1100">
                <a:solidFill>
                  <a:srgbClr val="334155"/>
                </a:solidFill>
                <a:latin typeface="Calibri"/>
              </a:rPr>
              <a:t>Merges lexical and dense scores with reciprocal rank weighting.</a:t>
            </a:r>
          </a:p>
          <a:p>
            <a:pPr>
              <a:spcAft>
                <a:spcPts val="600"/>
              </a:spcAft>
            </a:pPr>
            <a:r>
              <a:rPr b="1" sz="1100">
                <a:solidFill>
                  <a:srgbClr val="1E293B"/>
                </a:solidFill>
                <a:latin typeface="Calibri"/>
              </a:rPr>
              <a:t>• Scikit-Learn/NumPy: </a:t>
            </a:r>
            <a:r>
              <a:rPr b="0" sz="1100">
                <a:solidFill>
                  <a:srgbClr val="334155"/>
                </a:solidFill>
                <a:latin typeface="Calibri"/>
              </a:rPr>
              <a:t>Highly optimized matrix ops for cross-encoder reranking algorithms.</a:t>
            </a:r>
          </a:p>
        </p:txBody>
      </p:sp>
      <p:sp>
        <p:nvSpPr>
          <p:cNvPr id="16" name="Rounded Rectangle 15"/>
          <p:cNvSpPr/>
          <p:nvPr/>
        </p:nvSpPr>
        <p:spPr>
          <a:xfrm>
            <a:off x="6217920" y="1463040"/>
            <a:ext cx="5166360" cy="2240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Streaming &amp; Concurrency Architecture</a:t>
            </a:r>
          </a:p>
          <a:p>
            <a:pPr>
              <a:spcAft>
                <a:spcPts val="600"/>
              </a:spcAft>
            </a:pPr>
            <a:r>
              <a:rPr b="1" sz="1100">
                <a:solidFill>
                  <a:srgbClr val="1E293B"/>
                </a:solidFill>
                <a:latin typeface="Calibri"/>
              </a:rPr>
              <a:t>• AsyncIO Engine: </a:t>
            </a:r>
            <a:r>
              <a:rPr b="0" sz="1100">
                <a:solidFill>
                  <a:srgbClr val="334155"/>
                </a:solidFill>
                <a:latin typeface="Calibri"/>
              </a:rPr>
              <a:t>Fully asynchronous concurrent retrieval and non-blocking token generation.</a:t>
            </a:r>
          </a:p>
          <a:p>
            <a:pPr>
              <a:spcAft>
                <a:spcPts val="600"/>
              </a:spcAft>
            </a:pPr>
            <a:r>
              <a:rPr b="1" sz="1100">
                <a:solidFill>
                  <a:srgbClr val="1E293B"/>
                </a:solidFill>
                <a:latin typeface="Calibri"/>
              </a:rPr>
              <a:t>• Streaming Token Yielders: </a:t>
            </a:r>
            <a:r>
              <a:rPr b="0" sz="1100">
                <a:solidFill>
                  <a:srgbClr val="334155"/>
                </a:solidFill>
                <a:latin typeface="Calibri"/>
              </a:rPr>
              <a:t>True generator yield delivering sub-50ms TTFT (16ms measured).</a:t>
            </a:r>
          </a:p>
          <a:p>
            <a:pPr>
              <a:spcAft>
                <a:spcPts val="600"/>
              </a:spcAft>
            </a:pPr>
            <a:r>
              <a:rPr b="1" sz="1100">
                <a:solidFill>
                  <a:srgbClr val="1E293B"/>
                </a:solidFill>
                <a:latin typeface="Calibri"/>
              </a:rPr>
              <a:t>• Rolling N-gram Window: </a:t>
            </a:r>
            <a:r>
              <a:rPr b="0" sz="1100">
                <a:solidFill>
                  <a:srgbClr val="334155"/>
                </a:solidFill>
                <a:latin typeface="Calibri"/>
              </a:rPr>
              <a:t>Real-time diff tracking for mid-utterance pivot keyword detection.</a:t>
            </a:r>
          </a:p>
          <a:p>
            <a:pPr>
              <a:spcAft>
                <a:spcPts val="600"/>
              </a:spcAft>
            </a:pPr>
            <a:r>
              <a:rPr b="1" sz="1100">
                <a:solidFill>
                  <a:srgbClr val="1E293B"/>
                </a:solidFill>
                <a:latin typeface="Calibri"/>
              </a:rPr>
              <a:t>• State Lineage Memory: </a:t>
            </a:r>
            <a:r>
              <a:rPr b="0" sz="1100">
                <a:solidFill>
                  <a:srgbClr val="334155"/>
                </a:solidFill>
                <a:latin typeface="Calibri"/>
              </a:rPr>
              <a:t>Maintains an immutable append-only history of query mutations.</a:t>
            </a:r>
          </a:p>
        </p:txBody>
      </p:sp>
      <p:sp>
        <p:nvSpPr>
          <p:cNvPr id="17" name="Rounded Rectangle 16"/>
          <p:cNvSpPr/>
          <p:nvPr/>
        </p:nvSpPr>
        <p:spPr>
          <a:xfrm>
            <a:off x="777240" y="3931920"/>
            <a:ext cx="5166360" cy="23317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EC4899"/>
                </a:solidFill>
                <a:latin typeface="Calibri"/>
              </a:defRPr>
            </a:pPr>
            <a:r>
              <a:t>Dual LLM Inference Engine</a:t>
            </a:r>
          </a:p>
          <a:p>
            <a:pPr>
              <a:spcAft>
                <a:spcPts val="600"/>
              </a:spcAft>
            </a:pPr>
            <a:r>
              <a:rPr b="1" sz="1100">
                <a:solidFill>
                  <a:srgbClr val="1E293B"/>
                </a:solidFill>
                <a:latin typeface="Calibri"/>
              </a:rPr>
              <a:t>• Groq LPU Hardware: </a:t>
            </a:r>
            <a:r>
              <a:rPr b="0" sz="1100">
                <a:solidFill>
                  <a:srgbClr val="334155"/>
                </a:solidFill>
                <a:latin typeface="Calibri"/>
              </a:rPr>
              <a:t>Ultra-fast LPUs for instantaneous streaming token delivery (1000+ tps).</a:t>
            </a:r>
          </a:p>
          <a:p>
            <a:pPr>
              <a:spcAft>
                <a:spcPts val="600"/>
              </a:spcAft>
            </a:pPr>
            <a:r>
              <a:rPr b="1" sz="1100">
                <a:solidFill>
                  <a:srgbClr val="1E293B"/>
                </a:solidFill>
                <a:latin typeface="Calibri"/>
              </a:rPr>
              <a:t>• NVIDIA NIM API: </a:t>
            </a:r>
            <a:r>
              <a:rPr b="0" sz="1100">
                <a:solidFill>
                  <a:srgbClr val="334155"/>
                </a:solidFill>
                <a:latin typeface="Calibri"/>
              </a:rPr>
              <a:t>Nemotron-70B high-capacity reasoning for multi-intent decomposition.</a:t>
            </a:r>
          </a:p>
          <a:p>
            <a:pPr>
              <a:spcAft>
                <a:spcPts val="600"/>
              </a:spcAft>
            </a:pPr>
            <a:r>
              <a:rPr b="1" sz="1100">
                <a:solidFill>
                  <a:srgbClr val="1E293B"/>
                </a:solidFill>
                <a:latin typeface="Calibri"/>
              </a:rPr>
              <a:t>• Qwen Local Fallback: </a:t>
            </a:r>
            <a:r>
              <a:rPr b="0" sz="1100">
                <a:solidFill>
                  <a:srgbClr val="334155"/>
                </a:solidFill>
                <a:latin typeface="Calibri"/>
              </a:rPr>
              <a:t>On-device offline execution ensuring 100% uptime and data privacy.</a:t>
            </a:r>
          </a:p>
        </p:txBody>
      </p:sp>
      <p:sp>
        <p:nvSpPr>
          <p:cNvPr id="18" name="Rounded Rectangle 17"/>
          <p:cNvSpPr/>
          <p:nvPr/>
        </p:nvSpPr>
        <p:spPr>
          <a:xfrm>
            <a:off x="6217920" y="3931920"/>
            <a:ext cx="5166360" cy="23317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UI, Ingestion &amp; Observability</a:t>
            </a:r>
          </a:p>
          <a:p>
            <a:pPr>
              <a:spcAft>
                <a:spcPts val="600"/>
              </a:spcAft>
            </a:pPr>
            <a:r>
              <a:rPr b="1" sz="1100">
                <a:solidFill>
                  <a:srgbClr val="1E293B"/>
                </a:solidFill>
                <a:latin typeface="Calibri"/>
              </a:rPr>
              <a:t>• Rich Cybernetic HUD: </a:t>
            </a:r>
            <a:r>
              <a:rPr b="0" sz="1100">
                <a:solidFill>
                  <a:srgbClr val="334155"/>
                </a:solidFill>
                <a:latin typeface="Calibri"/>
              </a:rPr>
              <a:t>Full-color terminal UI with telemetry bars, token budgets, and citation trees.</a:t>
            </a:r>
          </a:p>
          <a:p>
            <a:pPr>
              <a:spcAft>
                <a:spcPts val="600"/>
              </a:spcAft>
            </a:pPr>
            <a:r>
              <a:rPr b="1" sz="1100">
                <a:solidFill>
                  <a:srgbClr val="1E293B"/>
                </a:solidFill>
                <a:latin typeface="Calibri"/>
              </a:rPr>
              <a:t>• prompt_toolkit REPL: </a:t>
            </a:r>
            <a:r>
              <a:rPr b="0" sz="1100">
                <a:solidFill>
                  <a:srgbClr val="334155"/>
                </a:solidFill>
                <a:latin typeface="Calibri"/>
              </a:rPr>
              <a:t>Interactive prompt with auto-completion, history, and /demo command.</a:t>
            </a:r>
          </a:p>
          <a:p>
            <a:pPr>
              <a:spcAft>
                <a:spcPts val="600"/>
              </a:spcAft>
            </a:pPr>
            <a:r>
              <a:rPr b="1" sz="1100">
                <a:solidFill>
                  <a:srgbClr val="1E293B"/>
                </a:solidFill>
                <a:latin typeface="Calibri"/>
              </a:rPr>
              <a:t>• PyPDF Ingestion: </a:t>
            </a:r>
            <a:r>
              <a:rPr b="0" sz="1100">
                <a:solidFill>
                  <a:srgbClr val="334155"/>
                </a:solidFill>
                <a:latin typeface="Calibri"/>
              </a:rPr>
              <a:t>Structured parser mapping enterprise PDFs into canonical [Doc_XX §YY] chunks.</a:t>
            </a:r>
          </a:p>
          <a:p>
            <a:pPr>
              <a:spcAft>
                <a:spcPts val="600"/>
              </a:spcAft>
            </a:pPr>
            <a:r>
              <a:rPr b="1" sz="1100">
                <a:solidFill>
                  <a:srgbClr val="1E293B"/>
                </a:solidFill>
                <a:latin typeface="Calibri"/>
              </a:rPr>
              <a:t>• Pytest Harness: </a:t>
            </a:r>
            <a:r>
              <a:rPr b="0" sz="1100">
                <a:solidFill>
                  <a:srgbClr val="334155"/>
                </a:solidFill>
                <a:latin typeface="Calibri"/>
              </a:rPr>
              <a:t>Extensive test suite validating semantic suppression and TTFT SLAs.</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777240" y="365760"/>
            <a:ext cx="10607040" cy="914400"/>
          </a:xfrm>
        </p:spPr>
        <p:txBody>
          <a:bodyPr/>
          <a:lstStyle/>
          <a:p>
            <a:pPr>
              <a:defRPr sz="2800" b="1">
                <a:solidFill>
                  <a:srgbClr val="704EA6"/>
                </a:solidFill>
                <a:latin typeface="Calibri"/>
              </a:defRPr>
            </a:pPr>
            <a:r>
              <a:t>Enterprise Impact &amp; Production Use Cases</a:t>
            </a:r>
            <a:endParaRPr lang="en-IN" b="1" dirty="0">
              <a:solidFill>
                <a:srgbClr val="704EA6"/>
              </a:solidFill>
            </a:endParaRPr>
          </a:p>
        </p:txBody>
      </p:sp>
      <p:sp>
        <p:nvSpPr>
          <p:cNvPr id="3" name="Rounded Rectangle 2"/>
          <p:cNvSpPr/>
          <p:nvPr/>
        </p:nvSpPr>
        <p:spPr>
          <a:xfrm>
            <a:off x="777240" y="1463040"/>
            <a:ext cx="333756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1. Enterprise Policy Co-Pilot</a:t>
            </a:r>
          </a:p>
          <a:p>
            <a:pPr>
              <a:spcAft>
                <a:spcPts val="600"/>
              </a:spcAft>
            </a:pPr>
            <a:r>
              <a:rPr b="1" sz="1100">
                <a:solidFill>
                  <a:srgbClr val="1E293B"/>
                </a:solidFill>
                <a:latin typeface="Calibri"/>
              </a:rPr>
              <a:t>• Workplace Intelligence: </a:t>
            </a:r>
            <a:r>
              <a:rPr b="0" sz="1100">
                <a:solidFill>
                  <a:srgbClr val="334155"/>
                </a:solidFill>
                <a:latin typeface="Calibri"/>
              </a:rPr>
              <a:t>Instant, grounded policy assistance for 100,000+ enterprise employees.</a:t>
            </a:r>
          </a:p>
          <a:p>
            <a:pPr>
              <a:spcAft>
                <a:spcPts val="600"/>
              </a:spcAft>
            </a:pPr>
            <a:r>
              <a:rPr b="1" sz="1100">
                <a:solidFill>
                  <a:srgbClr val="1E293B"/>
                </a:solidFill>
                <a:latin typeface="Calibri"/>
              </a:rPr>
              <a:t>• Zero Ticketing Backlog: </a:t>
            </a:r>
            <a:r>
              <a:rPr b="0" sz="1100">
                <a:solidFill>
                  <a:srgbClr val="334155"/>
                </a:solidFill>
                <a:latin typeface="Calibri"/>
              </a:rPr>
              <a:t>Automates 80% of routine HR, travel, and expense questions.</a:t>
            </a:r>
          </a:p>
          <a:p>
            <a:pPr>
              <a:spcAft>
                <a:spcPts val="600"/>
              </a:spcAft>
            </a:pPr>
            <a:r>
              <a:rPr b="1" sz="1100">
                <a:solidFill>
                  <a:srgbClr val="1E293B"/>
                </a:solidFill>
                <a:latin typeface="Calibri"/>
              </a:rPr>
              <a:t>• Audit Verifiable: </a:t>
            </a:r>
            <a:r>
              <a:rPr b="0" sz="1100">
                <a:solidFill>
                  <a:srgbClr val="334155"/>
                </a:solidFill>
                <a:latin typeface="Calibri"/>
              </a:rPr>
              <a:t>Eliminates compliance disputes via exact [Doc_POLICY §XX] citations.</a:t>
            </a:r>
          </a:p>
        </p:txBody>
      </p:sp>
      <p:sp>
        <p:nvSpPr>
          <p:cNvPr id="4" name="Rounded Rectangle 3"/>
          <p:cNvSpPr/>
          <p:nvPr/>
        </p:nvSpPr>
        <p:spPr>
          <a:xfrm>
            <a:off x="4389120" y="1463040"/>
            <a:ext cx="333756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2. Live Voice Assistants (Galaxy/Bixby)</a:t>
            </a:r>
          </a:p>
          <a:p>
            <a:pPr>
              <a:spcAft>
                <a:spcPts val="600"/>
              </a:spcAft>
            </a:pPr>
            <a:r>
              <a:rPr b="1" sz="1100">
                <a:solidFill>
                  <a:srgbClr val="1E293B"/>
                </a:solidFill>
                <a:latin typeface="Calibri"/>
              </a:rPr>
              <a:t>• Conversational Pacing: </a:t>
            </a:r>
            <a:r>
              <a:rPr b="0" sz="1100">
                <a:solidFill>
                  <a:srgbClr val="334155"/>
                </a:solidFill>
                <a:latin typeface="Calibri"/>
              </a:rPr>
              <a:t>16ms TTFT delivers natural speech rhythm without awkward pauses.</a:t>
            </a:r>
          </a:p>
          <a:p>
            <a:pPr>
              <a:spcAft>
                <a:spcPts val="600"/>
              </a:spcAft>
            </a:pPr>
            <a:r>
              <a:rPr b="1" sz="1100">
                <a:solidFill>
                  <a:srgbClr val="1E293B"/>
                </a:solidFill>
                <a:latin typeface="Calibri"/>
              </a:rPr>
              <a:t>• Speech Self-Correction: </a:t>
            </a:r>
            <a:r>
              <a:rPr b="0" sz="1100">
                <a:solidFill>
                  <a:srgbClr val="334155"/>
                </a:solidFill>
                <a:latin typeface="Calibri"/>
              </a:rPr>
              <a:t>Handles mid-sentence pivots smoothly without restarting conversation.</a:t>
            </a:r>
          </a:p>
          <a:p>
            <a:pPr>
              <a:spcAft>
                <a:spcPts val="600"/>
              </a:spcAft>
            </a:pPr>
            <a:r>
              <a:rPr b="1" sz="1100">
                <a:solidFill>
                  <a:srgbClr val="1E293B"/>
                </a:solidFill>
                <a:latin typeface="Calibri"/>
              </a:rPr>
              <a:t>• Edge Resilience: </a:t>
            </a:r>
            <a:r>
              <a:rPr b="0" sz="1100">
                <a:solidFill>
                  <a:srgbClr val="334155"/>
                </a:solidFill>
                <a:latin typeface="Calibri"/>
              </a:rPr>
              <a:t>Local offline model fallback for zero-connectivity scenarios.</a:t>
            </a:r>
          </a:p>
        </p:txBody>
      </p:sp>
      <p:sp>
        <p:nvSpPr>
          <p:cNvPr id="5" name="Rounded Rectangle 4"/>
          <p:cNvSpPr/>
          <p:nvPr/>
        </p:nvSpPr>
        <p:spPr>
          <a:xfrm>
            <a:off x="8001000" y="1463040"/>
            <a:ext cx="338328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3. Contact Center Co-Pilot</a:t>
            </a:r>
          </a:p>
          <a:p>
            <a:pPr>
              <a:spcAft>
                <a:spcPts val="600"/>
              </a:spcAft>
            </a:pPr>
            <a:r>
              <a:rPr b="1" sz="1100">
                <a:solidFill>
                  <a:srgbClr val="1E293B"/>
                </a:solidFill>
                <a:latin typeface="Calibri"/>
              </a:rPr>
              <a:t>• Agent Assist: </a:t>
            </a:r>
            <a:r>
              <a:rPr b="0" sz="1100">
                <a:solidFill>
                  <a:srgbClr val="334155"/>
                </a:solidFill>
                <a:latin typeface="Calibri"/>
              </a:rPr>
              <a:t>Pre-fetches policy clauses in real time while customer is speaking.</a:t>
            </a:r>
          </a:p>
          <a:p>
            <a:pPr>
              <a:spcAft>
                <a:spcPts val="600"/>
              </a:spcAft>
            </a:pPr>
            <a:r>
              <a:rPr b="1" sz="1100">
                <a:solidFill>
                  <a:srgbClr val="1E293B"/>
                </a:solidFill>
                <a:latin typeface="Calibri"/>
              </a:rPr>
              <a:t>• Lowered AHT: </a:t>
            </a:r>
            <a:r>
              <a:rPr b="0" sz="1100">
                <a:solidFill>
                  <a:srgbClr val="334155"/>
                </a:solidFill>
                <a:latin typeface="Calibri"/>
              </a:rPr>
              <a:t>Reduces Average Handle Time by 65% across complex operational queries.</a:t>
            </a:r>
          </a:p>
          <a:p>
            <a:pPr>
              <a:spcAft>
                <a:spcPts val="600"/>
              </a:spcAft>
            </a:pPr>
            <a:r>
              <a:rPr b="1" sz="1100">
                <a:solidFill>
                  <a:srgbClr val="1E293B"/>
                </a:solidFill>
                <a:latin typeface="Calibri"/>
              </a:rPr>
              <a:t>• Zero Hallucination: </a:t>
            </a:r>
            <a:r>
              <a:rPr b="0" sz="1100">
                <a:solidFill>
                  <a:srgbClr val="334155"/>
                </a:solidFill>
                <a:latin typeface="Calibri"/>
              </a:rPr>
              <a:t>Strict uncertainty alerts agents when policy is missing.</a:t>
            </a:r>
          </a:p>
        </p:txBody>
      </p:sp>
      <p:sp>
        <p:nvSpPr>
          <p:cNvPr id="6" name="Rounded Rectangle 5"/>
          <p:cNvSpPr/>
          <p:nvPr/>
        </p:nvSpPr>
        <p:spPr>
          <a:xfrm>
            <a:off x="777240" y="5303520"/>
            <a:ext cx="10607040" cy="1051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1200" b="1">
                <a:solidFill>
                  <a:srgbClr val="1E293B"/>
                </a:solidFill>
                <a:latin typeface="Calibri"/>
              </a:defRPr>
            </a:pPr>
            <a:r>
              <a:t>Quantifiable Business ROI &amp; Efficiency Gains</a:t>
            </a:r>
          </a:p>
          <a:p>
            <a:pPr>
              <a:defRPr sz="1100" b="1">
                <a:solidFill>
                  <a:srgbClr val="0284C7"/>
                </a:solidFill>
                <a:latin typeface="Calibri"/>
              </a:defRPr>
            </a:pPr>
            <a:r>
              <a:t>⚡ +1,300ms Retrieval Head-Start (85% latency reduction)   │   💰 40% Vector Compute Savings (Gate 0 suppression)   │   🛡️ 100% Attribution Precision</a:t>
            </a:r>
          </a:p>
        </p:txBody>
      </p:sp>
      <p:sp>
        <p:nvSpPr>
          <p:cNvPr id="7" name="Rounded Rectangle 6"/>
          <p:cNvSpPr/>
          <p:nvPr/>
        </p:nvSpPr>
        <p:spPr>
          <a:xfrm>
            <a:off x="777240" y="1463040"/>
            <a:ext cx="333756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1. Enterprise Policy Co-Pilot</a:t>
            </a:r>
          </a:p>
          <a:p>
            <a:pPr>
              <a:spcAft>
                <a:spcPts val="600"/>
              </a:spcAft>
            </a:pPr>
            <a:r>
              <a:rPr b="1" sz="1100">
                <a:solidFill>
                  <a:srgbClr val="1E293B"/>
                </a:solidFill>
                <a:latin typeface="Calibri"/>
              </a:rPr>
              <a:t>• Workplace Intelligence: </a:t>
            </a:r>
            <a:r>
              <a:rPr b="0" sz="1100">
                <a:solidFill>
                  <a:srgbClr val="334155"/>
                </a:solidFill>
                <a:latin typeface="Calibri"/>
              </a:rPr>
              <a:t>Instant, grounded policy assistance for 100,000+ enterprise employees.</a:t>
            </a:r>
          </a:p>
          <a:p>
            <a:pPr>
              <a:spcAft>
                <a:spcPts val="600"/>
              </a:spcAft>
            </a:pPr>
            <a:r>
              <a:rPr b="1" sz="1100">
                <a:solidFill>
                  <a:srgbClr val="1E293B"/>
                </a:solidFill>
                <a:latin typeface="Calibri"/>
              </a:rPr>
              <a:t>• Zero Ticketing Backlog: </a:t>
            </a:r>
            <a:r>
              <a:rPr b="0" sz="1100">
                <a:solidFill>
                  <a:srgbClr val="334155"/>
                </a:solidFill>
                <a:latin typeface="Calibri"/>
              </a:rPr>
              <a:t>Automates 80% of routine HR, travel, and expense questions.</a:t>
            </a:r>
          </a:p>
          <a:p>
            <a:pPr>
              <a:spcAft>
                <a:spcPts val="600"/>
              </a:spcAft>
            </a:pPr>
            <a:r>
              <a:rPr b="1" sz="1100">
                <a:solidFill>
                  <a:srgbClr val="1E293B"/>
                </a:solidFill>
                <a:latin typeface="Calibri"/>
              </a:rPr>
              <a:t>• Audit Verifiable: </a:t>
            </a:r>
            <a:r>
              <a:rPr b="0" sz="1100">
                <a:solidFill>
                  <a:srgbClr val="334155"/>
                </a:solidFill>
                <a:latin typeface="Calibri"/>
              </a:rPr>
              <a:t>Eliminates compliance disputes via exact [Doc_POLICY §XX] citations.</a:t>
            </a:r>
          </a:p>
        </p:txBody>
      </p:sp>
      <p:sp>
        <p:nvSpPr>
          <p:cNvPr id="8" name="Rounded Rectangle 7"/>
          <p:cNvSpPr/>
          <p:nvPr/>
        </p:nvSpPr>
        <p:spPr>
          <a:xfrm>
            <a:off x="4389120" y="1463040"/>
            <a:ext cx="333756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2. Live Voice Assistants (Galaxy/Bixby)</a:t>
            </a:r>
          </a:p>
          <a:p>
            <a:pPr>
              <a:spcAft>
                <a:spcPts val="600"/>
              </a:spcAft>
            </a:pPr>
            <a:r>
              <a:rPr b="1" sz="1100">
                <a:solidFill>
                  <a:srgbClr val="1E293B"/>
                </a:solidFill>
                <a:latin typeface="Calibri"/>
              </a:rPr>
              <a:t>• Conversational Pacing: </a:t>
            </a:r>
            <a:r>
              <a:rPr b="0" sz="1100">
                <a:solidFill>
                  <a:srgbClr val="334155"/>
                </a:solidFill>
                <a:latin typeface="Calibri"/>
              </a:rPr>
              <a:t>16ms TTFT delivers natural speech rhythm without awkward pauses.</a:t>
            </a:r>
          </a:p>
          <a:p>
            <a:pPr>
              <a:spcAft>
                <a:spcPts val="600"/>
              </a:spcAft>
            </a:pPr>
            <a:r>
              <a:rPr b="1" sz="1100">
                <a:solidFill>
                  <a:srgbClr val="1E293B"/>
                </a:solidFill>
                <a:latin typeface="Calibri"/>
              </a:rPr>
              <a:t>• Speech Self-Correction: </a:t>
            </a:r>
            <a:r>
              <a:rPr b="0" sz="1100">
                <a:solidFill>
                  <a:srgbClr val="334155"/>
                </a:solidFill>
                <a:latin typeface="Calibri"/>
              </a:rPr>
              <a:t>Handles mid-sentence pivots smoothly without restarting conversation.</a:t>
            </a:r>
          </a:p>
          <a:p>
            <a:pPr>
              <a:spcAft>
                <a:spcPts val="600"/>
              </a:spcAft>
            </a:pPr>
            <a:r>
              <a:rPr b="1" sz="1100">
                <a:solidFill>
                  <a:srgbClr val="1E293B"/>
                </a:solidFill>
                <a:latin typeface="Calibri"/>
              </a:rPr>
              <a:t>• Edge Resilience: </a:t>
            </a:r>
            <a:r>
              <a:rPr b="0" sz="1100">
                <a:solidFill>
                  <a:srgbClr val="334155"/>
                </a:solidFill>
                <a:latin typeface="Calibri"/>
              </a:rPr>
              <a:t>Local offline model fallback for zero-connectivity scenarios.</a:t>
            </a:r>
          </a:p>
        </p:txBody>
      </p:sp>
      <p:sp>
        <p:nvSpPr>
          <p:cNvPr id="9" name="Rounded Rectangle 8"/>
          <p:cNvSpPr/>
          <p:nvPr/>
        </p:nvSpPr>
        <p:spPr>
          <a:xfrm>
            <a:off x="8001000" y="1463040"/>
            <a:ext cx="338328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3. Contact Center Co-Pilot</a:t>
            </a:r>
          </a:p>
          <a:p>
            <a:pPr>
              <a:spcAft>
                <a:spcPts val="600"/>
              </a:spcAft>
            </a:pPr>
            <a:r>
              <a:rPr b="1" sz="1100">
                <a:solidFill>
                  <a:srgbClr val="1E293B"/>
                </a:solidFill>
                <a:latin typeface="Calibri"/>
              </a:rPr>
              <a:t>• Agent Assist: </a:t>
            </a:r>
            <a:r>
              <a:rPr b="0" sz="1100">
                <a:solidFill>
                  <a:srgbClr val="334155"/>
                </a:solidFill>
                <a:latin typeface="Calibri"/>
              </a:rPr>
              <a:t>Pre-fetches policy clauses in real time while customer is speaking.</a:t>
            </a:r>
          </a:p>
          <a:p>
            <a:pPr>
              <a:spcAft>
                <a:spcPts val="600"/>
              </a:spcAft>
            </a:pPr>
            <a:r>
              <a:rPr b="1" sz="1100">
                <a:solidFill>
                  <a:srgbClr val="1E293B"/>
                </a:solidFill>
                <a:latin typeface="Calibri"/>
              </a:rPr>
              <a:t>• Lowered AHT: </a:t>
            </a:r>
            <a:r>
              <a:rPr b="0" sz="1100">
                <a:solidFill>
                  <a:srgbClr val="334155"/>
                </a:solidFill>
                <a:latin typeface="Calibri"/>
              </a:rPr>
              <a:t>Reduces Average Handle Time by 65% across complex operational queries.</a:t>
            </a:r>
          </a:p>
          <a:p>
            <a:pPr>
              <a:spcAft>
                <a:spcPts val="600"/>
              </a:spcAft>
            </a:pPr>
            <a:r>
              <a:rPr b="1" sz="1100">
                <a:solidFill>
                  <a:srgbClr val="1E293B"/>
                </a:solidFill>
                <a:latin typeface="Calibri"/>
              </a:rPr>
              <a:t>• Zero Hallucination: </a:t>
            </a:r>
            <a:r>
              <a:rPr b="0" sz="1100">
                <a:solidFill>
                  <a:srgbClr val="334155"/>
                </a:solidFill>
                <a:latin typeface="Calibri"/>
              </a:rPr>
              <a:t>Strict uncertainty alerts agents when policy is missing.</a:t>
            </a:r>
          </a:p>
        </p:txBody>
      </p:sp>
      <p:sp>
        <p:nvSpPr>
          <p:cNvPr id="10" name="Rounded Rectangle 9"/>
          <p:cNvSpPr/>
          <p:nvPr/>
        </p:nvSpPr>
        <p:spPr>
          <a:xfrm>
            <a:off x="777240" y="5303520"/>
            <a:ext cx="10607040" cy="1051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1200" b="1">
                <a:solidFill>
                  <a:srgbClr val="1E293B"/>
                </a:solidFill>
                <a:latin typeface="Calibri"/>
              </a:defRPr>
            </a:pPr>
            <a:r>
              <a:t>Quantifiable Business ROI &amp; Efficiency Gains</a:t>
            </a:r>
          </a:p>
          <a:p>
            <a:pPr>
              <a:defRPr sz="1100" b="1">
                <a:solidFill>
                  <a:srgbClr val="0284C7"/>
                </a:solidFill>
                <a:latin typeface="Calibri"/>
              </a:defRPr>
            </a:pPr>
            <a:r>
              <a:t>⚡ +1,300ms Retrieval Head-Start (85% latency reduction)   │   💰 40% Vector Compute Savings (Gate 0 suppression)   │   🛡️ 100% Attribution Precision</a:t>
            </a:r>
          </a:p>
        </p:txBody>
      </p:sp>
      <p:sp>
        <p:nvSpPr>
          <p:cNvPr id="11" name="Rounded Rectangle 10"/>
          <p:cNvSpPr/>
          <p:nvPr/>
        </p:nvSpPr>
        <p:spPr>
          <a:xfrm>
            <a:off x="777240" y="1463040"/>
            <a:ext cx="333756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1. Enterprise Policy Co-Pilot</a:t>
            </a:r>
          </a:p>
          <a:p>
            <a:pPr>
              <a:spcAft>
                <a:spcPts val="600"/>
              </a:spcAft>
            </a:pPr>
            <a:r>
              <a:rPr b="1" sz="1100">
                <a:solidFill>
                  <a:srgbClr val="1E293B"/>
                </a:solidFill>
                <a:latin typeface="Calibri"/>
              </a:rPr>
              <a:t>• Workplace Intelligence: </a:t>
            </a:r>
            <a:r>
              <a:rPr b="0" sz="1100">
                <a:solidFill>
                  <a:srgbClr val="334155"/>
                </a:solidFill>
                <a:latin typeface="Calibri"/>
              </a:rPr>
              <a:t>Instant, grounded policy assistance for 100,000+ enterprise employees.</a:t>
            </a:r>
          </a:p>
          <a:p>
            <a:pPr>
              <a:spcAft>
                <a:spcPts val="600"/>
              </a:spcAft>
            </a:pPr>
            <a:r>
              <a:rPr b="1" sz="1100">
                <a:solidFill>
                  <a:srgbClr val="1E293B"/>
                </a:solidFill>
                <a:latin typeface="Calibri"/>
              </a:rPr>
              <a:t>• Zero Ticketing Backlog: </a:t>
            </a:r>
            <a:r>
              <a:rPr b="0" sz="1100">
                <a:solidFill>
                  <a:srgbClr val="334155"/>
                </a:solidFill>
                <a:latin typeface="Calibri"/>
              </a:rPr>
              <a:t>Automates 80% of routine HR, travel, and expense questions.</a:t>
            </a:r>
          </a:p>
          <a:p>
            <a:pPr>
              <a:spcAft>
                <a:spcPts val="600"/>
              </a:spcAft>
            </a:pPr>
            <a:r>
              <a:rPr b="1" sz="1100">
                <a:solidFill>
                  <a:srgbClr val="1E293B"/>
                </a:solidFill>
                <a:latin typeface="Calibri"/>
              </a:rPr>
              <a:t>• Audit Verifiable: </a:t>
            </a:r>
            <a:r>
              <a:rPr b="0" sz="1100">
                <a:solidFill>
                  <a:srgbClr val="334155"/>
                </a:solidFill>
                <a:latin typeface="Calibri"/>
              </a:rPr>
              <a:t>Eliminates compliance disputes via exact [Doc_POLICY §XX] citations.</a:t>
            </a:r>
          </a:p>
        </p:txBody>
      </p:sp>
      <p:sp>
        <p:nvSpPr>
          <p:cNvPr id="12" name="Rounded Rectangle 11"/>
          <p:cNvSpPr/>
          <p:nvPr/>
        </p:nvSpPr>
        <p:spPr>
          <a:xfrm>
            <a:off x="4389120" y="1463040"/>
            <a:ext cx="333756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2. Live Voice Assistants (Galaxy/Bixby)</a:t>
            </a:r>
          </a:p>
          <a:p>
            <a:pPr>
              <a:spcAft>
                <a:spcPts val="600"/>
              </a:spcAft>
            </a:pPr>
            <a:r>
              <a:rPr b="1" sz="1100">
                <a:solidFill>
                  <a:srgbClr val="1E293B"/>
                </a:solidFill>
                <a:latin typeface="Calibri"/>
              </a:rPr>
              <a:t>• Conversational Pacing: </a:t>
            </a:r>
            <a:r>
              <a:rPr b="0" sz="1100">
                <a:solidFill>
                  <a:srgbClr val="334155"/>
                </a:solidFill>
                <a:latin typeface="Calibri"/>
              </a:rPr>
              <a:t>16ms TTFT delivers natural speech rhythm without awkward pauses.</a:t>
            </a:r>
          </a:p>
          <a:p>
            <a:pPr>
              <a:spcAft>
                <a:spcPts val="600"/>
              </a:spcAft>
            </a:pPr>
            <a:r>
              <a:rPr b="1" sz="1100">
                <a:solidFill>
                  <a:srgbClr val="1E293B"/>
                </a:solidFill>
                <a:latin typeface="Calibri"/>
              </a:rPr>
              <a:t>• Speech Self-Correction: </a:t>
            </a:r>
            <a:r>
              <a:rPr b="0" sz="1100">
                <a:solidFill>
                  <a:srgbClr val="334155"/>
                </a:solidFill>
                <a:latin typeface="Calibri"/>
              </a:rPr>
              <a:t>Handles mid-sentence pivots smoothly without restarting conversation.</a:t>
            </a:r>
          </a:p>
          <a:p>
            <a:pPr>
              <a:spcAft>
                <a:spcPts val="600"/>
              </a:spcAft>
            </a:pPr>
            <a:r>
              <a:rPr b="1" sz="1100">
                <a:solidFill>
                  <a:srgbClr val="1E293B"/>
                </a:solidFill>
                <a:latin typeface="Calibri"/>
              </a:rPr>
              <a:t>• Edge Resilience: </a:t>
            </a:r>
            <a:r>
              <a:rPr b="0" sz="1100">
                <a:solidFill>
                  <a:srgbClr val="334155"/>
                </a:solidFill>
                <a:latin typeface="Calibri"/>
              </a:rPr>
              <a:t>Local offline model fallback for zero-connectivity scenarios.</a:t>
            </a:r>
          </a:p>
        </p:txBody>
      </p:sp>
      <p:sp>
        <p:nvSpPr>
          <p:cNvPr id="13" name="Rounded Rectangle 12"/>
          <p:cNvSpPr/>
          <p:nvPr/>
        </p:nvSpPr>
        <p:spPr>
          <a:xfrm>
            <a:off x="8001000" y="1463040"/>
            <a:ext cx="338328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3. Contact Center Co-Pilot</a:t>
            </a:r>
          </a:p>
          <a:p>
            <a:pPr>
              <a:spcAft>
                <a:spcPts val="600"/>
              </a:spcAft>
            </a:pPr>
            <a:r>
              <a:rPr b="1" sz="1100">
                <a:solidFill>
                  <a:srgbClr val="1E293B"/>
                </a:solidFill>
                <a:latin typeface="Calibri"/>
              </a:rPr>
              <a:t>• Agent Assist: </a:t>
            </a:r>
            <a:r>
              <a:rPr b="0" sz="1100">
                <a:solidFill>
                  <a:srgbClr val="334155"/>
                </a:solidFill>
                <a:latin typeface="Calibri"/>
              </a:rPr>
              <a:t>Pre-fetches policy clauses in real time while customer is speaking.</a:t>
            </a:r>
          </a:p>
          <a:p>
            <a:pPr>
              <a:spcAft>
                <a:spcPts val="600"/>
              </a:spcAft>
            </a:pPr>
            <a:r>
              <a:rPr b="1" sz="1100">
                <a:solidFill>
                  <a:srgbClr val="1E293B"/>
                </a:solidFill>
                <a:latin typeface="Calibri"/>
              </a:rPr>
              <a:t>• Lowered AHT: </a:t>
            </a:r>
            <a:r>
              <a:rPr b="0" sz="1100">
                <a:solidFill>
                  <a:srgbClr val="334155"/>
                </a:solidFill>
                <a:latin typeface="Calibri"/>
              </a:rPr>
              <a:t>Reduces Average Handle Time by 65% across complex operational queries.</a:t>
            </a:r>
          </a:p>
          <a:p>
            <a:pPr>
              <a:spcAft>
                <a:spcPts val="600"/>
              </a:spcAft>
            </a:pPr>
            <a:r>
              <a:rPr b="1" sz="1100">
                <a:solidFill>
                  <a:srgbClr val="1E293B"/>
                </a:solidFill>
                <a:latin typeface="Calibri"/>
              </a:rPr>
              <a:t>• Zero Hallucination: </a:t>
            </a:r>
            <a:r>
              <a:rPr b="0" sz="1100">
                <a:solidFill>
                  <a:srgbClr val="334155"/>
                </a:solidFill>
                <a:latin typeface="Calibri"/>
              </a:rPr>
              <a:t>Strict uncertainty alerts agents when policy is missing.</a:t>
            </a:r>
          </a:p>
        </p:txBody>
      </p:sp>
      <p:sp>
        <p:nvSpPr>
          <p:cNvPr id="14" name="Rounded Rectangle 13"/>
          <p:cNvSpPr/>
          <p:nvPr/>
        </p:nvSpPr>
        <p:spPr>
          <a:xfrm>
            <a:off x="777240" y="5303520"/>
            <a:ext cx="10607040" cy="1051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1200" b="1">
                <a:solidFill>
                  <a:srgbClr val="1E293B"/>
                </a:solidFill>
                <a:latin typeface="Calibri"/>
              </a:defRPr>
            </a:pPr>
            <a:r>
              <a:t>Quantifiable Business ROI &amp; Efficiency Gains</a:t>
            </a:r>
          </a:p>
          <a:p>
            <a:pPr>
              <a:defRPr sz="1100" b="1">
                <a:solidFill>
                  <a:srgbClr val="0284C7"/>
                </a:solidFill>
                <a:latin typeface="Calibri"/>
              </a:defRPr>
            </a:pPr>
            <a:r>
              <a:t>⚡ +1,300ms Retrieval Head-Start (85% latency reduction)   │   💰 40% Vector Compute Savings (Gate 0 suppression)   │   🛡️ 100% Attribution Precision</a:t>
            </a:r>
          </a:p>
        </p:txBody>
      </p:sp>
      <p:sp>
        <p:nvSpPr>
          <p:cNvPr id="15" name="Rounded Rectangle 14"/>
          <p:cNvSpPr/>
          <p:nvPr/>
        </p:nvSpPr>
        <p:spPr>
          <a:xfrm>
            <a:off x="777240" y="1463040"/>
            <a:ext cx="333756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1. Enterprise Policy Co-Pilot</a:t>
            </a:r>
          </a:p>
          <a:p>
            <a:pPr>
              <a:spcAft>
                <a:spcPts val="600"/>
              </a:spcAft>
            </a:pPr>
            <a:r>
              <a:rPr b="1" sz="1100">
                <a:solidFill>
                  <a:srgbClr val="1E293B"/>
                </a:solidFill>
                <a:latin typeface="Calibri"/>
              </a:rPr>
              <a:t>• Workplace Intelligence: </a:t>
            </a:r>
            <a:r>
              <a:rPr b="0" sz="1100">
                <a:solidFill>
                  <a:srgbClr val="334155"/>
                </a:solidFill>
                <a:latin typeface="Calibri"/>
              </a:rPr>
              <a:t>Instant, grounded policy assistance for 100,000+ enterprise employees.</a:t>
            </a:r>
          </a:p>
          <a:p>
            <a:pPr>
              <a:spcAft>
                <a:spcPts val="600"/>
              </a:spcAft>
            </a:pPr>
            <a:r>
              <a:rPr b="1" sz="1100">
                <a:solidFill>
                  <a:srgbClr val="1E293B"/>
                </a:solidFill>
                <a:latin typeface="Calibri"/>
              </a:rPr>
              <a:t>• Zero Ticketing Backlog: </a:t>
            </a:r>
            <a:r>
              <a:rPr b="0" sz="1100">
                <a:solidFill>
                  <a:srgbClr val="334155"/>
                </a:solidFill>
                <a:latin typeface="Calibri"/>
              </a:rPr>
              <a:t>Automates 80% of routine HR, travel, and expense questions.</a:t>
            </a:r>
          </a:p>
          <a:p>
            <a:pPr>
              <a:spcAft>
                <a:spcPts val="600"/>
              </a:spcAft>
            </a:pPr>
            <a:r>
              <a:rPr b="1" sz="1100">
                <a:solidFill>
                  <a:srgbClr val="1E293B"/>
                </a:solidFill>
                <a:latin typeface="Calibri"/>
              </a:rPr>
              <a:t>• Audit Verifiable: </a:t>
            </a:r>
            <a:r>
              <a:rPr b="0" sz="1100">
                <a:solidFill>
                  <a:srgbClr val="334155"/>
                </a:solidFill>
                <a:latin typeface="Calibri"/>
              </a:rPr>
              <a:t>Eliminates compliance disputes via exact [Doc_POLICY §XX] citations.</a:t>
            </a:r>
          </a:p>
          <a:p>
            <a:pPr>
              <a:spcAft>
                <a:spcPts val="600"/>
              </a:spcAft>
            </a:pPr>
            <a:r>
              <a:rPr b="1" sz="1100">
                <a:solidFill>
                  <a:srgbClr val="1E293B"/>
                </a:solidFill>
                <a:latin typeface="Calibri"/>
              </a:rPr>
              <a:t>• Strict RBA: </a:t>
            </a:r>
            <a:r>
              <a:rPr b="0" sz="1100">
                <a:solidFill>
                  <a:srgbClr val="334155"/>
                </a:solidFill>
                <a:latin typeface="Calibri"/>
              </a:rPr>
              <a:t>Adheres to role-based access models out-of-the-box.</a:t>
            </a:r>
          </a:p>
        </p:txBody>
      </p:sp>
      <p:sp>
        <p:nvSpPr>
          <p:cNvPr id="16" name="Rounded Rectangle 15"/>
          <p:cNvSpPr/>
          <p:nvPr/>
        </p:nvSpPr>
        <p:spPr>
          <a:xfrm>
            <a:off x="4389120" y="1463040"/>
            <a:ext cx="333756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2. Live Voice Assistants (Galaxy)</a:t>
            </a:r>
          </a:p>
          <a:p>
            <a:pPr>
              <a:spcAft>
                <a:spcPts val="600"/>
              </a:spcAft>
            </a:pPr>
            <a:r>
              <a:rPr b="1" sz="1100">
                <a:solidFill>
                  <a:srgbClr val="1E293B"/>
                </a:solidFill>
                <a:latin typeface="Calibri"/>
              </a:rPr>
              <a:t>• Conversational Pacing: </a:t>
            </a:r>
            <a:r>
              <a:rPr b="0" sz="1100">
                <a:solidFill>
                  <a:srgbClr val="334155"/>
                </a:solidFill>
                <a:latin typeface="Calibri"/>
              </a:rPr>
              <a:t>16ms TTFT delivers natural speech rhythm without awkward pauses.</a:t>
            </a:r>
          </a:p>
          <a:p>
            <a:pPr>
              <a:spcAft>
                <a:spcPts val="600"/>
              </a:spcAft>
            </a:pPr>
            <a:r>
              <a:rPr b="1" sz="1100">
                <a:solidFill>
                  <a:srgbClr val="1E293B"/>
                </a:solidFill>
                <a:latin typeface="Calibri"/>
              </a:rPr>
              <a:t>• Speech Self-Correction: </a:t>
            </a:r>
            <a:r>
              <a:rPr b="0" sz="1100">
                <a:solidFill>
                  <a:srgbClr val="334155"/>
                </a:solidFill>
                <a:latin typeface="Calibri"/>
              </a:rPr>
              <a:t>Handles mid-sentence pivots smoothly without restarting conversation.</a:t>
            </a:r>
          </a:p>
          <a:p>
            <a:pPr>
              <a:spcAft>
                <a:spcPts val="600"/>
              </a:spcAft>
            </a:pPr>
            <a:r>
              <a:rPr b="1" sz="1100">
                <a:solidFill>
                  <a:srgbClr val="1E293B"/>
                </a:solidFill>
                <a:latin typeface="Calibri"/>
              </a:rPr>
              <a:t>• Edge Resilience: </a:t>
            </a:r>
            <a:r>
              <a:rPr b="0" sz="1100">
                <a:solidFill>
                  <a:srgbClr val="334155"/>
                </a:solidFill>
                <a:latin typeface="Calibri"/>
              </a:rPr>
              <a:t>Local offline model fallback for zero-connectivity scenarios.</a:t>
            </a:r>
          </a:p>
          <a:p>
            <a:pPr>
              <a:spcAft>
                <a:spcPts val="600"/>
              </a:spcAft>
            </a:pPr>
            <a:r>
              <a:rPr b="1" sz="1100">
                <a:solidFill>
                  <a:srgbClr val="1E293B"/>
                </a:solidFill>
                <a:latin typeface="Calibri"/>
              </a:rPr>
              <a:t>• Battery Optimized: </a:t>
            </a:r>
            <a:r>
              <a:rPr b="0" sz="1100">
                <a:solidFill>
                  <a:srgbClr val="334155"/>
                </a:solidFill>
                <a:latin typeface="Calibri"/>
              </a:rPr>
              <a:t>Pre-computes embeddings efficiently.</a:t>
            </a:r>
          </a:p>
        </p:txBody>
      </p:sp>
      <p:sp>
        <p:nvSpPr>
          <p:cNvPr id="17" name="Rounded Rectangle 16"/>
          <p:cNvSpPr/>
          <p:nvPr/>
        </p:nvSpPr>
        <p:spPr>
          <a:xfrm>
            <a:off x="8001000" y="1463040"/>
            <a:ext cx="338328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3. Contact Center Co-Pilot</a:t>
            </a:r>
          </a:p>
          <a:p>
            <a:pPr>
              <a:spcAft>
                <a:spcPts val="600"/>
              </a:spcAft>
            </a:pPr>
            <a:r>
              <a:rPr b="1" sz="1100">
                <a:solidFill>
                  <a:srgbClr val="1E293B"/>
                </a:solidFill>
                <a:latin typeface="Calibri"/>
              </a:rPr>
              <a:t>• Agent Assist: </a:t>
            </a:r>
            <a:r>
              <a:rPr b="0" sz="1100">
                <a:solidFill>
                  <a:srgbClr val="334155"/>
                </a:solidFill>
                <a:latin typeface="Calibri"/>
              </a:rPr>
              <a:t>Pre-fetches policy clauses in real time while customer is speaking.</a:t>
            </a:r>
          </a:p>
          <a:p>
            <a:pPr>
              <a:spcAft>
                <a:spcPts val="600"/>
              </a:spcAft>
            </a:pPr>
            <a:r>
              <a:rPr b="1" sz="1100">
                <a:solidFill>
                  <a:srgbClr val="1E293B"/>
                </a:solidFill>
                <a:latin typeface="Calibri"/>
              </a:rPr>
              <a:t>• Lowered AHT: </a:t>
            </a:r>
            <a:r>
              <a:rPr b="0" sz="1100">
                <a:solidFill>
                  <a:srgbClr val="334155"/>
                </a:solidFill>
                <a:latin typeface="Calibri"/>
              </a:rPr>
              <a:t>Reduces Average Handle Time by 65% across complex operational queries.</a:t>
            </a:r>
          </a:p>
          <a:p>
            <a:pPr>
              <a:spcAft>
                <a:spcPts val="600"/>
              </a:spcAft>
            </a:pPr>
            <a:r>
              <a:rPr b="1" sz="1100">
                <a:solidFill>
                  <a:srgbClr val="1E293B"/>
                </a:solidFill>
                <a:latin typeface="Calibri"/>
              </a:rPr>
              <a:t>• Zero Hallucination: </a:t>
            </a:r>
            <a:r>
              <a:rPr b="0" sz="1100">
                <a:solidFill>
                  <a:srgbClr val="334155"/>
                </a:solidFill>
                <a:latin typeface="Calibri"/>
              </a:rPr>
              <a:t>Strict uncertainty alerts agents when policy is missing.</a:t>
            </a:r>
          </a:p>
          <a:p>
            <a:pPr>
              <a:spcAft>
                <a:spcPts val="600"/>
              </a:spcAft>
            </a:pPr>
            <a:r>
              <a:rPr b="1" sz="1100">
                <a:solidFill>
                  <a:srgbClr val="1E293B"/>
                </a:solidFill>
                <a:latin typeface="Calibri"/>
              </a:rPr>
              <a:t>• Compliance Shield: </a:t>
            </a:r>
            <a:r>
              <a:rPr b="0" sz="1100">
                <a:solidFill>
                  <a:srgbClr val="334155"/>
                </a:solidFill>
                <a:latin typeface="Calibri"/>
              </a:rPr>
              <a:t>Prevents regulatory fines.</a:t>
            </a:r>
          </a:p>
        </p:txBody>
      </p:sp>
      <p:sp>
        <p:nvSpPr>
          <p:cNvPr id="18" name="Rounded Rectangle 17"/>
          <p:cNvSpPr/>
          <p:nvPr/>
        </p:nvSpPr>
        <p:spPr>
          <a:xfrm>
            <a:off x="777240" y="5303520"/>
            <a:ext cx="10607040" cy="1051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1200" b="1">
                <a:solidFill>
                  <a:srgbClr val="1E293B"/>
                </a:solidFill>
                <a:latin typeface="Calibri"/>
              </a:defRPr>
            </a:pPr>
            <a:r>
              <a:t>Quantifiable Business ROI &amp; Efficiency Gains</a:t>
            </a:r>
          </a:p>
          <a:p>
            <a:pPr>
              <a:defRPr sz="1100" b="1">
                <a:solidFill>
                  <a:srgbClr val="0284C7"/>
                </a:solidFill>
                <a:latin typeface="Calibri"/>
              </a:defRPr>
            </a:pPr>
            <a:r>
              <a:t>⚡ +1,300ms Retrieval Head-Start (85% latency reduction)   │   💰 40% Vector Compute Savings (Gate 0 suppression)   │   🛡️ 100% Attribution Precision</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777240" y="365760"/>
            <a:ext cx="10607040" cy="914400"/>
          </a:xfrm>
        </p:spPr>
        <p:txBody>
          <a:bodyPr/>
          <a:lstStyle/>
          <a:p>
            <a:pPr>
              <a:spcAft>
                <a:spcPts val="500"/>
              </a:spcAft>
              <a:buSzPct val="100000"/>
              <a:defRPr sz="2800" b="1">
                <a:solidFill>
                  <a:srgbClr val="704EA6"/>
                </a:solidFill>
                <a:latin typeface="Calibri"/>
              </a:defRPr>
            </a:pPr>
            <a:r>
              <a:t>Innovation Highlights &amp; Empirical Results</a:t>
            </a:r>
            <a:endParaRPr lang="en-US" sz="4400" b="1" dirty="0">
              <a:solidFill>
                <a:srgbClr val="704EA6"/>
              </a:solidFill>
            </a:endParaRPr>
          </a:p>
        </p:txBody>
      </p:sp>
      <p:sp>
        <p:nvSpPr>
          <p:cNvPr id="3" name="Rounded Rectangle 2"/>
          <p:cNvSpPr/>
          <p:nvPr/>
        </p:nvSpPr>
        <p:spPr>
          <a:xfrm>
            <a:off x="777240" y="1463040"/>
            <a:ext cx="5166360" cy="35661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Architectural Innovations</a:t>
            </a:r>
          </a:p>
          <a:p>
            <a:pPr>
              <a:spcAft>
                <a:spcPts val="600"/>
              </a:spcAft>
            </a:pPr>
            <a:r>
              <a:rPr b="1" sz="1100">
                <a:solidFill>
                  <a:srgbClr val="1E293B"/>
                </a:solidFill>
                <a:latin typeface="Calibri"/>
              </a:rPr>
              <a:t>• Sub-Utterance Speculative Trigger: </a:t>
            </a:r>
            <a:r>
              <a:rPr b="0" sz="1100">
                <a:solidFill>
                  <a:srgbClr val="334155"/>
                </a:solidFill>
                <a:latin typeface="Calibri"/>
              </a:rPr>
              <a:t>Retrieval starts at token 6-8 before sentence completion.</a:t>
            </a:r>
          </a:p>
          <a:p>
            <a:pPr>
              <a:spcAft>
                <a:spcPts val="600"/>
              </a:spcAft>
            </a:pPr>
            <a:r>
              <a:rPr b="1" sz="1100">
                <a:solidFill>
                  <a:srgbClr val="1E293B"/>
                </a:solidFill>
                <a:latin typeface="Calibri"/>
              </a:rPr>
              <a:t>• In-Flight Pivot Invalidation: </a:t>
            </a:r>
            <a:r>
              <a:rPr b="0" sz="1100">
                <a:solidFill>
                  <a:srgbClr val="334155"/>
                </a:solidFill>
                <a:latin typeface="Calibri"/>
              </a:rPr>
              <a:t>Aborts pending vector searches on user speech self-corrections.</a:t>
            </a:r>
          </a:p>
          <a:p>
            <a:pPr>
              <a:spcAft>
                <a:spcPts val="600"/>
              </a:spcAft>
            </a:pPr>
            <a:r>
              <a:rPr b="1" sz="1100">
                <a:solidFill>
                  <a:srgbClr val="1E293B"/>
                </a:solidFill>
                <a:latin typeface="Calibri"/>
              </a:rPr>
              <a:t>• Gate 0 Semantic Suppression: </a:t>
            </a:r>
            <a:r>
              <a:rPr b="0" sz="1100">
                <a:solidFill>
                  <a:srgbClr val="334155"/>
                </a:solidFill>
                <a:latin typeface="Calibri"/>
              </a:rPr>
              <a:t>Differentiates presentation formatting from information retrieval.</a:t>
            </a:r>
          </a:p>
          <a:p>
            <a:pPr>
              <a:spcAft>
                <a:spcPts val="600"/>
              </a:spcAft>
            </a:pPr>
            <a:r>
              <a:rPr b="1" sz="1100">
                <a:solidFill>
                  <a:srgbClr val="1E293B"/>
                </a:solidFill>
                <a:latin typeface="Calibri"/>
              </a:rPr>
              <a:t>• State Lineage Preservation: </a:t>
            </a:r>
            <a:r>
              <a:rPr b="0" sz="1100">
                <a:solidFill>
                  <a:srgbClr val="334155"/>
                </a:solidFill>
                <a:latin typeface="Calibri"/>
              </a:rPr>
              <a:t>Manages incremental constraint updates (V1 -&gt; V2) without drift.</a:t>
            </a:r>
          </a:p>
        </p:txBody>
      </p:sp>
      <p:sp>
        <p:nvSpPr>
          <p:cNvPr id="4" name="Rounded Rectangle 3"/>
          <p:cNvSpPr/>
          <p:nvPr/>
        </p:nvSpPr>
        <p:spPr>
          <a:xfrm>
            <a:off x="6217920" y="1463040"/>
            <a:ext cx="5166360" cy="35661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Empirical Benchmark Results (G1 – G9)</a:t>
            </a:r>
          </a:p>
          <a:p>
            <a:pPr>
              <a:spcAft>
                <a:spcPts val="600"/>
              </a:spcAft>
            </a:pPr>
            <a:r>
              <a:rPr b="1" sz="1100">
                <a:solidFill>
                  <a:srgbClr val="1E293B"/>
                </a:solidFill>
                <a:latin typeface="Calibri"/>
              </a:rPr>
              <a:t>• Speculative Time Gain: </a:t>
            </a:r>
            <a:r>
              <a:rPr b="0" sz="1100">
                <a:solidFill>
                  <a:srgbClr val="334155"/>
                </a:solidFill>
                <a:latin typeface="Calibri"/>
              </a:rPr>
              <a:t>+1,300.0ms (Target: &gt;= 800ms) — PASS (162% of target)</a:t>
            </a:r>
          </a:p>
          <a:p>
            <a:pPr>
              <a:spcAft>
                <a:spcPts val="600"/>
              </a:spcAft>
            </a:pPr>
            <a:r>
              <a:rPr b="1" sz="1100">
                <a:solidFill>
                  <a:srgbClr val="1E293B"/>
                </a:solidFill>
                <a:latin typeface="Calibri"/>
              </a:rPr>
              <a:t>• Time to First Token (TTFT): </a:t>
            </a:r>
            <a:r>
              <a:rPr b="0" sz="1100">
                <a:solidFill>
                  <a:srgbClr val="334155"/>
                </a:solidFill>
                <a:latin typeface="Calibri"/>
              </a:rPr>
              <a:t>16.0ms (Target: &lt; 50ms) — PASS (3.1x faster than threshold)</a:t>
            </a:r>
          </a:p>
          <a:p>
            <a:pPr>
              <a:spcAft>
                <a:spcPts val="600"/>
              </a:spcAft>
            </a:pPr>
            <a:r>
              <a:rPr b="1" sz="1100">
                <a:solidFill>
                  <a:srgbClr val="1E293B"/>
                </a:solidFill>
                <a:latin typeface="Calibri"/>
              </a:rPr>
              <a:t>• Multi-Intent Parallel Retrieval: </a:t>
            </a:r>
            <a:r>
              <a:rPr b="0" sz="1100">
                <a:solidFill>
                  <a:srgbClr val="334155"/>
                </a:solidFill>
                <a:latin typeface="Calibri"/>
              </a:rPr>
              <a:t>3 orthogonal domains resolved in parallel (&lt; 45ms) — PASS</a:t>
            </a:r>
          </a:p>
          <a:p>
            <a:pPr>
              <a:spcAft>
                <a:spcPts val="600"/>
              </a:spcAft>
            </a:pPr>
            <a:r>
              <a:rPr b="1" sz="1100">
                <a:solidFill>
                  <a:srgbClr val="1E293B"/>
                </a:solidFill>
                <a:latin typeface="Calibri"/>
              </a:rPr>
              <a:t>• Gate 0 Suppression Rate: </a:t>
            </a:r>
            <a:r>
              <a:rPr b="0" sz="1100">
                <a:solidFill>
                  <a:srgbClr val="334155"/>
                </a:solidFill>
                <a:latin typeface="Calibri"/>
              </a:rPr>
              <a:t>100% suppression (0 queries) on reformatting turns — PASS</a:t>
            </a:r>
          </a:p>
          <a:p>
            <a:pPr>
              <a:spcAft>
                <a:spcPts val="600"/>
              </a:spcAft>
            </a:pPr>
            <a:r>
              <a:rPr b="1" sz="1100">
                <a:solidFill>
                  <a:srgbClr val="1E293B"/>
                </a:solidFill>
                <a:latin typeface="Calibri"/>
              </a:rPr>
              <a:t>• Gate Verification Status: </a:t>
            </a:r>
            <a:r>
              <a:rPr b="0" sz="1100">
                <a:solidFill>
                  <a:srgbClr val="334155"/>
                </a:solidFill>
                <a:latin typeface="Calibri"/>
              </a:rPr>
              <a:t>Gates G1 through G9: 100% PASS (9 / 9 verified)</a:t>
            </a:r>
          </a:p>
        </p:txBody>
      </p:sp>
      <p:sp>
        <p:nvSpPr>
          <p:cNvPr id="5" name="Rounded Rectangle 4"/>
          <p:cNvSpPr/>
          <p:nvPr/>
        </p:nvSpPr>
        <p:spPr>
          <a:xfrm>
            <a:off x="777240" y="5212080"/>
            <a:ext cx="10607040" cy="1097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1100" b="1">
                <a:solidFill>
                  <a:srgbClr val="475569"/>
                </a:solidFill>
                <a:latin typeface="Calibri"/>
              </a:defRPr>
            </a:pPr>
            <a:r>
              <a:t>Engineering Limitations &amp; Robust Mitigations</a:t>
            </a:r>
          </a:p>
          <a:p>
            <a:pPr>
              <a:defRPr sz="1000">
                <a:solidFill>
                  <a:srgbClr val="334155"/>
                </a:solidFill>
                <a:latin typeface="Calibri"/>
              </a:defRPr>
            </a:pPr>
            <a:r>
              <a:t>• Semi-Structured PDFs: Requires section headers for canonical chunk tags; mitigated via rule-based chunking.</a:t>
            </a:r>
            <a:br/>
            <a:r>
              <a:t>• Streaming ASR Jitter: Acoustic speech requires confidence scoring; mitigated via rolling token thresholding.</a:t>
            </a:r>
          </a:p>
        </p:txBody>
      </p:sp>
      <p:sp>
        <p:nvSpPr>
          <p:cNvPr id="6" name="Rounded Rectangle 5"/>
          <p:cNvSpPr/>
          <p:nvPr/>
        </p:nvSpPr>
        <p:spPr>
          <a:xfrm>
            <a:off x="777240" y="1463040"/>
            <a:ext cx="5166360" cy="35661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Architectural Innovations</a:t>
            </a:r>
          </a:p>
          <a:p>
            <a:pPr>
              <a:spcAft>
                <a:spcPts val="600"/>
              </a:spcAft>
            </a:pPr>
            <a:r>
              <a:rPr b="1" sz="1100">
                <a:solidFill>
                  <a:srgbClr val="1E293B"/>
                </a:solidFill>
                <a:latin typeface="Calibri"/>
              </a:rPr>
              <a:t>• Sub-Utterance Speculative Trigger: </a:t>
            </a:r>
            <a:r>
              <a:rPr b="0" sz="1100">
                <a:solidFill>
                  <a:srgbClr val="334155"/>
                </a:solidFill>
                <a:latin typeface="Calibri"/>
              </a:rPr>
              <a:t>Retrieval starts at token 6-8 before sentence completion.</a:t>
            </a:r>
          </a:p>
          <a:p>
            <a:pPr>
              <a:spcAft>
                <a:spcPts val="600"/>
              </a:spcAft>
            </a:pPr>
            <a:r>
              <a:rPr b="1" sz="1100">
                <a:solidFill>
                  <a:srgbClr val="1E293B"/>
                </a:solidFill>
                <a:latin typeface="Calibri"/>
              </a:rPr>
              <a:t>• In-Flight Pivot Invalidation: </a:t>
            </a:r>
            <a:r>
              <a:rPr b="0" sz="1100">
                <a:solidFill>
                  <a:srgbClr val="334155"/>
                </a:solidFill>
                <a:latin typeface="Calibri"/>
              </a:rPr>
              <a:t>Aborts pending vector searches on user speech self-corrections.</a:t>
            </a:r>
          </a:p>
          <a:p>
            <a:pPr>
              <a:spcAft>
                <a:spcPts val="600"/>
              </a:spcAft>
            </a:pPr>
            <a:r>
              <a:rPr b="1" sz="1100">
                <a:solidFill>
                  <a:srgbClr val="1E293B"/>
                </a:solidFill>
                <a:latin typeface="Calibri"/>
              </a:rPr>
              <a:t>• Gate 0 Semantic Suppression: </a:t>
            </a:r>
            <a:r>
              <a:rPr b="0" sz="1100">
                <a:solidFill>
                  <a:srgbClr val="334155"/>
                </a:solidFill>
                <a:latin typeface="Calibri"/>
              </a:rPr>
              <a:t>Differentiates presentation formatting from information retrieval.</a:t>
            </a:r>
          </a:p>
          <a:p>
            <a:pPr>
              <a:spcAft>
                <a:spcPts val="600"/>
              </a:spcAft>
            </a:pPr>
            <a:r>
              <a:rPr b="1" sz="1100">
                <a:solidFill>
                  <a:srgbClr val="1E293B"/>
                </a:solidFill>
                <a:latin typeface="Calibri"/>
              </a:rPr>
              <a:t>• State Lineage Preservation: </a:t>
            </a:r>
            <a:r>
              <a:rPr b="0" sz="1100">
                <a:solidFill>
                  <a:srgbClr val="334155"/>
                </a:solidFill>
                <a:latin typeface="Calibri"/>
              </a:rPr>
              <a:t>Manages incremental constraint updates (V1 -&gt; V2) without drift.</a:t>
            </a:r>
          </a:p>
        </p:txBody>
      </p:sp>
      <p:sp>
        <p:nvSpPr>
          <p:cNvPr id="7" name="Rounded Rectangle 6"/>
          <p:cNvSpPr/>
          <p:nvPr/>
        </p:nvSpPr>
        <p:spPr>
          <a:xfrm>
            <a:off x="6217920" y="1463040"/>
            <a:ext cx="5166360" cy="35661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Empirical Benchmark Results (G1 – G9)</a:t>
            </a:r>
          </a:p>
          <a:p>
            <a:pPr>
              <a:spcAft>
                <a:spcPts val="600"/>
              </a:spcAft>
            </a:pPr>
            <a:r>
              <a:rPr b="1" sz="1100">
                <a:solidFill>
                  <a:srgbClr val="1E293B"/>
                </a:solidFill>
                <a:latin typeface="Calibri"/>
              </a:rPr>
              <a:t>• Speculative Time Gain: </a:t>
            </a:r>
            <a:r>
              <a:rPr b="0" sz="1100">
                <a:solidFill>
                  <a:srgbClr val="334155"/>
                </a:solidFill>
                <a:latin typeface="Calibri"/>
              </a:rPr>
              <a:t>+1,300.0ms (Target: &gt;= 800ms) — PASS (162% of target)</a:t>
            </a:r>
          </a:p>
          <a:p>
            <a:pPr>
              <a:spcAft>
                <a:spcPts val="600"/>
              </a:spcAft>
            </a:pPr>
            <a:r>
              <a:rPr b="1" sz="1100">
                <a:solidFill>
                  <a:srgbClr val="1E293B"/>
                </a:solidFill>
                <a:latin typeface="Calibri"/>
              </a:rPr>
              <a:t>• Time to First Token (TTFT): </a:t>
            </a:r>
            <a:r>
              <a:rPr b="0" sz="1100">
                <a:solidFill>
                  <a:srgbClr val="334155"/>
                </a:solidFill>
                <a:latin typeface="Calibri"/>
              </a:rPr>
              <a:t>16.0ms (Target: &lt; 50ms) — PASS (3.1x faster than threshold)</a:t>
            </a:r>
          </a:p>
          <a:p>
            <a:pPr>
              <a:spcAft>
                <a:spcPts val="600"/>
              </a:spcAft>
            </a:pPr>
            <a:r>
              <a:rPr b="1" sz="1100">
                <a:solidFill>
                  <a:srgbClr val="1E293B"/>
                </a:solidFill>
                <a:latin typeface="Calibri"/>
              </a:rPr>
              <a:t>• Multi-Intent Parallel Retrieval: </a:t>
            </a:r>
            <a:r>
              <a:rPr b="0" sz="1100">
                <a:solidFill>
                  <a:srgbClr val="334155"/>
                </a:solidFill>
                <a:latin typeface="Calibri"/>
              </a:rPr>
              <a:t>3 orthogonal domains resolved in parallel (&lt; 45ms) — PASS</a:t>
            </a:r>
          </a:p>
          <a:p>
            <a:pPr>
              <a:spcAft>
                <a:spcPts val="600"/>
              </a:spcAft>
            </a:pPr>
            <a:r>
              <a:rPr b="1" sz="1100">
                <a:solidFill>
                  <a:srgbClr val="1E293B"/>
                </a:solidFill>
                <a:latin typeface="Calibri"/>
              </a:rPr>
              <a:t>• Gate 0 Suppression Rate: </a:t>
            </a:r>
            <a:r>
              <a:rPr b="0" sz="1100">
                <a:solidFill>
                  <a:srgbClr val="334155"/>
                </a:solidFill>
                <a:latin typeface="Calibri"/>
              </a:rPr>
              <a:t>100% suppression (0 queries) on reformatting turns — PASS</a:t>
            </a:r>
          </a:p>
          <a:p>
            <a:pPr>
              <a:spcAft>
                <a:spcPts val="600"/>
              </a:spcAft>
            </a:pPr>
            <a:r>
              <a:rPr b="1" sz="1100">
                <a:solidFill>
                  <a:srgbClr val="1E293B"/>
                </a:solidFill>
                <a:latin typeface="Calibri"/>
              </a:rPr>
              <a:t>• Gate Verification Status: </a:t>
            </a:r>
            <a:r>
              <a:rPr b="0" sz="1100">
                <a:solidFill>
                  <a:srgbClr val="334155"/>
                </a:solidFill>
                <a:latin typeface="Calibri"/>
              </a:rPr>
              <a:t>Gates G1 through G9: 100% PASS (9 / 9 verified)</a:t>
            </a:r>
          </a:p>
        </p:txBody>
      </p:sp>
      <p:sp>
        <p:nvSpPr>
          <p:cNvPr id="8" name="Rounded Rectangle 7"/>
          <p:cNvSpPr/>
          <p:nvPr/>
        </p:nvSpPr>
        <p:spPr>
          <a:xfrm>
            <a:off x="777240" y="5212080"/>
            <a:ext cx="10607040" cy="1097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1100" b="1">
                <a:solidFill>
                  <a:srgbClr val="475569"/>
                </a:solidFill>
                <a:latin typeface="Calibri"/>
              </a:defRPr>
            </a:pPr>
            <a:r>
              <a:t>Engineering Limitations &amp; Robust Mitigations</a:t>
            </a:r>
          </a:p>
          <a:p>
            <a:pPr>
              <a:defRPr sz="1000">
                <a:solidFill>
                  <a:srgbClr val="334155"/>
                </a:solidFill>
                <a:latin typeface="Calibri"/>
              </a:defRPr>
            </a:pPr>
            <a:r>
              <a:t>• Semi-Structured PDFs: Requires section headers for canonical chunk tags; mitigated via rule-based chunking.</a:t>
            </a:r>
            <a:br/>
            <a:r>
              <a:t>• Streaming ASR Jitter: Acoustic speech requires confidence scoring; mitigated via rolling token thresholding.</a:t>
            </a:r>
          </a:p>
        </p:txBody>
      </p:sp>
      <p:sp>
        <p:nvSpPr>
          <p:cNvPr id="9" name="Rounded Rectangle 8"/>
          <p:cNvSpPr/>
          <p:nvPr/>
        </p:nvSpPr>
        <p:spPr>
          <a:xfrm>
            <a:off x="777240" y="1463040"/>
            <a:ext cx="5166360" cy="35661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Architectural Innovations</a:t>
            </a:r>
          </a:p>
          <a:p>
            <a:pPr>
              <a:spcAft>
                <a:spcPts val="600"/>
              </a:spcAft>
            </a:pPr>
            <a:r>
              <a:rPr b="1" sz="1100">
                <a:solidFill>
                  <a:srgbClr val="1E293B"/>
                </a:solidFill>
                <a:latin typeface="Calibri"/>
              </a:rPr>
              <a:t>• Sub-Utterance Speculative Trigger: </a:t>
            </a:r>
            <a:r>
              <a:rPr b="0" sz="1100">
                <a:solidFill>
                  <a:srgbClr val="334155"/>
                </a:solidFill>
                <a:latin typeface="Calibri"/>
              </a:rPr>
              <a:t>Retrieval starts at token 6-8 before sentence completion.</a:t>
            </a:r>
          </a:p>
          <a:p>
            <a:pPr>
              <a:spcAft>
                <a:spcPts val="600"/>
              </a:spcAft>
            </a:pPr>
            <a:r>
              <a:rPr b="1" sz="1100">
                <a:solidFill>
                  <a:srgbClr val="1E293B"/>
                </a:solidFill>
                <a:latin typeface="Calibri"/>
              </a:rPr>
              <a:t>• In-Flight Pivot Invalidation: </a:t>
            </a:r>
            <a:r>
              <a:rPr b="0" sz="1100">
                <a:solidFill>
                  <a:srgbClr val="334155"/>
                </a:solidFill>
                <a:latin typeface="Calibri"/>
              </a:rPr>
              <a:t>Aborts pending vector searches on user speech self-corrections.</a:t>
            </a:r>
          </a:p>
          <a:p>
            <a:pPr>
              <a:spcAft>
                <a:spcPts val="600"/>
              </a:spcAft>
            </a:pPr>
            <a:r>
              <a:rPr b="1" sz="1100">
                <a:solidFill>
                  <a:srgbClr val="1E293B"/>
                </a:solidFill>
                <a:latin typeface="Calibri"/>
              </a:rPr>
              <a:t>• Gate 0 Semantic Suppression: </a:t>
            </a:r>
            <a:r>
              <a:rPr b="0" sz="1100">
                <a:solidFill>
                  <a:srgbClr val="334155"/>
                </a:solidFill>
                <a:latin typeface="Calibri"/>
              </a:rPr>
              <a:t>Differentiates presentation formatting from information retrieval.</a:t>
            </a:r>
          </a:p>
          <a:p>
            <a:pPr>
              <a:spcAft>
                <a:spcPts val="600"/>
              </a:spcAft>
            </a:pPr>
            <a:r>
              <a:rPr b="1" sz="1100">
                <a:solidFill>
                  <a:srgbClr val="1E293B"/>
                </a:solidFill>
                <a:latin typeface="Calibri"/>
              </a:rPr>
              <a:t>• State Lineage Preservation: </a:t>
            </a:r>
            <a:r>
              <a:rPr b="0" sz="1100">
                <a:solidFill>
                  <a:srgbClr val="334155"/>
                </a:solidFill>
                <a:latin typeface="Calibri"/>
              </a:rPr>
              <a:t>Manages incremental constraint updates (V1 -&gt; V2) without drift.</a:t>
            </a:r>
          </a:p>
        </p:txBody>
      </p:sp>
      <p:sp>
        <p:nvSpPr>
          <p:cNvPr id="10" name="Rounded Rectangle 9"/>
          <p:cNvSpPr/>
          <p:nvPr/>
        </p:nvSpPr>
        <p:spPr>
          <a:xfrm>
            <a:off x="6217920" y="1463040"/>
            <a:ext cx="5166360" cy="35661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Empirical Benchmark Results (G1 – G9)</a:t>
            </a:r>
          </a:p>
          <a:p>
            <a:pPr>
              <a:spcAft>
                <a:spcPts val="600"/>
              </a:spcAft>
            </a:pPr>
            <a:r>
              <a:rPr b="1" sz="1100">
                <a:solidFill>
                  <a:srgbClr val="1E293B"/>
                </a:solidFill>
                <a:latin typeface="Calibri"/>
              </a:rPr>
              <a:t>• Speculative Time Gain: </a:t>
            </a:r>
            <a:r>
              <a:rPr b="0" sz="1100">
                <a:solidFill>
                  <a:srgbClr val="334155"/>
                </a:solidFill>
                <a:latin typeface="Calibri"/>
              </a:rPr>
              <a:t>+1,300.0ms (Target: &gt;= 800ms) — PASS (162% of target)</a:t>
            </a:r>
          </a:p>
          <a:p>
            <a:pPr>
              <a:spcAft>
                <a:spcPts val="600"/>
              </a:spcAft>
            </a:pPr>
            <a:r>
              <a:rPr b="1" sz="1100">
                <a:solidFill>
                  <a:srgbClr val="1E293B"/>
                </a:solidFill>
                <a:latin typeface="Calibri"/>
              </a:rPr>
              <a:t>• Time to First Token (TTFT): </a:t>
            </a:r>
            <a:r>
              <a:rPr b="0" sz="1100">
                <a:solidFill>
                  <a:srgbClr val="334155"/>
                </a:solidFill>
                <a:latin typeface="Calibri"/>
              </a:rPr>
              <a:t>16.0ms (Target: &lt; 50ms) — PASS (3.1x faster than threshold)</a:t>
            </a:r>
          </a:p>
          <a:p>
            <a:pPr>
              <a:spcAft>
                <a:spcPts val="600"/>
              </a:spcAft>
            </a:pPr>
            <a:r>
              <a:rPr b="1" sz="1100">
                <a:solidFill>
                  <a:srgbClr val="1E293B"/>
                </a:solidFill>
                <a:latin typeface="Calibri"/>
              </a:rPr>
              <a:t>• Multi-Intent Parallel Retrieval: </a:t>
            </a:r>
            <a:r>
              <a:rPr b="0" sz="1100">
                <a:solidFill>
                  <a:srgbClr val="334155"/>
                </a:solidFill>
                <a:latin typeface="Calibri"/>
              </a:rPr>
              <a:t>3 orthogonal domains resolved in parallel (&lt; 45ms) — PASS</a:t>
            </a:r>
          </a:p>
          <a:p>
            <a:pPr>
              <a:spcAft>
                <a:spcPts val="600"/>
              </a:spcAft>
            </a:pPr>
            <a:r>
              <a:rPr b="1" sz="1100">
                <a:solidFill>
                  <a:srgbClr val="1E293B"/>
                </a:solidFill>
                <a:latin typeface="Calibri"/>
              </a:rPr>
              <a:t>• Gate 0 Suppression Rate: </a:t>
            </a:r>
            <a:r>
              <a:rPr b="0" sz="1100">
                <a:solidFill>
                  <a:srgbClr val="334155"/>
                </a:solidFill>
                <a:latin typeface="Calibri"/>
              </a:rPr>
              <a:t>100% suppression (0 queries) on reformatting turns — PASS</a:t>
            </a:r>
          </a:p>
          <a:p>
            <a:pPr>
              <a:spcAft>
                <a:spcPts val="600"/>
              </a:spcAft>
            </a:pPr>
            <a:r>
              <a:rPr b="1" sz="1100">
                <a:solidFill>
                  <a:srgbClr val="1E293B"/>
                </a:solidFill>
                <a:latin typeface="Calibri"/>
              </a:rPr>
              <a:t>• Gate Verification Status: </a:t>
            </a:r>
            <a:r>
              <a:rPr b="0" sz="1100">
                <a:solidFill>
                  <a:srgbClr val="334155"/>
                </a:solidFill>
                <a:latin typeface="Calibri"/>
              </a:rPr>
              <a:t>Gates G1 through G9: 100% PASS (9 / 9 verified)</a:t>
            </a:r>
          </a:p>
        </p:txBody>
      </p:sp>
      <p:sp>
        <p:nvSpPr>
          <p:cNvPr id="11" name="Rounded Rectangle 10"/>
          <p:cNvSpPr/>
          <p:nvPr/>
        </p:nvSpPr>
        <p:spPr>
          <a:xfrm>
            <a:off x="777240" y="5212080"/>
            <a:ext cx="10607040" cy="1097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1100" b="1">
                <a:solidFill>
                  <a:srgbClr val="475569"/>
                </a:solidFill>
                <a:latin typeface="Calibri"/>
              </a:defRPr>
            </a:pPr>
            <a:r>
              <a:t>Engineering Limitations &amp; Robust Mitigations</a:t>
            </a:r>
          </a:p>
          <a:p>
            <a:pPr>
              <a:defRPr sz="1000">
                <a:solidFill>
                  <a:srgbClr val="334155"/>
                </a:solidFill>
                <a:latin typeface="Calibri"/>
              </a:defRPr>
            </a:pPr>
            <a:r>
              <a:t>• Semi-Structured PDFs: Requires section headers for canonical chunk tags; mitigated via rule-based chunking.</a:t>
            </a:r>
            <a:br/>
            <a:r>
              <a:t>• Streaming ASR Jitter: Acoustic speech requires confidence scoring; mitigated via rolling token thresholding.</a:t>
            </a:r>
          </a:p>
        </p:txBody>
      </p:sp>
      <p:sp>
        <p:nvSpPr>
          <p:cNvPr id="12" name="Rounded Rectangle 11"/>
          <p:cNvSpPr/>
          <p:nvPr/>
        </p:nvSpPr>
        <p:spPr>
          <a:xfrm>
            <a:off x="777240" y="1463040"/>
            <a:ext cx="5166360" cy="2011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Architectural Innovations</a:t>
            </a:r>
          </a:p>
          <a:p>
            <a:pPr>
              <a:spcAft>
                <a:spcPts val="600"/>
              </a:spcAft>
            </a:pPr>
            <a:r>
              <a:rPr b="1" sz="1100">
                <a:solidFill>
                  <a:srgbClr val="1E293B"/>
                </a:solidFill>
                <a:latin typeface="Calibri"/>
              </a:rPr>
              <a:t>• Sub-Utterance Speculative Trigger: </a:t>
            </a:r>
            <a:r>
              <a:rPr b="0" sz="1100">
                <a:solidFill>
                  <a:srgbClr val="334155"/>
                </a:solidFill>
                <a:latin typeface="Calibri"/>
              </a:rPr>
              <a:t>Retrieval starts at token 6-8 before sentence completion.</a:t>
            </a:r>
          </a:p>
          <a:p>
            <a:pPr>
              <a:spcAft>
                <a:spcPts val="600"/>
              </a:spcAft>
            </a:pPr>
            <a:r>
              <a:rPr b="1" sz="1100">
                <a:solidFill>
                  <a:srgbClr val="1E293B"/>
                </a:solidFill>
                <a:latin typeface="Calibri"/>
              </a:rPr>
              <a:t>• In-Flight Pivot Invalidation: </a:t>
            </a:r>
            <a:r>
              <a:rPr b="0" sz="1100">
                <a:solidFill>
                  <a:srgbClr val="334155"/>
                </a:solidFill>
                <a:latin typeface="Calibri"/>
              </a:rPr>
              <a:t>Aborts pending vector searches on user speech self-corrections.</a:t>
            </a:r>
          </a:p>
          <a:p>
            <a:pPr>
              <a:spcAft>
                <a:spcPts val="600"/>
              </a:spcAft>
            </a:pPr>
            <a:r>
              <a:rPr b="1" sz="1100">
                <a:solidFill>
                  <a:srgbClr val="1E293B"/>
                </a:solidFill>
                <a:latin typeface="Calibri"/>
              </a:rPr>
              <a:t>• Gate 0 Semantic Suppression: </a:t>
            </a:r>
            <a:r>
              <a:rPr b="0" sz="1100">
                <a:solidFill>
                  <a:srgbClr val="334155"/>
                </a:solidFill>
                <a:latin typeface="Calibri"/>
              </a:rPr>
              <a:t>Differentiates presentation formatting from information retrieval.</a:t>
            </a:r>
          </a:p>
          <a:p>
            <a:pPr>
              <a:spcAft>
                <a:spcPts val="600"/>
              </a:spcAft>
            </a:pPr>
            <a:r>
              <a:rPr b="1" sz="1100">
                <a:solidFill>
                  <a:srgbClr val="1E293B"/>
                </a:solidFill>
                <a:latin typeface="Calibri"/>
              </a:rPr>
              <a:t>• State Lineage Preservation: </a:t>
            </a:r>
            <a:r>
              <a:rPr b="0" sz="1100">
                <a:solidFill>
                  <a:srgbClr val="334155"/>
                </a:solidFill>
                <a:latin typeface="Calibri"/>
              </a:rPr>
              <a:t>Manages incremental constraint updates (V1 -&gt; V2) without drift.</a:t>
            </a:r>
          </a:p>
        </p:txBody>
      </p:sp>
      <p:sp>
        <p:nvSpPr>
          <p:cNvPr id="13" name="Rounded Rectangle 12"/>
          <p:cNvSpPr/>
          <p:nvPr/>
        </p:nvSpPr>
        <p:spPr>
          <a:xfrm>
            <a:off x="6217920" y="1463040"/>
            <a:ext cx="5166360" cy="2011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Empirical Benchmark Results (G1 – G9)</a:t>
            </a:r>
          </a:p>
          <a:p>
            <a:pPr>
              <a:spcAft>
                <a:spcPts val="600"/>
              </a:spcAft>
            </a:pPr>
            <a:r>
              <a:rPr b="1" sz="1100">
                <a:solidFill>
                  <a:srgbClr val="1E293B"/>
                </a:solidFill>
                <a:latin typeface="Calibri"/>
              </a:rPr>
              <a:t>• Speculative Time Gain: </a:t>
            </a:r>
            <a:r>
              <a:rPr b="0" sz="1100">
                <a:solidFill>
                  <a:srgbClr val="334155"/>
                </a:solidFill>
                <a:latin typeface="Calibri"/>
              </a:rPr>
              <a:t>+1,300.0ms (Target: &gt;= 800ms) — PASS (162% of target)</a:t>
            </a:r>
          </a:p>
          <a:p>
            <a:pPr>
              <a:spcAft>
                <a:spcPts val="600"/>
              </a:spcAft>
            </a:pPr>
            <a:r>
              <a:rPr b="1" sz="1100">
                <a:solidFill>
                  <a:srgbClr val="1E293B"/>
                </a:solidFill>
                <a:latin typeface="Calibri"/>
              </a:rPr>
              <a:t>• Time to First Token (TTFT): </a:t>
            </a:r>
            <a:r>
              <a:rPr b="0" sz="1100">
                <a:solidFill>
                  <a:srgbClr val="334155"/>
                </a:solidFill>
                <a:latin typeface="Calibri"/>
              </a:rPr>
              <a:t>16.0ms (Target: &lt; 50ms) — PASS (3.1x faster than threshold)</a:t>
            </a:r>
          </a:p>
          <a:p>
            <a:pPr>
              <a:spcAft>
                <a:spcPts val="600"/>
              </a:spcAft>
            </a:pPr>
            <a:r>
              <a:rPr b="1" sz="1100">
                <a:solidFill>
                  <a:srgbClr val="1E293B"/>
                </a:solidFill>
                <a:latin typeface="Calibri"/>
              </a:rPr>
              <a:t>• Multi-Intent Parallel Retrieval: </a:t>
            </a:r>
            <a:r>
              <a:rPr b="0" sz="1100">
                <a:solidFill>
                  <a:srgbClr val="334155"/>
                </a:solidFill>
                <a:latin typeface="Calibri"/>
              </a:rPr>
              <a:t>3 orthogonal domains resolved in parallel (&lt; 45ms) — PASS</a:t>
            </a:r>
          </a:p>
          <a:p>
            <a:pPr>
              <a:spcAft>
                <a:spcPts val="600"/>
              </a:spcAft>
            </a:pPr>
            <a:r>
              <a:rPr b="1" sz="1100">
                <a:solidFill>
                  <a:srgbClr val="1E293B"/>
                </a:solidFill>
                <a:latin typeface="Calibri"/>
              </a:rPr>
              <a:t>• Gate 0 Suppression Rate: </a:t>
            </a:r>
            <a:r>
              <a:rPr b="0" sz="1100">
                <a:solidFill>
                  <a:srgbClr val="334155"/>
                </a:solidFill>
                <a:latin typeface="Calibri"/>
              </a:rPr>
              <a:t>100% suppression (0 queries) on reformatting turns — PASS</a:t>
            </a:r>
          </a:p>
        </p:txBody>
      </p:sp>
      <p:sp>
        <p:nvSpPr>
          <p:cNvPr id="14" name="Rounded Rectangle 13"/>
          <p:cNvSpPr/>
          <p:nvPr/>
        </p:nvSpPr>
        <p:spPr>
          <a:xfrm>
            <a:off x="777240" y="3657600"/>
            <a:ext cx="10607040" cy="1371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EC4899"/>
                </a:solidFill>
                <a:latin typeface="Calibri"/>
              </a:defRPr>
            </a:pPr>
            <a:r>
              <a:t>Flowchart: Gate 0 Semantic Suppression Logic</a:t>
            </a:r>
          </a:p>
        </p:txBody>
      </p:sp>
      <p:sp>
        <p:nvSpPr>
          <p:cNvPr id="15" name="Rounded Rectangle 14"/>
          <p:cNvSpPr/>
          <p:nvPr/>
        </p:nvSpPr>
        <p:spPr>
          <a:xfrm>
            <a:off x="1097280" y="4023360"/>
            <a:ext cx="1828800" cy="5486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User: 'Format it into bullets'</a:t>
            </a:r>
          </a:p>
        </p:txBody>
      </p:sp>
      <p:sp>
        <p:nvSpPr>
          <p:cNvPr id="16" name="Right Arrow 15"/>
          <p:cNvSpPr/>
          <p:nvPr/>
        </p:nvSpPr>
        <p:spPr>
          <a:xfrm>
            <a:off x="3017520" y="4160520"/>
            <a:ext cx="457200"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66160" y="4023360"/>
            <a:ext cx="1463040" cy="5486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Intent Router</a:t>
            </a:r>
          </a:p>
        </p:txBody>
      </p:sp>
      <p:sp>
        <p:nvSpPr>
          <p:cNvPr id="18" name="Right Arrow 17"/>
          <p:cNvSpPr/>
          <p:nvPr/>
        </p:nvSpPr>
        <p:spPr>
          <a:xfrm>
            <a:off x="5120640" y="4160520"/>
            <a:ext cx="457200"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669280" y="4023360"/>
            <a:ext cx="2286000" cy="5486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Is pure reformatting? (Yes)</a:t>
            </a:r>
          </a:p>
        </p:txBody>
      </p:sp>
      <p:sp>
        <p:nvSpPr>
          <p:cNvPr id="20" name="Right Arrow 19"/>
          <p:cNvSpPr/>
          <p:nvPr/>
        </p:nvSpPr>
        <p:spPr>
          <a:xfrm>
            <a:off x="8046720" y="4160520"/>
            <a:ext cx="457200"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95360" y="4023360"/>
            <a:ext cx="2286000" cy="548640"/>
          </a:xfrm>
          <a:prstGeom prst="roundRect">
            <a:avLst/>
          </a:prstGeom>
          <a:solidFill>
            <a:srgbClr val="FEF08A"/>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Calibri"/>
              </a:defRPr>
            </a:pPr>
            <a:r>
              <a:t>BYPASS Vectors</a:t>
            </a:r>
            <a:br/>
            <a:r>
              <a:t>Generate output directly!</a:t>
            </a:r>
          </a:p>
        </p:txBody>
      </p:sp>
      <p:sp>
        <p:nvSpPr>
          <p:cNvPr id="22" name="Rounded Rectangle 21"/>
          <p:cNvSpPr/>
          <p:nvPr/>
        </p:nvSpPr>
        <p:spPr>
          <a:xfrm>
            <a:off x="777240" y="5212080"/>
            <a:ext cx="10607040" cy="10972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1100" b="1">
                <a:solidFill>
                  <a:srgbClr val="475569"/>
                </a:solidFill>
                <a:latin typeface="Calibri"/>
              </a:defRPr>
            </a:pPr>
            <a:r>
              <a:t>Engineering Limitations &amp; Robust Mitigations</a:t>
            </a:r>
          </a:p>
          <a:p>
            <a:pPr>
              <a:defRPr sz="1000">
                <a:solidFill>
                  <a:srgbClr val="334155"/>
                </a:solidFill>
                <a:latin typeface="Calibri"/>
              </a:defRPr>
            </a:pPr>
            <a:r>
              <a:t>• Semi-Structured PDFs: Requires section headers for canonical chunk tags; mitigated via rule-based chunking.</a:t>
            </a:r>
            <a:br/>
            <a:r>
              <a:t>• Streaming ASR Jitter: Acoustic speech requires confidence scoring; mitigated via rolling token thresholding.</a:t>
            </a:r>
            <a:br/>
            <a:r>
              <a:t>• Context Window Bloat: Extremely long sessions can bloat memory; mitigated via aggressive KV caching and state compaction.</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777240" y="365760"/>
            <a:ext cx="10607040" cy="914400"/>
          </a:xfrm>
        </p:spPr>
        <p:txBody>
          <a:bodyPr/>
          <a:lstStyle/>
          <a:p>
            <a:pPr>
              <a:spcAft>
                <a:spcPts val="500"/>
              </a:spcAft>
              <a:buSzPct val="100000"/>
              <a:defRPr sz="2800" b="1">
                <a:solidFill>
                  <a:srgbClr val="704EA6"/>
                </a:solidFill>
                <a:latin typeface="Calibri"/>
              </a:defRPr>
            </a:pPr>
            <a:r>
              <a:t>What’s Next &amp; Production Roadmap</a:t>
            </a:r>
            <a:endParaRPr lang="en-US" sz="4400" b="1" dirty="0">
              <a:solidFill>
                <a:srgbClr val="704EA6"/>
              </a:solidFill>
            </a:endParaRPr>
          </a:p>
        </p:txBody>
      </p:sp>
      <p:sp>
        <p:nvSpPr>
          <p:cNvPr id="3" name="Rounded Rectangle 2"/>
          <p:cNvSpPr/>
          <p:nvPr/>
        </p:nvSpPr>
        <p:spPr>
          <a:xfrm>
            <a:off x="777240" y="1463040"/>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1: End-to-End Acoustic ASR (Q1 2027)</a:t>
            </a:r>
          </a:p>
          <a:p>
            <a:pPr>
              <a:defRPr sz="1100">
                <a:solidFill>
                  <a:srgbClr val="334155"/>
                </a:solidFill>
                <a:latin typeface="Calibri"/>
              </a:defRPr>
            </a:pPr>
            <a:r>
              <a:t>Direct integration with Whisper / Conformer streaming ASR pipelines to trigger speculative retrieval on sub-word phoneme probabilities before full word transcription.</a:t>
            </a:r>
          </a:p>
        </p:txBody>
      </p:sp>
      <p:sp>
        <p:nvSpPr>
          <p:cNvPr id="4" name="Rounded Rectangle 3"/>
          <p:cNvSpPr/>
          <p:nvPr/>
        </p:nvSpPr>
        <p:spPr>
          <a:xfrm>
            <a:off x="777240" y="2670048"/>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2: On-Device NPU Acceleration (Q2 2027)</a:t>
            </a:r>
          </a:p>
          <a:p>
            <a:pPr>
              <a:defRPr sz="1100">
                <a:solidFill>
                  <a:srgbClr val="334155"/>
                </a:solidFill>
                <a:latin typeface="Calibri"/>
              </a:defRPr>
            </a:pPr>
            <a:r>
              <a:t>Quantize dense embeddings and hybrid search indexes using ONNX Runtime and TensorRT-LLM for local execution on Samsung Galaxy Exynos / Snapdragon NPUs.</a:t>
            </a:r>
          </a:p>
        </p:txBody>
      </p:sp>
      <p:sp>
        <p:nvSpPr>
          <p:cNvPr id="5" name="Rounded Rectangle 4"/>
          <p:cNvSpPr/>
          <p:nvPr/>
        </p:nvSpPr>
        <p:spPr>
          <a:xfrm>
            <a:off x="777240" y="3877056"/>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3: Knowledge Graph Augmentation (Q3 2027)</a:t>
            </a:r>
          </a:p>
          <a:p>
            <a:pPr>
              <a:defRPr sz="1100">
                <a:solidFill>
                  <a:srgbClr val="334155"/>
                </a:solidFill>
                <a:latin typeface="Calibri"/>
              </a:defRPr>
            </a:pPr>
            <a:r>
              <a:t>Connect hybrid vector search with Neo4j enterprise knowledge graphs to enable multi-hop relational reasoning across complex corporate reporting hierarchies.</a:t>
            </a:r>
          </a:p>
        </p:txBody>
      </p:sp>
      <p:sp>
        <p:nvSpPr>
          <p:cNvPr id="6" name="Rounded Rectangle 5"/>
          <p:cNvSpPr/>
          <p:nvPr/>
        </p:nvSpPr>
        <p:spPr>
          <a:xfrm>
            <a:off x="777240" y="5084064"/>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4: Multimodal Live Grounding (Q4 2027)</a:t>
            </a:r>
          </a:p>
          <a:p>
            <a:pPr>
              <a:defRPr sz="1100">
                <a:solidFill>
                  <a:srgbClr val="334155"/>
                </a:solidFill>
                <a:latin typeface="Calibri"/>
              </a:defRPr>
            </a:pPr>
            <a:r>
              <a:t>Expand live speculative grounding to synchronized video feeds, live presentation slides, and technical schematics in real time.</a:t>
            </a:r>
          </a:p>
        </p:txBody>
      </p:sp>
      <p:sp>
        <p:nvSpPr>
          <p:cNvPr id="7" name="Rounded Rectangle 6"/>
          <p:cNvSpPr/>
          <p:nvPr/>
        </p:nvSpPr>
        <p:spPr>
          <a:xfrm>
            <a:off x="777240" y="1463040"/>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1: End-to-End Acoustic ASR (Q1 2027)</a:t>
            </a:r>
          </a:p>
          <a:p>
            <a:pPr>
              <a:defRPr sz="1100">
                <a:solidFill>
                  <a:srgbClr val="334155"/>
                </a:solidFill>
                <a:latin typeface="Calibri"/>
              </a:defRPr>
            </a:pPr>
            <a:r>
              <a:t>Direct integration with Whisper / Conformer streaming ASR pipelines to trigger speculative retrieval on sub-word phoneme probabilities before full word transcription.</a:t>
            </a:r>
          </a:p>
        </p:txBody>
      </p:sp>
      <p:sp>
        <p:nvSpPr>
          <p:cNvPr id="8" name="Rounded Rectangle 7"/>
          <p:cNvSpPr/>
          <p:nvPr/>
        </p:nvSpPr>
        <p:spPr>
          <a:xfrm>
            <a:off x="777240" y="2670048"/>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2: On-Device NPU Acceleration (Q2 2027)</a:t>
            </a:r>
          </a:p>
          <a:p>
            <a:pPr>
              <a:defRPr sz="1100">
                <a:solidFill>
                  <a:srgbClr val="334155"/>
                </a:solidFill>
                <a:latin typeface="Calibri"/>
              </a:defRPr>
            </a:pPr>
            <a:r>
              <a:t>Quantize dense embeddings and hybrid search indexes using ONNX Runtime and TensorRT-LLM for local execution on Samsung Galaxy Exynos / Snapdragon NPUs.</a:t>
            </a:r>
          </a:p>
        </p:txBody>
      </p:sp>
      <p:sp>
        <p:nvSpPr>
          <p:cNvPr id="9" name="Rounded Rectangle 8"/>
          <p:cNvSpPr/>
          <p:nvPr/>
        </p:nvSpPr>
        <p:spPr>
          <a:xfrm>
            <a:off x="777240" y="3877056"/>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3: Knowledge Graph Augmentation (Q3 2027)</a:t>
            </a:r>
          </a:p>
          <a:p>
            <a:pPr>
              <a:defRPr sz="1100">
                <a:solidFill>
                  <a:srgbClr val="334155"/>
                </a:solidFill>
                <a:latin typeface="Calibri"/>
              </a:defRPr>
            </a:pPr>
            <a:r>
              <a:t>Connect hybrid vector search with Neo4j enterprise knowledge graphs to enable multi-hop relational reasoning across complex corporate reporting hierarchies.</a:t>
            </a:r>
          </a:p>
        </p:txBody>
      </p:sp>
      <p:sp>
        <p:nvSpPr>
          <p:cNvPr id="10" name="Rounded Rectangle 9"/>
          <p:cNvSpPr/>
          <p:nvPr/>
        </p:nvSpPr>
        <p:spPr>
          <a:xfrm>
            <a:off x="777240" y="5084064"/>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4: Multimodal Live Grounding (Q4 2027)</a:t>
            </a:r>
          </a:p>
          <a:p>
            <a:pPr>
              <a:defRPr sz="1100">
                <a:solidFill>
                  <a:srgbClr val="334155"/>
                </a:solidFill>
                <a:latin typeface="Calibri"/>
              </a:defRPr>
            </a:pPr>
            <a:r>
              <a:t>Expand live speculative grounding to synchronized video feeds, live presentation slides, and technical schematics in real time.</a:t>
            </a:r>
          </a:p>
        </p:txBody>
      </p:sp>
      <p:sp>
        <p:nvSpPr>
          <p:cNvPr id="11" name="Rounded Rectangle 10"/>
          <p:cNvSpPr/>
          <p:nvPr/>
        </p:nvSpPr>
        <p:spPr>
          <a:xfrm>
            <a:off x="777240" y="1463040"/>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1: End-to-End Acoustic ASR (Q1 2027)</a:t>
            </a:r>
          </a:p>
          <a:p>
            <a:pPr>
              <a:defRPr sz="1100">
                <a:solidFill>
                  <a:srgbClr val="334155"/>
                </a:solidFill>
                <a:latin typeface="Calibri"/>
              </a:defRPr>
            </a:pPr>
            <a:r>
              <a:t>Direct integration with Whisper / Conformer streaming ASR pipelines to trigger speculative retrieval on sub-word phoneme probabilities before full word transcription.</a:t>
            </a:r>
          </a:p>
        </p:txBody>
      </p:sp>
      <p:sp>
        <p:nvSpPr>
          <p:cNvPr id="12" name="Rounded Rectangle 11"/>
          <p:cNvSpPr/>
          <p:nvPr/>
        </p:nvSpPr>
        <p:spPr>
          <a:xfrm>
            <a:off x="777240" y="2670048"/>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2: On-Device NPU Acceleration (Q2 2027)</a:t>
            </a:r>
          </a:p>
          <a:p>
            <a:pPr>
              <a:defRPr sz="1100">
                <a:solidFill>
                  <a:srgbClr val="334155"/>
                </a:solidFill>
                <a:latin typeface="Calibri"/>
              </a:defRPr>
            </a:pPr>
            <a:r>
              <a:t>Quantize dense embeddings and hybrid search indexes using ONNX Runtime and TensorRT-LLM for local execution on Samsung Galaxy Exynos / Snapdragon NPUs.</a:t>
            </a:r>
          </a:p>
        </p:txBody>
      </p:sp>
      <p:sp>
        <p:nvSpPr>
          <p:cNvPr id="13" name="Rounded Rectangle 12"/>
          <p:cNvSpPr/>
          <p:nvPr/>
        </p:nvSpPr>
        <p:spPr>
          <a:xfrm>
            <a:off x="777240" y="3877056"/>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3: Knowledge Graph Augmentation (Q3 2027)</a:t>
            </a:r>
          </a:p>
          <a:p>
            <a:pPr>
              <a:defRPr sz="1100">
                <a:solidFill>
                  <a:srgbClr val="334155"/>
                </a:solidFill>
                <a:latin typeface="Calibri"/>
              </a:defRPr>
            </a:pPr>
            <a:r>
              <a:t>Connect hybrid vector search with Neo4j enterprise knowledge graphs to enable multi-hop relational reasoning across complex corporate reporting hierarchies.</a:t>
            </a:r>
          </a:p>
        </p:txBody>
      </p:sp>
      <p:sp>
        <p:nvSpPr>
          <p:cNvPr id="14" name="Rounded Rectangle 13"/>
          <p:cNvSpPr/>
          <p:nvPr/>
        </p:nvSpPr>
        <p:spPr>
          <a:xfrm>
            <a:off x="777240" y="5084064"/>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4: Multimodal Live Grounding (Q4 2027)</a:t>
            </a:r>
          </a:p>
          <a:p>
            <a:pPr>
              <a:defRPr sz="1100">
                <a:solidFill>
                  <a:srgbClr val="334155"/>
                </a:solidFill>
                <a:latin typeface="Calibri"/>
              </a:defRPr>
            </a:pPr>
            <a:r>
              <a:t>Expand live speculative grounding to synchronized video feeds, live presentation slides, and technical schematics in real time.</a:t>
            </a:r>
          </a:p>
        </p:txBody>
      </p:sp>
      <p:sp>
        <p:nvSpPr>
          <p:cNvPr id="15" name="Rounded Rectangle 14"/>
          <p:cNvSpPr/>
          <p:nvPr/>
        </p:nvSpPr>
        <p:spPr>
          <a:xfrm>
            <a:off x="777240" y="1463040"/>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1: End-to-End Acoustic ASR (Q1 2027)</a:t>
            </a:r>
          </a:p>
          <a:p>
            <a:pPr>
              <a:defRPr sz="1100">
                <a:solidFill>
                  <a:srgbClr val="334155"/>
                </a:solidFill>
                <a:latin typeface="Calibri"/>
              </a:defRPr>
            </a:pPr>
            <a:r>
              <a:t>Direct integration with Whisper / Conformer streaming ASR pipelines to trigger speculative retrieval on sub-word phoneme probabilities before full word transcription.</a:t>
            </a:r>
          </a:p>
        </p:txBody>
      </p:sp>
      <p:sp>
        <p:nvSpPr>
          <p:cNvPr id="16" name="Rounded Rectangle 15"/>
          <p:cNvSpPr/>
          <p:nvPr/>
        </p:nvSpPr>
        <p:spPr>
          <a:xfrm>
            <a:off x="777240" y="2670048"/>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2: On-Device NPU Acceleration (Q2 2027)</a:t>
            </a:r>
          </a:p>
          <a:p>
            <a:pPr>
              <a:defRPr sz="1100">
                <a:solidFill>
                  <a:srgbClr val="334155"/>
                </a:solidFill>
                <a:latin typeface="Calibri"/>
              </a:defRPr>
            </a:pPr>
            <a:r>
              <a:t>Quantize dense embeddings and hybrid search indexes using ONNX Runtime and TensorRT-LLM for local execution on Samsung Galaxy Exynos / Snapdragon NPUs.</a:t>
            </a:r>
          </a:p>
        </p:txBody>
      </p:sp>
      <p:sp>
        <p:nvSpPr>
          <p:cNvPr id="17" name="Rounded Rectangle 16"/>
          <p:cNvSpPr/>
          <p:nvPr/>
        </p:nvSpPr>
        <p:spPr>
          <a:xfrm>
            <a:off x="777240" y="3877056"/>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3: Knowledge Graph Augmentation (Q3 2027)</a:t>
            </a:r>
          </a:p>
          <a:p>
            <a:pPr>
              <a:defRPr sz="1100">
                <a:solidFill>
                  <a:srgbClr val="334155"/>
                </a:solidFill>
                <a:latin typeface="Calibri"/>
              </a:defRPr>
            </a:pPr>
            <a:r>
              <a:t>Connect hybrid vector search with Neo4j enterprise knowledge graphs to enable multi-hop relational reasoning across complex corporate reporting hierarchies.</a:t>
            </a:r>
          </a:p>
        </p:txBody>
      </p:sp>
      <p:sp>
        <p:nvSpPr>
          <p:cNvPr id="18" name="Rounded Rectangle 17"/>
          <p:cNvSpPr/>
          <p:nvPr/>
        </p:nvSpPr>
        <p:spPr>
          <a:xfrm>
            <a:off x="777240" y="5084064"/>
            <a:ext cx="10607040" cy="10789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Phase 4: Multimodal Live Grounding (Q4 2027)</a:t>
            </a:r>
          </a:p>
          <a:p>
            <a:pPr>
              <a:defRPr sz="1100">
                <a:solidFill>
                  <a:srgbClr val="334155"/>
                </a:solidFill>
                <a:latin typeface="Calibri"/>
              </a:defRPr>
            </a:pPr>
            <a:r>
              <a:t>Expand live speculative grounding to synchronized video feeds, live presentation slides, and technical schematics in real time.</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777240" y="365760"/>
            <a:ext cx="10607040" cy="914400"/>
          </a:xfrm>
        </p:spPr>
        <p:txBody>
          <a:bodyPr/>
          <a:lstStyle/>
          <a:p>
            <a:pPr>
              <a:spcAft>
                <a:spcPts val="500"/>
              </a:spcAft>
              <a:buSzPct val="100000"/>
              <a:defRPr sz="2800" b="1">
                <a:solidFill>
                  <a:srgbClr val="704EA6"/>
                </a:solidFill>
                <a:latin typeface="Calibri"/>
              </a:defRPr>
            </a:pPr>
            <a:r>
              <a:t>Brownie Points Slide: Why 4 Bottle Codeka Stands Apart</a:t>
            </a:r>
            <a:endParaRPr lang="en-US" sz="4400" b="1" dirty="0">
              <a:solidFill>
                <a:srgbClr val="704EA6"/>
              </a:solidFill>
            </a:endParaRPr>
          </a:p>
        </p:txBody>
      </p:sp>
      <p:sp>
        <p:nvSpPr>
          <p:cNvPr id="3" name="Rounded Rectangle 2"/>
          <p:cNvSpPr/>
          <p:nvPr/>
        </p:nvSpPr>
        <p:spPr>
          <a:xfrm>
            <a:off x="777240" y="146304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1. Real Enterprise Corpus (Zero Synthetic Data)</a:t>
            </a:r>
          </a:p>
          <a:p>
            <a:pPr>
              <a:defRPr sz="1100">
                <a:solidFill>
                  <a:srgbClr val="334155"/>
                </a:solidFill>
                <a:latin typeface="Calibri"/>
              </a:defRPr>
            </a:pPr>
            <a:r>
              <a:t>Evaluated against the complete 21-section master corporate policy document ('policy.pdf') with 0 dummy or mock data.</a:t>
            </a:r>
          </a:p>
        </p:txBody>
      </p:sp>
      <p:sp>
        <p:nvSpPr>
          <p:cNvPr id="4" name="Rounded Rectangle 3"/>
          <p:cNvSpPr/>
          <p:nvPr/>
        </p:nvSpPr>
        <p:spPr>
          <a:xfrm>
            <a:off x="777240" y="242316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2. Genuine Sub-50ms TTFT (Measured 16ms)</a:t>
            </a:r>
          </a:p>
          <a:p>
            <a:pPr>
              <a:defRPr sz="1100">
                <a:solidFill>
                  <a:srgbClr val="334155"/>
                </a:solidFill>
                <a:latin typeface="Calibri"/>
              </a:defRPr>
            </a:pPr>
            <a:r>
              <a:t>Implemented genuine token-by-token streaming yielders, beating conventional synchronous wrappers that fake streaming.</a:t>
            </a:r>
          </a:p>
        </p:txBody>
      </p:sp>
      <p:sp>
        <p:nvSpPr>
          <p:cNvPr id="5" name="Rounded Rectangle 4"/>
          <p:cNvSpPr/>
          <p:nvPr/>
        </p:nvSpPr>
        <p:spPr>
          <a:xfrm>
            <a:off x="777240" y="338328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3. Self-Healing Mid-Stream Pivot Controller</a:t>
            </a:r>
          </a:p>
          <a:p>
            <a:pPr>
              <a:defRPr sz="1100">
                <a:solidFill>
                  <a:srgbClr val="334155"/>
                </a:solidFill>
                <a:latin typeface="Calibri"/>
              </a:defRPr>
            </a:pPr>
            <a:r>
              <a:t>The only architecture that actively tracks streaming token diffs and aborts in-flight vector calls when user self-corrects.</a:t>
            </a:r>
          </a:p>
        </p:txBody>
      </p:sp>
      <p:sp>
        <p:nvSpPr>
          <p:cNvPr id="6" name="Rounded Rectangle 5"/>
          <p:cNvSpPr/>
          <p:nvPr/>
        </p:nvSpPr>
        <p:spPr>
          <a:xfrm>
            <a:off x="777240" y="434340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4. Tri-Tier Resilient Provider Failover</a:t>
            </a:r>
          </a:p>
          <a:p>
            <a:pPr>
              <a:defRPr sz="1100">
                <a:solidFill>
                  <a:srgbClr val="334155"/>
                </a:solidFill>
                <a:latin typeface="Calibri"/>
              </a:defRPr>
            </a:pPr>
            <a:r>
              <a:t>Automated dynamic failover between Groq LPU (speed), NVIDIA NIM (reasoning), and local offline Qwen (privacy).</a:t>
            </a:r>
          </a:p>
        </p:txBody>
      </p:sp>
      <p:sp>
        <p:nvSpPr>
          <p:cNvPr id="7" name="Rounded Rectangle 6"/>
          <p:cNvSpPr/>
          <p:nvPr/>
        </p:nvSpPr>
        <p:spPr>
          <a:xfrm>
            <a:off x="777240" y="530352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5. Production-Ready Cybernetic HUD &amp; Telemetry</a:t>
            </a:r>
          </a:p>
          <a:p>
            <a:pPr>
              <a:defRPr sz="1100">
                <a:solidFill>
                  <a:srgbClr val="334155"/>
                </a:solidFill>
                <a:latin typeface="Calibri"/>
              </a:defRPr>
            </a:pPr>
            <a:r>
              <a:t>Real-time terminal HUD tracking turn-by-turn latency, token budgets, cost estimates, and exact citation audit trails.</a:t>
            </a:r>
          </a:p>
        </p:txBody>
      </p:sp>
      <p:sp>
        <p:nvSpPr>
          <p:cNvPr id="8" name="Rounded Rectangle 7"/>
          <p:cNvSpPr/>
          <p:nvPr/>
        </p:nvSpPr>
        <p:spPr>
          <a:xfrm>
            <a:off x="777240" y="146304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1. Real Enterprise Corpus (Zero Synthetic Data)</a:t>
            </a:r>
          </a:p>
          <a:p>
            <a:pPr>
              <a:defRPr sz="1100">
                <a:solidFill>
                  <a:srgbClr val="334155"/>
                </a:solidFill>
                <a:latin typeface="Calibri"/>
              </a:defRPr>
            </a:pPr>
            <a:r>
              <a:t>Evaluated against the complete 21-section master corporate policy document ('policy.pdf') with 0 dummy or mock data.</a:t>
            </a:r>
          </a:p>
        </p:txBody>
      </p:sp>
      <p:sp>
        <p:nvSpPr>
          <p:cNvPr id="9" name="Rounded Rectangle 8"/>
          <p:cNvSpPr/>
          <p:nvPr/>
        </p:nvSpPr>
        <p:spPr>
          <a:xfrm>
            <a:off x="777240" y="242316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2. Genuine Sub-50ms TTFT (Measured 16ms)</a:t>
            </a:r>
          </a:p>
          <a:p>
            <a:pPr>
              <a:defRPr sz="1100">
                <a:solidFill>
                  <a:srgbClr val="334155"/>
                </a:solidFill>
                <a:latin typeface="Calibri"/>
              </a:defRPr>
            </a:pPr>
            <a:r>
              <a:t>Implemented genuine token-by-token streaming yielders, beating conventional synchronous wrappers that fake streaming.</a:t>
            </a:r>
          </a:p>
        </p:txBody>
      </p:sp>
      <p:sp>
        <p:nvSpPr>
          <p:cNvPr id="10" name="Rounded Rectangle 9"/>
          <p:cNvSpPr/>
          <p:nvPr/>
        </p:nvSpPr>
        <p:spPr>
          <a:xfrm>
            <a:off x="777240" y="338328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3. Self-Healing Mid-Stream Pivot Controller</a:t>
            </a:r>
          </a:p>
          <a:p>
            <a:pPr>
              <a:defRPr sz="1100">
                <a:solidFill>
                  <a:srgbClr val="334155"/>
                </a:solidFill>
                <a:latin typeface="Calibri"/>
              </a:defRPr>
            </a:pPr>
            <a:r>
              <a:t>The only architecture that actively tracks streaming token diffs and aborts in-flight vector calls when user self-corrects.</a:t>
            </a:r>
          </a:p>
        </p:txBody>
      </p:sp>
      <p:sp>
        <p:nvSpPr>
          <p:cNvPr id="11" name="Rounded Rectangle 10"/>
          <p:cNvSpPr/>
          <p:nvPr/>
        </p:nvSpPr>
        <p:spPr>
          <a:xfrm>
            <a:off x="777240" y="434340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4. Tri-Tier Resilient Provider Failover</a:t>
            </a:r>
          </a:p>
          <a:p>
            <a:pPr>
              <a:defRPr sz="1100">
                <a:solidFill>
                  <a:srgbClr val="334155"/>
                </a:solidFill>
                <a:latin typeface="Calibri"/>
              </a:defRPr>
            </a:pPr>
            <a:r>
              <a:t>Automated dynamic failover between Groq LPU (speed), NVIDIA NIM (reasoning), and local offline Qwen (privacy).</a:t>
            </a:r>
          </a:p>
        </p:txBody>
      </p:sp>
      <p:sp>
        <p:nvSpPr>
          <p:cNvPr id="12" name="Rounded Rectangle 11"/>
          <p:cNvSpPr/>
          <p:nvPr/>
        </p:nvSpPr>
        <p:spPr>
          <a:xfrm>
            <a:off x="777240" y="530352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5. Production-Ready Cybernetic HUD &amp; Telemetry</a:t>
            </a:r>
          </a:p>
          <a:p>
            <a:pPr>
              <a:defRPr sz="1100">
                <a:solidFill>
                  <a:srgbClr val="334155"/>
                </a:solidFill>
                <a:latin typeface="Calibri"/>
              </a:defRPr>
            </a:pPr>
            <a:r>
              <a:t>Real-time terminal HUD tracking turn-by-turn latency, token budgets, cost estimates, and exact citation audit trails.</a:t>
            </a:r>
          </a:p>
        </p:txBody>
      </p:sp>
      <p:sp>
        <p:nvSpPr>
          <p:cNvPr id="13" name="Rounded Rectangle 12"/>
          <p:cNvSpPr/>
          <p:nvPr/>
        </p:nvSpPr>
        <p:spPr>
          <a:xfrm>
            <a:off x="777240" y="146304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1. Real Enterprise Corpus (Zero Synthetic Data)</a:t>
            </a:r>
          </a:p>
          <a:p>
            <a:pPr>
              <a:defRPr sz="1100">
                <a:solidFill>
                  <a:srgbClr val="334155"/>
                </a:solidFill>
                <a:latin typeface="Calibri"/>
              </a:defRPr>
            </a:pPr>
            <a:r>
              <a:t>Evaluated against the complete 21-section master corporate policy document ('policy.pdf') with 0 dummy or mock data.</a:t>
            </a:r>
          </a:p>
        </p:txBody>
      </p:sp>
      <p:sp>
        <p:nvSpPr>
          <p:cNvPr id="14" name="Rounded Rectangle 13"/>
          <p:cNvSpPr/>
          <p:nvPr/>
        </p:nvSpPr>
        <p:spPr>
          <a:xfrm>
            <a:off x="777240" y="242316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2. Genuine Sub-50ms TTFT (Measured 16ms)</a:t>
            </a:r>
          </a:p>
          <a:p>
            <a:pPr>
              <a:defRPr sz="1100">
                <a:solidFill>
                  <a:srgbClr val="334155"/>
                </a:solidFill>
                <a:latin typeface="Calibri"/>
              </a:defRPr>
            </a:pPr>
            <a:r>
              <a:t>Implemented genuine token-by-token streaming yielders, beating conventional synchronous wrappers that fake streaming.</a:t>
            </a:r>
          </a:p>
        </p:txBody>
      </p:sp>
      <p:sp>
        <p:nvSpPr>
          <p:cNvPr id="15" name="Rounded Rectangle 14"/>
          <p:cNvSpPr/>
          <p:nvPr/>
        </p:nvSpPr>
        <p:spPr>
          <a:xfrm>
            <a:off x="777240" y="338328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3. Self-Healing Mid-Stream Pivot Controller</a:t>
            </a:r>
          </a:p>
          <a:p>
            <a:pPr>
              <a:defRPr sz="1100">
                <a:solidFill>
                  <a:srgbClr val="334155"/>
                </a:solidFill>
                <a:latin typeface="Calibri"/>
              </a:defRPr>
            </a:pPr>
            <a:r>
              <a:t>The only architecture that actively tracks streaming token diffs and aborts in-flight vector calls when user self-corrects.</a:t>
            </a:r>
          </a:p>
        </p:txBody>
      </p:sp>
      <p:sp>
        <p:nvSpPr>
          <p:cNvPr id="16" name="Rounded Rectangle 15"/>
          <p:cNvSpPr/>
          <p:nvPr/>
        </p:nvSpPr>
        <p:spPr>
          <a:xfrm>
            <a:off x="777240" y="434340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4. Tri-Tier Resilient Provider Failover</a:t>
            </a:r>
          </a:p>
          <a:p>
            <a:pPr>
              <a:defRPr sz="1100">
                <a:solidFill>
                  <a:srgbClr val="334155"/>
                </a:solidFill>
                <a:latin typeface="Calibri"/>
              </a:defRPr>
            </a:pPr>
            <a:r>
              <a:t>Automated dynamic failover between Groq LPU (speed), NVIDIA NIM (reasoning), and local offline Qwen (privacy).</a:t>
            </a:r>
          </a:p>
        </p:txBody>
      </p:sp>
      <p:sp>
        <p:nvSpPr>
          <p:cNvPr id="17" name="Rounded Rectangle 16"/>
          <p:cNvSpPr/>
          <p:nvPr/>
        </p:nvSpPr>
        <p:spPr>
          <a:xfrm>
            <a:off x="777240" y="530352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5. Production-Ready Cybernetic HUD &amp; Telemetry</a:t>
            </a:r>
          </a:p>
          <a:p>
            <a:pPr>
              <a:defRPr sz="1100">
                <a:solidFill>
                  <a:srgbClr val="334155"/>
                </a:solidFill>
                <a:latin typeface="Calibri"/>
              </a:defRPr>
            </a:pPr>
            <a:r>
              <a:t>Real-time terminal HUD tracking turn-by-turn latency, token budgets, cost estimates, and exact citation audit trails.</a:t>
            </a:r>
          </a:p>
        </p:txBody>
      </p:sp>
      <p:sp>
        <p:nvSpPr>
          <p:cNvPr id="18" name="Rounded Rectangle 17"/>
          <p:cNvSpPr/>
          <p:nvPr/>
        </p:nvSpPr>
        <p:spPr>
          <a:xfrm>
            <a:off x="777240" y="146304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1. Real Enterprise Corpus (Zero Synthetic Data)</a:t>
            </a:r>
          </a:p>
          <a:p>
            <a:pPr>
              <a:defRPr sz="1100">
                <a:solidFill>
                  <a:srgbClr val="334155"/>
                </a:solidFill>
                <a:latin typeface="Calibri"/>
              </a:defRPr>
            </a:pPr>
            <a:r>
              <a:t>Evaluated against the complete 21-section master corporate policy document ('policy.pdf') with 0 dummy or mock data.</a:t>
            </a:r>
          </a:p>
        </p:txBody>
      </p:sp>
      <p:sp>
        <p:nvSpPr>
          <p:cNvPr id="19" name="Rounded Rectangle 18"/>
          <p:cNvSpPr/>
          <p:nvPr/>
        </p:nvSpPr>
        <p:spPr>
          <a:xfrm>
            <a:off x="777240" y="242316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2. Genuine Sub-50ms TTFT (Measured 16ms)</a:t>
            </a:r>
          </a:p>
          <a:p>
            <a:pPr>
              <a:defRPr sz="1100">
                <a:solidFill>
                  <a:srgbClr val="334155"/>
                </a:solidFill>
                <a:latin typeface="Calibri"/>
              </a:defRPr>
            </a:pPr>
            <a:r>
              <a:t>Implemented genuine token-by-token streaming yielders, beating conventional synchronous wrappers that fake streaming.</a:t>
            </a:r>
          </a:p>
        </p:txBody>
      </p:sp>
      <p:sp>
        <p:nvSpPr>
          <p:cNvPr id="20" name="Rounded Rectangle 19"/>
          <p:cNvSpPr/>
          <p:nvPr/>
        </p:nvSpPr>
        <p:spPr>
          <a:xfrm>
            <a:off x="777240" y="338328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3. Self-Healing Mid-Stream Pivot Controller</a:t>
            </a:r>
          </a:p>
          <a:p>
            <a:pPr>
              <a:defRPr sz="1100">
                <a:solidFill>
                  <a:srgbClr val="334155"/>
                </a:solidFill>
                <a:latin typeface="Calibri"/>
              </a:defRPr>
            </a:pPr>
            <a:r>
              <a:t>The only architecture that actively tracks streaming token diffs and aborts in-flight vector calls when user self-corrects.</a:t>
            </a:r>
          </a:p>
        </p:txBody>
      </p:sp>
      <p:sp>
        <p:nvSpPr>
          <p:cNvPr id="21" name="Rounded Rectangle 20"/>
          <p:cNvSpPr/>
          <p:nvPr/>
        </p:nvSpPr>
        <p:spPr>
          <a:xfrm>
            <a:off x="777240" y="434340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4. Tri-Tier Resilient Provider Failover</a:t>
            </a:r>
          </a:p>
          <a:p>
            <a:pPr>
              <a:defRPr sz="1100">
                <a:solidFill>
                  <a:srgbClr val="334155"/>
                </a:solidFill>
                <a:latin typeface="Calibri"/>
              </a:defRPr>
            </a:pPr>
            <a:r>
              <a:t>Automated dynamic failover between Groq LPU (speed), NVIDIA NIM (reasoning), and local offline Qwen (privacy).</a:t>
            </a:r>
          </a:p>
        </p:txBody>
      </p:sp>
      <p:sp>
        <p:nvSpPr>
          <p:cNvPr id="22" name="Rounded Rectangle 21"/>
          <p:cNvSpPr/>
          <p:nvPr/>
        </p:nvSpPr>
        <p:spPr>
          <a:xfrm>
            <a:off x="777240" y="5303520"/>
            <a:ext cx="10607040" cy="868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284C7"/>
                </a:solidFill>
                <a:latin typeface="Calibri"/>
              </a:defRPr>
            </a:pPr>
            <a:r>
              <a:t>5. Production-Ready Cybernetic HUD &amp; Telemetry</a:t>
            </a:r>
          </a:p>
          <a:p>
            <a:pPr>
              <a:defRPr sz="1100">
                <a:solidFill>
                  <a:srgbClr val="334155"/>
                </a:solidFill>
                <a:latin typeface="Calibri"/>
              </a:defRPr>
            </a:pPr>
            <a:r>
              <a:t>Real-time terminal HUD tracking turn-by-turn latency, token budgets, cost estimates, and exact citation audit trails.</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a:xfrm>
            <a:off x="777240" y="365760"/>
            <a:ext cx="10607040" cy="914400"/>
          </a:xfrm>
        </p:spPr>
        <p:txBody>
          <a:bodyPr/>
          <a:lstStyle/>
          <a:p>
            <a:pPr>
              <a:defRPr sz="2800" b="1">
                <a:solidFill>
                  <a:srgbClr val="704EA6"/>
                </a:solidFill>
                <a:latin typeface="Calibri"/>
              </a:defRPr>
            </a:pPr>
            <a:r>
              <a:t>Checklist — Updated on Public GitHub</a:t>
            </a:r>
          </a:p>
        </p:txBody>
      </p:sp>
      <p:sp>
        <p:nvSpPr>
          <p:cNvPr id="3" name="Rounded Rectangle 2"/>
          <p:cNvSpPr/>
          <p:nvPr/>
        </p:nvSpPr>
        <p:spPr>
          <a:xfrm>
            <a:off x="777240" y="1463040"/>
            <a:ext cx="1060704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Submission Compliance &amp; Deliverables Verification</a:t>
            </a:r>
          </a:p>
          <a:p>
            <a:pPr>
              <a:spcAft>
                <a:spcPts val="200"/>
              </a:spcAft>
            </a:pPr>
            <a:r>
              <a:rPr b="1" sz="1200">
                <a:solidFill>
                  <a:srgbClr val="1E293B"/>
                </a:solidFill>
                <a:latin typeface="Calibri"/>
              </a:rPr>
              <a:t>✔ Working prototype code — public or shared GitHub repo: </a:t>
            </a:r>
            <a:r>
              <a:rPr b="1" sz="1200">
                <a:solidFill>
                  <a:srgbClr val="10B981"/>
                </a:solidFill>
                <a:latin typeface="Calibri"/>
              </a:rPr>
              <a:t>YES (Y)</a:t>
            </a:r>
          </a:p>
          <a:p>
            <a:pPr>
              <a:spcAft>
                <a:spcPts val="800"/>
              </a:spcAft>
            </a:pPr>
            <a:r>
              <a:rPr sz="1050">
                <a:solidFill>
                  <a:srgbClr val="334155"/>
                </a:solidFill>
                <a:latin typeface="Calibri"/>
              </a:rPr>
              <a:t>   Repository URL: https://github.com/abhinav29102005/ultron
   Full source code with modular streaming RAG, session management, and test suites.</a:t>
            </a:r>
          </a:p>
          <a:p>
            <a:pPr>
              <a:spcAft>
                <a:spcPts val="200"/>
              </a:spcAft>
            </a:pPr>
            <a:r>
              <a:rPr b="1" sz="1200">
                <a:solidFill>
                  <a:srgbClr val="1E293B"/>
                </a:solidFill>
                <a:latin typeface="Calibri"/>
              </a:rPr>
              <a:t>✔ README with reproducible setup instructions: </a:t>
            </a:r>
            <a:r>
              <a:rPr b="1" sz="1200">
                <a:solidFill>
                  <a:srgbClr val="10B981"/>
                </a:solidFill>
                <a:latin typeface="Calibri"/>
              </a:rPr>
              <a:t>YES (Y)</a:t>
            </a:r>
          </a:p>
          <a:p>
            <a:pPr>
              <a:spcAft>
                <a:spcPts val="800"/>
              </a:spcAft>
            </a:pPr>
            <a:r>
              <a:rPr sz="1050">
                <a:solidFill>
                  <a:srgbClr val="334155"/>
                </a:solidFill>
                <a:latin typeface="Calibri"/>
              </a:rPr>
              <a:t>   Detailed step-by-step setup, Python 3.11+ environment configuration, API key setup wizard, and benchmark runner.</a:t>
            </a:r>
          </a:p>
          <a:p>
            <a:pPr>
              <a:spcAft>
                <a:spcPts val="200"/>
              </a:spcAft>
            </a:pPr>
            <a:r>
              <a:rPr b="1" sz="1200">
                <a:solidFill>
                  <a:srgbClr val="1E293B"/>
                </a:solidFill>
                <a:latin typeface="Calibri"/>
              </a:rPr>
              <a:t>✔ Demo video, max 5 minutes (YouTube or Drive link): </a:t>
            </a:r>
            <a:r>
              <a:rPr b="1" sz="1200">
                <a:solidFill>
                  <a:srgbClr val="10B981"/>
                </a:solidFill>
                <a:latin typeface="Calibri"/>
              </a:rPr>
              <a:t>YES (Y)</a:t>
            </a:r>
          </a:p>
          <a:p>
            <a:pPr>
              <a:spcAft>
                <a:spcPts val="800"/>
              </a:spcAft>
            </a:pPr>
            <a:r>
              <a:rPr sz="1050">
                <a:solidFill>
                  <a:srgbClr val="334155"/>
                </a:solidFill>
                <a:latin typeface="Calibri"/>
              </a:rPr>
              <a:t>   Full 9-scene video walkthrough recorded using Ultron's built-in /demo harness with real-time Telemetry HUD.</a:t>
            </a:r>
          </a:p>
          <a:p>
            <a:pPr>
              <a:spcAft>
                <a:spcPts val="200"/>
              </a:spcAft>
            </a:pPr>
            <a:r>
              <a:rPr b="1" sz="1200">
                <a:solidFill>
                  <a:srgbClr val="1E293B"/>
                </a:solidFill>
                <a:latin typeface="Calibri"/>
              </a:rPr>
              <a:t>✔ Presentation file (PPT or PDF): </a:t>
            </a:r>
            <a:r>
              <a:rPr b="1" sz="1200">
                <a:solidFill>
                  <a:srgbClr val="10B981"/>
                </a:solidFill>
                <a:latin typeface="Calibri"/>
              </a:rPr>
              <a:t>YES (Y)</a:t>
            </a:r>
          </a:p>
          <a:p>
            <a:pPr>
              <a:spcAft>
                <a:spcPts val="800"/>
              </a:spcAft>
            </a:pPr>
            <a:r>
              <a:rPr sz="1050">
                <a:solidFill>
                  <a:srgbClr val="334155"/>
                </a:solidFill>
                <a:latin typeface="Calibri"/>
              </a:rPr>
              <a:t>   Completed official template (CollegeName_TeamName_Submission.pptx / Thapar_4_Bottle_Codeka_Submission.pptx).</a:t>
            </a:r>
          </a:p>
        </p:txBody>
      </p:sp>
      <p:sp>
        <p:nvSpPr>
          <p:cNvPr id="4" name="Rounded Rectangle 3"/>
          <p:cNvSpPr/>
          <p:nvPr/>
        </p:nvSpPr>
        <p:spPr>
          <a:xfrm>
            <a:off x="777240" y="1463040"/>
            <a:ext cx="1060704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Submission Compliance &amp; Deliverables Verification</a:t>
            </a:r>
          </a:p>
          <a:p>
            <a:pPr>
              <a:spcAft>
                <a:spcPts val="200"/>
              </a:spcAft>
            </a:pPr>
            <a:r>
              <a:rPr b="1" sz="1200">
                <a:solidFill>
                  <a:srgbClr val="1E293B"/>
                </a:solidFill>
                <a:latin typeface="Calibri"/>
              </a:rPr>
              <a:t>✔ Working prototype code — public or shared GitHub repo: </a:t>
            </a:r>
            <a:r>
              <a:rPr b="1" sz="1200">
                <a:solidFill>
                  <a:srgbClr val="10B981"/>
                </a:solidFill>
                <a:latin typeface="Calibri"/>
              </a:rPr>
              <a:t>YES (Y)</a:t>
            </a:r>
          </a:p>
          <a:p>
            <a:pPr>
              <a:spcAft>
                <a:spcPts val="800"/>
              </a:spcAft>
            </a:pPr>
            <a:r>
              <a:rPr sz="1050">
                <a:solidFill>
                  <a:srgbClr val="334155"/>
                </a:solidFill>
                <a:latin typeface="Calibri"/>
              </a:rPr>
              <a:t>   Repository URL: https://github.com/abhinav29102005/ultron
   Full source code with modular streaming RAG, session management, and test suites.</a:t>
            </a:r>
          </a:p>
          <a:p>
            <a:pPr>
              <a:spcAft>
                <a:spcPts val="200"/>
              </a:spcAft>
            </a:pPr>
            <a:r>
              <a:rPr b="1" sz="1200">
                <a:solidFill>
                  <a:srgbClr val="1E293B"/>
                </a:solidFill>
                <a:latin typeface="Calibri"/>
              </a:rPr>
              <a:t>✔ README with reproducible setup instructions: </a:t>
            </a:r>
            <a:r>
              <a:rPr b="1" sz="1200">
                <a:solidFill>
                  <a:srgbClr val="10B981"/>
                </a:solidFill>
                <a:latin typeface="Calibri"/>
              </a:rPr>
              <a:t>YES (Y)</a:t>
            </a:r>
          </a:p>
          <a:p>
            <a:pPr>
              <a:spcAft>
                <a:spcPts val="800"/>
              </a:spcAft>
            </a:pPr>
            <a:r>
              <a:rPr sz="1050">
                <a:solidFill>
                  <a:srgbClr val="334155"/>
                </a:solidFill>
                <a:latin typeface="Calibri"/>
              </a:rPr>
              <a:t>   Detailed step-by-step setup, Python 3.11+ environment configuration, API key setup wizard, and benchmark runner.</a:t>
            </a:r>
          </a:p>
          <a:p>
            <a:pPr>
              <a:spcAft>
                <a:spcPts val="200"/>
              </a:spcAft>
            </a:pPr>
            <a:r>
              <a:rPr b="1" sz="1200">
                <a:solidFill>
                  <a:srgbClr val="1E293B"/>
                </a:solidFill>
                <a:latin typeface="Calibri"/>
              </a:rPr>
              <a:t>✔ Demo video, max 5 minutes (YouTube or Drive link): </a:t>
            </a:r>
            <a:r>
              <a:rPr b="1" sz="1200">
                <a:solidFill>
                  <a:srgbClr val="10B981"/>
                </a:solidFill>
                <a:latin typeface="Calibri"/>
              </a:rPr>
              <a:t>YES (Y)</a:t>
            </a:r>
          </a:p>
          <a:p>
            <a:pPr>
              <a:spcAft>
                <a:spcPts val="800"/>
              </a:spcAft>
            </a:pPr>
            <a:r>
              <a:rPr sz="1050">
                <a:solidFill>
                  <a:srgbClr val="334155"/>
                </a:solidFill>
                <a:latin typeface="Calibri"/>
              </a:rPr>
              <a:t>   Full 9-scene video walkthrough recorded using Ultron's built-in /demo harness with real-time Telemetry HUD.</a:t>
            </a:r>
          </a:p>
          <a:p>
            <a:pPr>
              <a:spcAft>
                <a:spcPts val="200"/>
              </a:spcAft>
            </a:pPr>
            <a:r>
              <a:rPr b="1" sz="1200">
                <a:solidFill>
                  <a:srgbClr val="1E293B"/>
                </a:solidFill>
                <a:latin typeface="Calibri"/>
              </a:rPr>
              <a:t>✔ Presentation file (PPT or PDF): </a:t>
            </a:r>
            <a:r>
              <a:rPr b="1" sz="1200">
                <a:solidFill>
                  <a:srgbClr val="10B981"/>
                </a:solidFill>
                <a:latin typeface="Calibri"/>
              </a:rPr>
              <a:t>YES (Y)</a:t>
            </a:r>
          </a:p>
          <a:p>
            <a:pPr>
              <a:spcAft>
                <a:spcPts val="800"/>
              </a:spcAft>
            </a:pPr>
            <a:r>
              <a:rPr sz="1050">
                <a:solidFill>
                  <a:srgbClr val="334155"/>
                </a:solidFill>
                <a:latin typeface="Calibri"/>
              </a:rPr>
              <a:t>   Completed official template (CollegeName_TeamName_Submission.pptx / Thapar_4_Bottle_Codeka_Submission.pptx).</a:t>
            </a:r>
          </a:p>
        </p:txBody>
      </p:sp>
      <p:sp>
        <p:nvSpPr>
          <p:cNvPr id="5" name="Rounded Rectangle 4"/>
          <p:cNvSpPr/>
          <p:nvPr/>
        </p:nvSpPr>
        <p:spPr>
          <a:xfrm>
            <a:off x="777240" y="1463040"/>
            <a:ext cx="1060704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Submission Compliance &amp; Deliverables Verification</a:t>
            </a:r>
          </a:p>
          <a:p>
            <a:pPr>
              <a:spcAft>
                <a:spcPts val="200"/>
              </a:spcAft>
            </a:pPr>
            <a:r>
              <a:rPr b="1" sz="1200">
                <a:solidFill>
                  <a:srgbClr val="1E293B"/>
                </a:solidFill>
                <a:latin typeface="Calibri"/>
              </a:rPr>
              <a:t>✔ Working prototype code — public or shared GitHub repo: </a:t>
            </a:r>
            <a:r>
              <a:rPr b="1" sz="1200">
                <a:solidFill>
                  <a:srgbClr val="10B981"/>
                </a:solidFill>
                <a:latin typeface="Calibri"/>
              </a:rPr>
              <a:t>YES (Y)</a:t>
            </a:r>
          </a:p>
          <a:p>
            <a:pPr>
              <a:spcAft>
                <a:spcPts val="800"/>
              </a:spcAft>
            </a:pPr>
            <a:r>
              <a:rPr sz="1050">
                <a:solidFill>
                  <a:srgbClr val="334155"/>
                </a:solidFill>
                <a:latin typeface="Calibri"/>
              </a:rPr>
              <a:t>   Repository URL: https://github.com/abhinav29102005/ultron
   Full source code with modular streaming RAG, session management, and test suites.</a:t>
            </a:r>
          </a:p>
          <a:p>
            <a:pPr>
              <a:spcAft>
                <a:spcPts val="200"/>
              </a:spcAft>
            </a:pPr>
            <a:r>
              <a:rPr b="1" sz="1200">
                <a:solidFill>
                  <a:srgbClr val="1E293B"/>
                </a:solidFill>
                <a:latin typeface="Calibri"/>
              </a:rPr>
              <a:t>✔ README with reproducible setup instructions: </a:t>
            </a:r>
            <a:r>
              <a:rPr b="1" sz="1200">
                <a:solidFill>
                  <a:srgbClr val="10B981"/>
                </a:solidFill>
                <a:latin typeface="Calibri"/>
              </a:rPr>
              <a:t>YES (Y)</a:t>
            </a:r>
          </a:p>
          <a:p>
            <a:pPr>
              <a:spcAft>
                <a:spcPts val="800"/>
              </a:spcAft>
            </a:pPr>
            <a:r>
              <a:rPr sz="1050">
                <a:solidFill>
                  <a:srgbClr val="334155"/>
                </a:solidFill>
                <a:latin typeface="Calibri"/>
              </a:rPr>
              <a:t>   Detailed step-by-step setup, Python 3.11+ environment configuration, API key setup wizard, and benchmark runner.</a:t>
            </a:r>
          </a:p>
          <a:p>
            <a:pPr>
              <a:spcAft>
                <a:spcPts val="200"/>
              </a:spcAft>
            </a:pPr>
            <a:r>
              <a:rPr b="1" sz="1200">
                <a:solidFill>
                  <a:srgbClr val="1E293B"/>
                </a:solidFill>
                <a:latin typeface="Calibri"/>
              </a:rPr>
              <a:t>✔ Demo video, max 5 minutes (YouTube or Drive link): </a:t>
            </a:r>
            <a:r>
              <a:rPr b="1" sz="1200">
                <a:solidFill>
                  <a:srgbClr val="10B981"/>
                </a:solidFill>
                <a:latin typeface="Calibri"/>
              </a:rPr>
              <a:t>YES (Y)</a:t>
            </a:r>
          </a:p>
          <a:p>
            <a:pPr>
              <a:spcAft>
                <a:spcPts val="800"/>
              </a:spcAft>
            </a:pPr>
            <a:r>
              <a:rPr sz="1050">
                <a:solidFill>
                  <a:srgbClr val="334155"/>
                </a:solidFill>
                <a:latin typeface="Calibri"/>
              </a:rPr>
              <a:t>   Full 9-scene video walkthrough recorded using Ultron's built-in /demo harness with real-time Telemetry HUD.</a:t>
            </a:r>
          </a:p>
          <a:p>
            <a:pPr>
              <a:spcAft>
                <a:spcPts val="200"/>
              </a:spcAft>
            </a:pPr>
            <a:r>
              <a:rPr b="1" sz="1200">
                <a:solidFill>
                  <a:srgbClr val="1E293B"/>
                </a:solidFill>
                <a:latin typeface="Calibri"/>
              </a:rPr>
              <a:t>✔ Presentation file (PPT or PDF): </a:t>
            </a:r>
            <a:r>
              <a:rPr b="1" sz="1200">
                <a:solidFill>
                  <a:srgbClr val="10B981"/>
                </a:solidFill>
                <a:latin typeface="Calibri"/>
              </a:rPr>
              <a:t>YES (Y)</a:t>
            </a:r>
          </a:p>
          <a:p>
            <a:pPr>
              <a:spcAft>
                <a:spcPts val="800"/>
              </a:spcAft>
            </a:pPr>
            <a:r>
              <a:rPr sz="1050">
                <a:solidFill>
                  <a:srgbClr val="334155"/>
                </a:solidFill>
                <a:latin typeface="Calibri"/>
              </a:rPr>
              <a:t>   Completed official template (CollegeName_TeamName_Submission.pptx / Thapar_4_Bottle_Codeka_Submission.pptx).</a:t>
            </a:r>
          </a:p>
        </p:txBody>
      </p:sp>
      <p:sp>
        <p:nvSpPr>
          <p:cNvPr id="6" name="Rounded Rectangle 5"/>
          <p:cNvSpPr/>
          <p:nvPr/>
        </p:nvSpPr>
        <p:spPr>
          <a:xfrm>
            <a:off x="777240" y="1463040"/>
            <a:ext cx="10607040" cy="47548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10B981"/>
                </a:solidFill>
                <a:latin typeface="Calibri"/>
              </a:defRPr>
            </a:pPr>
            <a:r>
              <a:t>Submission Compliance &amp; Deliverables Verification</a:t>
            </a:r>
          </a:p>
          <a:p>
            <a:pPr>
              <a:spcAft>
                <a:spcPts val="200"/>
              </a:spcAft>
            </a:pPr>
            <a:r>
              <a:rPr b="1" sz="1200">
                <a:solidFill>
                  <a:srgbClr val="1E293B"/>
                </a:solidFill>
                <a:latin typeface="Calibri"/>
              </a:rPr>
              <a:t>✔ Working prototype code — public or shared GitHub repo: </a:t>
            </a:r>
            <a:r>
              <a:rPr b="1" sz="1200">
                <a:solidFill>
                  <a:srgbClr val="10B981"/>
                </a:solidFill>
                <a:latin typeface="Calibri"/>
              </a:rPr>
              <a:t>YES (Y)</a:t>
            </a:r>
          </a:p>
          <a:p>
            <a:pPr>
              <a:spcAft>
                <a:spcPts val="800"/>
              </a:spcAft>
            </a:pPr>
            <a:r>
              <a:rPr sz="1050">
                <a:solidFill>
                  <a:srgbClr val="334155"/>
                </a:solidFill>
                <a:latin typeface="Calibri"/>
              </a:rPr>
              <a:t>   Repository URL: https://github.com/abhinav29102005/ultron
   Full source code with modular streaming RAG, session management, and test suites.</a:t>
            </a:r>
          </a:p>
          <a:p>
            <a:pPr>
              <a:spcAft>
                <a:spcPts val="200"/>
              </a:spcAft>
            </a:pPr>
            <a:r>
              <a:rPr b="1" sz="1200">
                <a:solidFill>
                  <a:srgbClr val="1E293B"/>
                </a:solidFill>
                <a:latin typeface="Calibri"/>
              </a:rPr>
              <a:t>✔ README with reproducible setup instructions: </a:t>
            </a:r>
            <a:r>
              <a:rPr b="1" sz="1200">
                <a:solidFill>
                  <a:srgbClr val="10B981"/>
                </a:solidFill>
                <a:latin typeface="Calibri"/>
              </a:rPr>
              <a:t>YES (Y)</a:t>
            </a:r>
          </a:p>
          <a:p>
            <a:pPr>
              <a:spcAft>
                <a:spcPts val="800"/>
              </a:spcAft>
            </a:pPr>
            <a:r>
              <a:rPr sz="1050">
                <a:solidFill>
                  <a:srgbClr val="334155"/>
                </a:solidFill>
                <a:latin typeface="Calibri"/>
              </a:rPr>
              <a:t>   Detailed step-by-step setup, Python 3.11+ environment configuration, API key setup wizard, and benchmark runner.</a:t>
            </a:r>
          </a:p>
          <a:p>
            <a:pPr>
              <a:spcAft>
                <a:spcPts val="200"/>
              </a:spcAft>
            </a:pPr>
            <a:r>
              <a:rPr b="1" sz="1200">
                <a:solidFill>
                  <a:srgbClr val="1E293B"/>
                </a:solidFill>
                <a:latin typeface="Calibri"/>
              </a:rPr>
              <a:t>✔ Demo video, max 5 minutes (YouTube or Drive link): </a:t>
            </a:r>
            <a:r>
              <a:rPr b="1" sz="1200">
                <a:solidFill>
                  <a:srgbClr val="10B981"/>
                </a:solidFill>
                <a:latin typeface="Calibri"/>
              </a:rPr>
              <a:t>YES (Y)</a:t>
            </a:r>
          </a:p>
          <a:p>
            <a:pPr>
              <a:spcAft>
                <a:spcPts val="800"/>
              </a:spcAft>
            </a:pPr>
            <a:r>
              <a:rPr sz="1050">
                <a:solidFill>
                  <a:srgbClr val="334155"/>
                </a:solidFill>
                <a:latin typeface="Calibri"/>
              </a:rPr>
              <a:t>   Full 9-scene video walkthrough recorded using Ultron's built-in /demo harness with real-time Telemetry HUD.</a:t>
            </a:r>
          </a:p>
          <a:p>
            <a:pPr>
              <a:spcAft>
                <a:spcPts val="200"/>
              </a:spcAft>
            </a:pPr>
            <a:r>
              <a:rPr b="1" sz="1200">
                <a:solidFill>
                  <a:srgbClr val="1E293B"/>
                </a:solidFill>
                <a:latin typeface="Calibri"/>
              </a:rPr>
              <a:t>✔ Presentation file (PPT or PDF): </a:t>
            </a:r>
            <a:r>
              <a:rPr b="1" sz="1200">
                <a:solidFill>
                  <a:srgbClr val="10B981"/>
                </a:solidFill>
                <a:latin typeface="Calibri"/>
              </a:rPr>
              <a:t>YES (Y)</a:t>
            </a:r>
          </a:p>
          <a:p>
            <a:pPr>
              <a:spcAft>
                <a:spcPts val="800"/>
              </a:spcAft>
            </a:pPr>
            <a:r>
              <a:rPr sz="1050">
                <a:solidFill>
                  <a:srgbClr val="334155"/>
                </a:solidFill>
                <a:latin typeface="Calibri"/>
              </a:rPr>
              <a:t>   Completed official template (CollegeName_TeamName_Submission.pptx / Thapar_4_Bottle_Codeka_Submission.pptx).</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29" name="Rounded Rectangle 28"/>
          <p:cNvSpPr/>
          <p:nvPr/>
        </p:nvSpPr>
        <p:spPr>
          <a:xfrm>
            <a:off x="777240" y="1463040"/>
            <a:ext cx="10607040" cy="41148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Team: 4 Bottle Codeka</a:t>
            </a:r>
          </a:p>
          <a:p>
            <a:pPr>
              <a:spcAft>
                <a:spcPts val="1400"/>
              </a:spcAft>
              <a:defRPr sz="1400" b="1">
                <a:solidFill>
                  <a:srgbClr val="1E293B"/>
                </a:solidFill>
                <a:latin typeface="Calibri"/>
              </a:defRPr>
            </a:pPr>
            <a:r>
              <a:t>Thapar Institute of Engineering &amp; Technology, Patiala</a:t>
            </a:r>
          </a:p>
          <a:p>
            <a:pPr>
              <a:spcAft>
                <a:spcPts val="400"/>
              </a:spcAft>
            </a:pPr>
            <a:r>
              <a:rPr b="1" sz="1200">
                <a:solidFill>
                  <a:srgbClr val="1E293B"/>
                </a:solidFill>
                <a:latin typeface="Calibri"/>
              </a:rPr>
              <a:t>• Abhinav Kumar Singh (Team Leader): </a:t>
            </a:r>
            <a:r>
              <a:rPr sz="1200">
                <a:solidFill>
                  <a:srgbClr val="334155"/>
                </a:solidFill>
                <a:latin typeface="Calibri"/>
              </a:rPr>
              <a:t>asingh2910.official@gmail.com | +91-6398779479</a:t>
            </a:r>
          </a:p>
          <a:p>
            <a:pPr>
              <a:spcAft>
                <a:spcPts val="400"/>
              </a:spcAft>
            </a:pPr>
            <a:r>
              <a:rPr b="1" sz="1200">
                <a:solidFill>
                  <a:srgbClr val="1E293B"/>
                </a:solidFill>
                <a:latin typeface="Calibri"/>
              </a:rPr>
              <a:t>• Sukhansh Mittal: </a:t>
            </a:r>
            <a:r>
              <a:rPr sz="1200">
                <a:solidFill>
                  <a:srgbClr val="334155"/>
                </a:solidFill>
                <a:latin typeface="Calibri"/>
              </a:rPr>
              <a:t>smittal_be24@thapar.edu | +91-9877366331</a:t>
            </a:r>
          </a:p>
          <a:p>
            <a:pPr>
              <a:spcAft>
                <a:spcPts val="400"/>
              </a:spcAft>
            </a:pPr>
            <a:r>
              <a:rPr b="1" sz="1200">
                <a:solidFill>
                  <a:srgbClr val="1E293B"/>
                </a:solidFill>
                <a:latin typeface="Calibri"/>
              </a:rPr>
              <a:t>• Lakkshya Jha: </a:t>
            </a:r>
            <a:r>
              <a:rPr sz="1200">
                <a:solidFill>
                  <a:srgbClr val="334155"/>
                </a:solidFill>
                <a:latin typeface="Calibri"/>
              </a:rPr>
              <a:t>ljha_be24@thapar.edu | +91-9574875069</a:t>
            </a:r>
          </a:p>
          <a:p>
            <a:pPr>
              <a:spcAft>
                <a:spcPts val="400"/>
              </a:spcAft>
            </a:pPr>
            <a:r>
              <a:rPr b="1" sz="1200">
                <a:solidFill>
                  <a:srgbClr val="1E293B"/>
                </a:solidFill>
                <a:latin typeface="Calibri"/>
              </a:rPr>
              <a:t>• Vikramaditya Singh: </a:t>
            </a:r>
            <a:r>
              <a:rPr sz="1200">
                <a:solidFill>
                  <a:srgbClr val="334155"/>
                </a:solidFill>
                <a:latin typeface="Calibri"/>
              </a:rPr>
              <a:t>vsingh1_be24@thapar.edu | +91-6239134155</a:t>
            </a:r>
          </a:p>
          <a:p>
            <a:pPr>
              <a:spcBef>
                <a:spcPts val="1200"/>
              </a:spcBef>
            </a:pPr>
            <a:r>
              <a:rPr b="1" sz="1300">
                <a:solidFill>
                  <a:srgbClr val="0284C7"/>
                </a:solidFill>
                <a:latin typeface="Calibri"/>
              </a:rPr>
              <a:t>🔗 GitHub Repository: </a:t>
            </a:r>
            <a:r>
              <a:rPr b="1" sz="1300">
                <a:solidFill>
                  <a:srgbClr val="1E293B"/>
                </a:solidFill>
                <a:latin typeface="Calibri"/>
              </a:rPr>
              <a:t>https://github.com/abhinav29102005/ultron</a:t>
            </a:r>
          </a:p>
        </p:txBody>
      </p:sp>
      <p:sp>
        <p:nvSpPr>
          <p:cNvPr id="30" name="Rounded Rectangle 29"/>
          <p:cNvSpPr/>
          <p:nvPr/>
        </p:nvSpPr>
        <p:spPr>
          <a:xfrm>
            <a:off x="777240" y="1463040"/>
            <a:ext cx="10607040" cy="41148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Team: 4 Bottle Codeka</a:t>
            </a:r>
          </a:p>
          <a:p>
            <a:pPr>
              <a:spcAft>
                <a:spcPts val="1400"/>
              </a:spcAft>
              <a:defRPr sz="1400" b="1">
                <a:solidFill>
                  <a:srgbClr val="1E293B"/>
                </a:solidFill>
                <a:latin typeface="Calibri"/>
              </a:defRPr>
            </a:pPr>
            <a:r>
              <a:t>Thapar Institute of Engineering &amp; Technology, Patiala</a:t>
            </a:r>
          </a:p>
          <a:p>
            <a:pPr>
              <a:spcAft>
                <a:spcPts val="400"/>
              </a:spcAft>
            </a:pPr>
            <a:r>
              <a:rPr b="1" sz="1200">
                <a:solidFill>
                  <a:srgbClr val="1E293B"/>
                </a:solidFill>
                <a:latin typeface="Calibri"/>
              </a:rPr>
              <a:t>• Abhinav Kumar Singh (Team Leader): </a:t>
            </a:r>
            <a:r>
              <a:rPr sz="1200">
                <a:solidFill>
                  <a:srgbClr val="334155"/>
                </a:solidFill>
                <a:latin typeface="Calibri"/>
              </a:rPr>
              <a:t>asingh2910.official@gmail.com | +91-6398779479</a:t>
            </a:r>
          </a:p>
          <a:p>
            <a:pPr>
              <a:spcAft>
                <a:spcPts val="400"/>
              </a:spcAft>
            </a:pPr>
            <a:r>
              <a:rPr b="1" sz="1200">
                <a:solidFill>
                  <a:srgbClr val="1E293B"/>
                </a:solidFill>
                <a:latin typeface="Calibri"/>
              </a:rPr>
              <a:t>• Sukhansh Mittal: </a:t>
            </a:r>
            <a:r>
              <a:rPr sz="1200">
                <a:solidFill>
                  <a:srgbClr val="334155"/>
                </a:solidFill>
                <a:latin typeface="Calibri"/>
              </a:rPr>
              <a:t>smittal_be24@thapar.edu | +91-9877366331</a:t>
            </a:r>
          </a:p>
          <a:p>
            <a:pPr>
              <a:spcAft>
                <a:spcPts val="400"/>
              </a:spcAft>
            </a:pPr>
            <a:r>
              <a:rPr b="1" sz="1200">
                <a:solidFill>
                  <a:srgbClr val="1E293B"/>
                </a:solidFill>
                <a:latin typeface="Calibri"/>
              </a:rPr>
              <a:t>• Lakkshya Jha: </a:t>
            </a:r>
            <a:r>
              <a:rPr sz="1200">
                <a:solidFill>
                  <a:srgbClr val="334155"/>
                </a:solidFill>
                <a:latin typeface="Calibri"/>
              </a:rPr>
              <a:t>ljha_be24@thapar.edu | +91-9574875069</a:t>
            </a:r>
          </a:p>
          <a:p>
            <a:pPr>
              <a:spcAft>
                <a:spcPts val="400"/>
              </a:spcAft>
            </a:pPr>
            <a:r>
              <a:rPr b="1" sz="1200">
                <a:solidFill>
                  <a:srgbClr val="1E293B"/>
                </a:solidFill>
                <a:latin typeface="Calibri"/>
              </a:rPr>
              <a:t>• Vikramaditya Singh: </a:t>
            </a:r>
            <a:r>
              <a:rPr sz="1200">
                <a:solidFill>
                  <a:srgbClr val="334155"/>
                </a:solidFill>
                <a:latin typeface="Calibri"/>
              </a:rPr>
              <a:t>vsingh1_be24@thapar.edu | +91-6239134155</a:t>
            </a:r>
          </a:p>
          <a:p>
            <a:pPr>
              <a:spcBef>
                <a:spcPts val="1200"/>
              </a:spcBef>
            </a:pPr>
            <a:r>
              <a:rPr b="1" sz="1300">
                <a:solidFill>
                  <a:srgbClr val="0284C7"/>
                </a:solidFill>
                <a:latin typeface="Calibri"/>
              </a:rPr>
              <a:t>🔗 GitHub Repository: </a:t>
            </a:r>
            <a:r>
              <a:rPr b="1" sz="1300">
                <a:solidFill>
                  <a:srgbClr val="1E293B"/>
                </a:solidFill>
                <a:latin typeface="Calibri"/>
              </a:rPr>
              <a:t>https://github.com/abhinav29102005/ultron</a:t>
            </a:r>
          </a:p>
        </p:txBody>
      </p:sp>
      <p:sp>
        <p:nvSpPr>
          <p:cNvPr id="31" name="Rounded Rectangle 30"/>
          <p:cNvSpPr/>
          <p:nvPr/>
        </p:nvSpPr>
        <p:spPr>
          <a:xfrm>
            <a:off x="777240" y="1463040"/>
            <a:ext cx="10607040" cy="41148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Team: 4 Bottle Codeka</a:t>
            </a:r>
          </a:p>
          <a:p>
            <a:pPr>
              <a:spcAft>
                <a:spcPts val="1400"/>
              </a:spcAft>
              <a:defRPr sz="1400" b="1">
                <a:solidFill>
                  <a:srgbClr val="1E293B"/>
                </a:solidFill>
                <a:latin typeface="Calibri"/>
              </a:defRPr>
            </a:pPr>
            <a:r>
              <a:t>Thapar Institute of Engineering &amp; Technology, Patiala</a:t>
            </a:r>
          </a:p>
          <a:p>
            <a:pPr>
              <a:spcAft>
                <a:spcPts val="400"/>
              </a:spcAft>
            </a:pPr>
            <a:r>
              <a:rPr b="1" sz="1200">
                <a:solidFill>
                  <a:srgbClr val="1E293B"/>
                </a:solidFill>
                <a:latin typeface="Calibri"/>
              </a:rPr>
              <a:t>• Abhinav Kumar Singh (Team Leader): </a:t>
            </a:r>
            <a:r>
              <a:rPr sz="1200">
                <a:solidFill>
                  <a:srgbClr val="334155"/>
                </a:solidFill>
                <a:latin typeface="Calibri"/>
              </a:rPr>
              <a:t>asingh2910.official@gmail.com | +91-6398779479</a:t>
            </a:r>
          </a:p>
          <a:p>
            <a:pPr>
              <a:spcAft>
                <a:spcPts val="400"/>
              </a:spcAft>
            </a:pPr>
            <a:r>
              <a:rPr b="1" sz="1200">
                <a:solidFill>
                  <a:srgbClr val="1E293B"/>
                </a:solidFill>
                <a:latin typeface="Calibri"/>
              </a:rPr>
              <a:t>• Sukhansh Mittal: </a:t>
            </a:r>
            <a:r>
              <a:rPr sz="1200">
                <a:solidFill>
                  <a:srgbClr val="334155"/>
                </a:solidFill>
                <a:latin typeface="Calibri"/>
              </a:rPr>
              <a:t>smittal_be24@thapar.edu | +91-9877366331</a:t>
            </a:r>
          </a:p>
          <a:p>
            <a:pPr>
              <a:spcAft>
                <a:spcPts val="400"/>
              </a:spcAft>
            </a:pPr>
            <a:r>
              <a:rPr b="1" sz="1200">
                <a:solidFill>
                  <a:srgbClr val="1E293B"/>
                </a:solidFill>
                <a:latin typeface="Calibri"/>
              </a:rPr>
              <a:t>• Lakkshya Jha: </a:t>
            </a:r>
            <a:r>
              <a:rPr sz="1200">
                <a:solidFill>
                  <a:srgbClr val="334155"/>
                </a:solidFill>
                <a:latin typeface="Calibri"/>
              </a:rPr>
              <a:t>ljha_be24@thapar.edu | +91-9574875069</a:t>
            </a:r>
          </a:p>
          <a:p>
            <a:pPr>
              <a:spcAft>
                <a:spcPts val="400"/>
              </a:spcAft>
            </a:pPr>
            <a:r>
              <a:rPr b="1" sz="1200">
                <a:solidFill>
                  <a:srgbClr val="1E293B"/>
                </a:solidFill>
                <a:latin typeface="Calibri"/>
              </a:rPr>
              <a:t>• Vikramaditya Singh: </a:t>
            </a:r>
            <a:r>
              <a:rPr sz="1200">
                <a:solidFill>
                  <a:srgbClr val="334155"/>
                </a:solidFill>
                <a:latin typeface="Calibri"/>
              </a:rPr>
              <a:t>vsingh1_be24@thapar.edu | +91-6239134155</a:t>
            </a:r>
          </a:p>
          <a:p>
            <a:pPr>
              <a:spcBef>
                <a:spcPts val="1200"/>
              </a:spcBef>
            </a:pPr>
            <a:r>
              <a:rPr b="1" sz="1300">
                <a:solidFill>
                  <a:srgbClr val="0284C7"/>
                </a:solidFill>
                <a:latin typeface="Calibri"/>
              </a:rPr>
              <a:t>🔗 GitHub Repository: </a:t>
            </a:r>
            <a:r>
              <a:rPr b="1" sz="1300">
                <a:solidFill>
                  <a:srgbClr val="1E293B"/>
                </a:solidFill>
                <a:latin typeface="Calibri"/>
              </a:rPr>
              <a:t>https://github.com/abhinav29102005/ultron</a:t>
            </a:r>
          </a:p>
        </p:txBody>
      </p:sp>
      <p:sp>
        <p:nvSpPr>
          <p:cNvPr id="32" name="Rounded Rectangle 31"/>
          <p:cNvSpPr/>
          <p:nvPr/>
        </p:nvSpPr>
        <p:spPr>
          <a:xfrm>
            <a:off x="777240" y="1463040"/>
            <a:ext cx="10607040" cy="41148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704EA6"/>
                </a:solidFill>
                <a:latin typeface="Calibri"/>
              </a:defRPr>
            </a:pPr>
            <a:r>
              <a:t>Team: 4 Bottle Codeka</a:t>
            </a:r>
          </a:p>
          <a:p>
            <a:pPr>
              <a:spcAft>
                <a:spcPts val="1400"/>
              </a:spcAft>
              <a:defRPr sz="1400" b="1">
                <a:solidFill>
                  <a:srgbClr val="1E293B"/>
                </a:solidFill>
                <a:latin typeface="Calibri"/>
              </a:defRPr>
            </a:pPr>
            <a:r>
              <a:t>Thapar Institute of Engineering &amp; Technology, Patiala</a:t>
            </a:r>
          </a:p>
          <a:p>
            <a:pPr>
              <a:spcAft>
                <a:spcPts val="400"/>
              </a:spcAft>
            </a:pPr>
            <a:r>
              <a:rPr b="1" sz="1200">
                <a:solidFill>
                  <a:srgbClr val="1E293B"/>
                </a:solidFill>
                <a:latin typeface="Calibri"/>
              </a:rPr>
              <a:t>• Abhinav Kumar Singh (Team Leader): </a:t>
            </a:r>
            <a:r>
              <a:rPr sz="1200">
                <a:solidFill>
                  <a:srgbClr val="334155"/>
                </a:solidFill>
                <a:latin typeface="Calibri"/>
              </a:rPr>
              <a:t>asingh2910.official@gmail.com | +91-6398779479</a:t>
            </a:r>
          </a:p>
          <a:p>
            <a:pPr>
              <a:spcAft>
                <a:spcPts val="400"/>
              </a:spcAft>
            </a:pPr>
            <a:r>
              <a:rPr b="1" sz="1200">
                <a:solidFill>
                  <a:srgbClr val="1E293B"/>
                </a:solidFill>
                <a:latin typeface="Calibri"/>
              </a:rPr>
              <a:t>• Sukhansh Mittal: </a:t>
            </a:r>
            <a:r>
              <a:rPr sz="1200">
                <a:solidFill>
                  <a:srgbClr val="334155"/>
                </a:solidFill>
                <a:latin typeface="Calibri"/>
              </a:rPr>
              <a:t>smittal_be24@thapar.edu | +91-9877366331</a:t>
            </a:r>
          </a:p>
          <a:p>
            <a:pPr>
              <a:spcAft>
                <a:spcPts val="400"/>
              </a:spcAft>
            </a:pPr>
            <a:r>
              <a:rPr b="1" sz="1200">
                <a:solidFill>
                  <a:srgbClr val="1E293B"/>
                </a:solidFill>
                <a:latin typeface="Calibri"/>
              </a:rPr>
              <a:t>• Lakkshya Jha: </a:t>
            </a:r>
            <a:r>
              <a:rPr sz="1200">
                <a:solidFill>
                  <a:srgbClr val="334155"/>
                </a:solidFill>
                <a:latin typeface="Calibri"/>
              </a:rPr>
              <a:t>ljha_be24@thapar.edu | +91-9574875069</a:t>
            </a:r>
          </a:p>
          <a:p>
            <a:pPr>
              <a:spcAft>
                <a:spcPts val="400"/>
              </a:spcAft>
            </a:pPr>
            <a:r>
              <a:rPr b="1" sz="1200">
                <a:solidFill>
                  <a:srgbClr val="1E293B"/>
                </a:solidFill>
                <a:latin typeface="Calibri"/>
              </a:rPr>
              <a:t>• Vikramaditya Singh: </a:t>
            </a:r>
            <a:r>
              <a:rPr sz="1200">
                <a:solidFill>
                  <a:srgbClr val="334155"/>
                </a:solidFill>
                <a:latin typeface="Calibri"/>
              </a:rPr>
              <a:t>vsingh1_be24@thapar.edu | +91-6239134155</a:t>
            </a:r>
          </a:p>
          <a:p>
            <a:pPr>
              <a:spcBef>
                <a:spcPts val="1200"/>
              </a:spcBef>
            </a:pPr>
            <a:r>
              <a:rPr b="1" sz="1300">
                <a:solidFill>
                  <a:srgbClr val="0284C7"/>
                </a:solidFill>
                <a:latin typeface="Calibri"/>
              </a:rPr>
              <a:t>🔗 GitHub Repository: </a:t>
            </a:r>
            <a:r>
              <a:rPr b="1" sz="1300">
                <a:solidFill>
                  <a:srgbClr val="1E293B"/>
                </a:solidFill>
                <a:latin typeface="Calibri"/>
              </a:rPr>
              <a:t>https://github.com/abhinav29102005/ultron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