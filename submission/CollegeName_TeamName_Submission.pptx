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5" d="100"/>
          <a:sy n="85" d="100"/>
        </p:scale>
        <p:origin x="590"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CE9A8C-3F50-49F8-A835-316C22A1110D}" type="datetimeFigureOut">
              <a:rPr lang="en-IN" smtClean="0"/>
              <a:t>08-09-2026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3343F9-2D09-4642-A3BD-5BF627A067F3}" type="slidenum">
              <a:rPr lang="en-IN" smtClean="0"/>
              <a:t>‹#›</a:t>
            </a:fld>
            <a:endParaRPr lang="en-IN"/>
          </a:p>
        </p:txBody>
      </p:sp>
    </p:spTree>
    <p:extLst>
      <p:ext uri="{BB962C8B-B14F-4D97-AF65-F5344CB8AC3E}">
        <p14:creationId xmlns:p14="http://schemas.microsoft.com/office/powerpoint/2010/main" val="569163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slide for the 3rd edition of the PRISM Generative AI Hackathon. Replace the SAMSUNG PRISM pill with the official PRISM logo image if you have the asset. Confirm the academic year label (2026-27) before circulating.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Add the Google Form URL and a contact email before sharing. Edition 2 organising team for reference: Language AI - Sourabh Tiwari, Gaurav, Sanjeeth Pothireddy, Gorang Maniar; PRISM - Binny Lakra, Prakhar Chandrakar, Vishu Kumar; Kick-off and mentors - Giridhar Jakki, Deepraj Prabhakar Patkar (Language AI), Srimanu Prasad Nagaraju, Ashish Kumar (Tech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CFE64-7CE6-4299-B8FE-939866A3E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E4360C-492F-4E2E-B967-599B2BD31D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870CDB-78C3-4602-B35C-A826CBF20916}"/>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585EF81-E96A-4C8D-A4F0-A9DF05C49CC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FA2448-68BE-42AE-8001-48ECE62DC431}"/>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551206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C5E08-CE8A-45BE-8C3E-C04A49CC8A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FCCB0C-95AB-4F7A-955D-2DC18750BF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6DA85-2FDE-4136-B9F6-AF0965475E5A}"/>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99B0367-ACE7-48B9-82C8-A7BFD1F98E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09A210-6017-4F71-9E78-B2C329B4A7E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5812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AE6C5-6752-4963-B842-280808B201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FEA6DFC-697D-4605-86C0-8572E022BE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341469-A18C-498E-BACC-28BCBFE904BB}"/>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AED5D3B-1983-426F-A1AE-7470C43BB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35ABB1-45F2-4FEA-BB5A-3B053892DBC7}"/>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0265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AE-F142-401B-A5D1-4A52FF92CA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C7C9BD1-2876-4C52-83CF-1CBA9D931B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CE624D8-76A7-478F-ACA3-5749DEFD0E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29A939-0957-4E96-B38D-0B2E39D4137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C89D44E1-B8BA-490F-B30A-538CC4D48F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84BB79-7CA5-414E-B5B6-6A8E9AEE4A94}"/>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74354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86CE8-8BA4-4FB1-ACAA-E38F8ED7F74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570902-F321-482A-924A-FF9A87CA5D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5B6F67-E437-4FE8-851B-B016F33CFE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E7897-2D17-49F8-8762-68F8D5794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E8E8-43BB-400D-8934-6D6B21D3A5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DB6608-03F3-45EF-80BD-C6E305C07128}"/>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8" name="Footer Placeholder 7">
            <a:extLst>
              <a:ext uri="{FF2B5EF4-FFF2-40B4-BE49-F238E27FC236}">
                <a16:creationId xmlns:a16="http://schemas.microsoft.com/office/drawing/2014/main" id="{E665D75D-3AD4-4D0E-A5BC-9000973FD8E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706A546-DC61-467F-A112-3AC0277BB9A8}"/>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7166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C8549-E392-4F05-B762-B5370E51C92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059880-A67D-4A24-9138-E937AE75075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4" name="Footer Placeholder 3">
            <a:extLst>
              <a:ext uri="{FF2B5EF4-FFF2-40B4-BE49-F238E27FC236}">
                <a16:creationId xmlns:a16="http://schemas.microsoft.com/office/drawing/2014/main" id="{01BF6EC7-BFAB-4137-9343-C66B7829AB5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A6B929-B579-4261-8171-35357AE9A33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337294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BAFEDF-BA35-4A7C-9388-604C048D57D0}"/>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3" name="Footer Placeholder 2">
            <a:extLst>
              <a:ext uri="{FF2B5EF4-FFF2-40B4-BE49-F238E27FC236}">
                <a16:creationId xmlns:a16="http://schemas.microsoft.com/office/drawing/2014/main" id="{11C80271-5700-43CC-A9BA-B2AAB47B21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EA712EA-BE6D-4AE5-B09E-215DE5B0EE9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759072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A6235-A416-4C23-BE8E-8FC1CF0EC1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A2C36B-7DDF-4371-9F0A-6E5B64554F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3FA19A-E15E-47EA-B9B9-5F7FD0AA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E84724-CA93-4332-A03F-0909AC5249A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E403302F-D853-499A-BB91-3BD5366E67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4AD427-BF9D-4A47-AF08-E4983B90C65A}"/>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404118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1B540-7747-44F5-A3A4-69F051F363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4392B5-0943-4B18-9708-C9FA86F835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47DFA04-BB4C-4DC0-9831-EB32549F5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1BDBD-01E1-44D7-AB93-513FF196A2C4}"/>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D87D7BDB-9CCD-44F3-A4FB-D4BAE589BE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ABC8D8A-A70C-4D57-8271-DCF5EEFC33AE}"/>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12236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63EB-C66D-4D2D-9928-25D57CFDCDD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91A17B-5319-4265-82A2-5D286CFAFD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E972F85-7902-4426-947E-3509F7A06CB1}"/>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D08658F-7DA3-40F3-B6FA-CF740F858EB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6B0DE9-130B-4DA8-9A0C-06A295C9D82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481950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54594E2-CBC8-4A0C-A110-E3B5A301CF6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FBD2EA-CB7C-4CAB-855D-57F7919104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2348B0-3CBB-41FA-A8EC-5DFC833D7EC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1A7E08DA-D399-4DC8-89B1-C4EBC64DC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DA6177-D647-4C5F-BA43-C02A1390F47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8146870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634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E67A62-7E64-4BE9-8EDF-4904E871A0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CA73B9-1A82-4479-978C-9C873CC677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977FC6-3D78-48A7-A3DB-BFC7C0EA3E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7CDC877-1137-446E-919A-C66E31331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A258D39-C9B6-4DA9-9C05-38A0ECD4CE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5B04A4-2082-4D7E-8466-9BA22C990A78}" type="slidenum">
              <a:rPr lang="en-IN" smtClean="0"/>
              <a:t>‹#›</a:t>
            </a:fld>
            <a:endParaRPr lang="en-IN"/>
          </a:p>
        </p:txBody>
      </p:sp>
    </p:spTree>
    <p:extLst>
      <p:ext uri="{BB962C8B-B14F-4D97-AF65-F5344CB8AC3E}">
        <p14:creationId xmlns:p14="http://schemas.microsoft.com/office/powerpoint/2010/main" val="3279178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7240" y="676656"/>
            <a:ext cx="2423160" cy="347472"/>
          </a:xfrm>
          <a:prstGeom prst="roundRect">
            <a:avLst>
              <a:gd name="adj" fmla="val 50000"/>
            </a:avLst>
          </a:prstGeom>
          <a:solidFill>
            <a:srgbClr val="FFFFFF"/>
          </a:solidFill>
          <a:ln w="12700">
            <a:solidFill>
              <a:srgbClr val="D9D3F0"/>
            </a:solidFill>
            <a:prstDash val="solid"/>
          </a:ln>
        </p:spPr>
      </p:sp>
      <p:sp>
        <p:nvSpPr>
          <p:cNvPr id="3" name="Text 1"/>
          <p:cNvSpPr txBox="1"/>
          <p:nvPr/>
        </p:nvSpPr>
        <p:spPr>
          <a:xfrm>
            <a:off x="777240" y="676656"/>
            <a:ext cx="2423160" cy="347472"/>
          </a:xfrm>
          <a:prstGeom prst="rect">
            <a:avLst/>
          </a:prstGeom>
          <a:noFill/>
          <a:ln/>
        </p:spPr>
        <p:txBody>
          <a:bodyPr wrap="square" lIns="0" tIns="0" rIns="0" bIns="0" rtlCol="0" anchor="ctr"/>
          <a:lstStyle/>
          <a:p>
            <a:pPr marL="0" indent="0" algn="ctr">
              <a:buNone/>
            </a:pPr>
            <a:r>
              <a:rPr lang="en-US" sz="1100" b="1" kern="0" spc="110" dirty="0">
                <a:solidFill>
                  <a:srgbClr val="6D28D9"/>
                </a:solidFill>
                <a:latin typeface="Arial" pitchFamily="34" charset="0"/>
                <a:ea typeface="Arial" pitchFamily="34" charset="-122"/>
                <a:cs typeface="Arial" pitchFamily="34" charset="-120"/>
              </a:rPr>
              <a:t>SAMSUNG PRISM</a:t>
            </a:r>
            <a:endParaRPr lang="en-US" sz="1100" dirty="0"/>
          </a:p>
        </p:txBody>
      </p:sp>
      <p:sp>
        <p:nvSpPr>
          <p:cNvPr id="4" name="Text 2"/>
          <p:cNvSpPr txBox="1"/>
          <p:nvPr/>
        </p:nvSpPr>
        <p:spPr>
          <a:xfrm>
            <a:off x="777240" y="1207008"/>
            <a:ext cx="6126480" cy="749808"/>
          </a:xfrm>
          <a:prstGeom prst="rect">
            <a:avLst/>
          </a:prstGeom>
          <a:noFill/>
          <a:ln/>
        </p:spPr>
        <p:txBody>
          <a:bodyPr wrap="square" lIns="0" tIns="0" rIns="0" bIns="0" rtlCol="0" anchor="ctr"/>
          <a:lstStyle/>
          <a:p>
            <a:pPr marL="0" indent="0">
              <a:buNone/>
            </a:pPr>
            <a:r>
              <a:rPr lang="en-US" sz="5000" b="1" dirty="0">
                <a:solidFill>
                  <a:srgbClr val="14142B"/>
                </a:solidFill>
                <a:latin typeface="Arial" pitchFamily="34" charset="0"/>
                <a:ea typeface="Arial" pitchFamily="34" charset="-122"/>
                <a:cs typeface="Arial" pitchFamily="34" charset="-120"/>
              </a:rPr>
              <a:t>Generative AI</a:t>
            </a:r>
            <a:endParaRPr lang="en-US" sz="5000" dirty="0"/>
          </a:p>
        </p:txBody>
      </p:sp>
      <p:sp>
        <p:nvSpPr>
          <p:cNvPr id="5" name="Text 3"/>
          <p:cNvSpPr txBox="1"/>
          <p:nvPr/>
        </p:nvSpPr>
        <p:spPr>
          <a:xfrm>
            <a:off x="777240" y="1901952"/>
            <a:ext cx="6126480" cy="749808"/>
          </a:xfrm>
          <a:prstGeom prst="rect">
            <a:avLst/>
          </a:prstGeom>
          <a:noFill/>
          <a:ln/>
        </p:spPr>
        <p:txBody>
          <a:bodyPr wrap="square" lIns="0" tIns="0" rIns="0" bIns="0" rtlCol="0" anchor="ctr"/>
          <a:lstStyle/>
          <a:p>
            <a:pPr marL="0" indent="0">
              <a:buNone/>
            </a:pPr>
            <a:r>
              <a:rPr lang="en-US" sz="5000" b="1" dirty="0">
                <a:solidFill>
                  <a:srgbClr val="6D28D9"/>
                </a:solidFill>
                <a:latin typeface="Arial" pitchFamily="34" charset="0"/>
                <a:ea typeface="Arial" pitchFamily="34" charset="-122"/>
                <a:cs typeface="Arial" pitchFamily="34" charset="-120"/>
              </a:rPr>
              <a:t>Hackathon</a:t>
            </a:r>
            <a:endParaRPr lang="en-US" sz="5000" dirty="0"/>
          </a:p>
        </p:txBody>
      </p:sp>
      <p:sp>
        <p:nvSpPr>
          <p:cNvPr id="6" name="Text 4"/>
          <p:cNvSpPr txBox="1"/>
          <p:nvPr/>
        </p:nvSpPr>
        <p:spPr>
          <a:xfrm>
            <a:off x="777240" y="2724912"/>
            <a:ext cx="6126480" cy="457200"/>
          </a:xfrm>
          <a:prstGeom prst="rect">
            <a:avLst/>
          </a:prstGeom>
          <a:noFill/>
          <a:ln/>
        </p:spPr>
        <p:txBody>
          <a:bodyPr wrap="square" lIns="0" tIns="0" rIns="0" bIns="0" rtlCol="0" anchor="ctr"/>
          <a:lstStyle/>
          <a:p>
            <a:pPr marL="0" indent="0">
              <a:buNone/>
            </a:pPr>
            <a:r>
              <a:rPr lang="en-US" sz="2500" b="1" dirty="0">
                <a:solidFill>
                  <a:srgbClr val="14142B"/>
                </a:solidFill>
                <a:latin typeface="Arial" pitchFamily="34" charset="0"/>
                <a:ea typeface="Arial" pitchFamily="34" charset="-122"/>
                <a:cs typeface="Arial" pitchFamily="34" charset="-120"/>
              </a:rPr>
              <a:t>3rd Edition</a:t>
            </a:r>
            <a:r>
              <a:rPr lang="en-US" sz="2000" dirty="0">
                <a:solidFill>
                  <a:srgbClr val="63637E"/>
                </a:solidFill>
                <a:latin typeface="Calibri" pitchFamily="34" charset="0"/>
                <a:ea typeface="Calibri" pitchFamily="34" charset="-122"/>
                <a:cs typeface="Calibri" pitchFamily="34" charset="-120"/>
              </a:rPr>
              <a:t>   2026 – 27</a:t>
            </a:r>
            <a:endParaRPr lang="en-US" sz="2500" dirty="0"/>
          </a:p>
        </p:txBody>
      </p:sp>
      <p:sp>
        <p:nvSpPr>
          <p:cNvPr id="7" name="Text 5"/>
          <p:cNvSpPr txBox="1"/>
          <p:nvPr/>
        </p:nvSpPr>
        <p:spPr>
          <a:xfrm>
            <a:off x="777240" y="3291840"/>
            <a:ext cx="8046720" cy="3108960"/>
          </a:xfrm>
          <a:prstGeom prst="rect">
            <a:avLst/>
          </a:prstGeom>
          <a:noFill/>
          <a:ln/>
        </p:spPr>
        <p:txBody>
          <a:bodyPr wrap="square" lIns="0" tIns="0" rIns="0" bIns="0" rtlCol="0" anchor="t"/>
          <a:lstStyle/>
          <a:p>
            <a:pPr marL="177800" indent="-177800">
              <a:spcAft>
                <a:spcPts val="300"/>
              </a:spcAft>
              <a:buSzPct val="100000"/>
              <a:buChar char="•"/>
            </a:pPr>
            <a:r>
              <a:rPr b="1" sz="1250">
                <a:solidFill>
                  <a:srgbClr val="63637E"/>
                </a:solidFill>
                <a:latin typeface="Calibri"/>
              </a:rPr>
              <a:t>Theme ID - </a:t>
            </a:r>
            <a:r>
              <a:rPr b="1" sz="1250">
                <a:solidFill>
                  <a:srgbClr val="1E293B"/>
                </a:solidFill>
                <a:latin typeface="Calibri"/>
              </a:rPr>
              <a:t>Theme 4 (Streaming Live RAG)</a:t>
            </a:r>
          </a:p>
          <a:p>
            <a:pPr>
              <a:spcAft>
                <a:spcPts val="300"/>
              </a:spcAft>
            </a:pPr>
            <a:r>
              <a:rPr b="1" sz="1250">
                <a:solidFill>
                  <a:srgbClr val="63637E"/>
                </a:solidFill>
                <a:latin typeface="Calibri"/>
              </a:rPr>
              <a:t>Team Name - </a:t>
            </a:r>
            <a:r>
              <a:rPr b="1" sz="1250">
                <a:solidFill>
                  <a:srgbClr val="1E293B"/>
                </a:solidFill>
                <a:latin typeface="Calibri"/>
              </a:rPr>
              <a:t>4 Bottle Codeka</a:t>
            </a:r>
          </a:p>
          <a:p>
            <a:pPr>
              <a:spcAft>
                <a:spcPts val="300"/>
              </a:spcAft>
            </a:pPr>
            <a:r>
              <a:rPr b="1" sz="1250">
                <a:solidFill>
                  <a:srgbClr val="63637E"/>
                </a:solidFill>
                <a:latin typeface="Calibri"/>
              </a:rPr>
              <a:t>College Name - </a:t>
            </a:r>
            <a:r>
              <a:rPr b="0" sz="1250">
                <a:solidFill>
                  <a:srgbClr val="1E293B"/>
                </a:solidFill>
                <a:latin typeface="Calibri"/>
              </a:rPr>
              <a:t>Thapar Institute of Engineering &amp; Technology, Patiala</a:t>
            </a:r>
          </a:p>
          <a:p>
            <a:pPr>
              <a:spcAft>
                <a:spcPts val="300"/>
              </a:spcAft>
            </a:pPr>
            <a:r>
              <a:rPr b="1" sz="1250">
                <a:solidFill>
                  <a:srgbClr val="63637E"/>
                </a:solidFill>
                <a:latin typeface="Calibri"/>
              </a:rPr>
              <a:t>Member Name &amp; Email 1 - </a:t>
            </a:r>
            <a:r>
              <a:rPr b="0" sz="1250">
                <a:solidFill>
                  <a:srgbClr val="1E293B"/>
                </a:solidFill>
                <a:latin typeface="Calibri"/>
              </a:rPr>
              <a:t>Abhinav Kumar Singh (Lead) | asingh2910.official@gmail.com | 6398779479</a:t>
            </a:r>
          </a:p>
          <a:p>
            <a:pPr>
              <a:spcAft>
                <a:spcPts val="300"/>
              </a:spcAft>
            </a:pPr>
            <a:r>
              <a:rPr b="1" sz="1250">
                <a:solidFill>
                  <a:srgbClr val="63637E"/>
                </a:solidFill>
                <a:latin typeface="Calibri"/>
              </a:rPr>
              <a:t>Member Name &amp; Email 2 - </a:t>
            </a:r>
            <a:r>
              <a:rPr b="0" sz="1250">
                <a:solidFill>
                  <a:srgbClr val="1E293B"/>
                </a:solidFill>
                <a:latin typeface="Calibri"/>
              </a:rPr>
              <a:t>Sukhansh Mittal | smittal_be24@thapar.edu | 9877366331</a:t>
            </a:r>
          </a:p>
          <a:p>
            <a:pPr>
              <a:spcAft>
                <a:spcPts val="300"/>
              </a:spcAft>
            </a:pPr>
            <a:r>
              <a:rPr b="1" sz="1250">
                <a:solidFill>
                  <a:srgbClr val="63637E"/>
                </a:solidFill>
                <a:latin typeface="Calibri"/>
              </a:rPr>
              <a:t>Member Name &amp; Email 3 - </a:t>
            </a:r>
            <a:r>
              <a:rPr b="0" sz="1250">
                <a:solidFill>
                  <a:srgbClr val="1E293B"/>
                </a:solidFill>
                <a:latin typeface="Calibri"/>
              </a:rPr>
              <a:t>Lakkshya Jha | ljha_be24@thapar.edu | 9574875069</a:t>
            </a:r>
          </a:p>
          <a:p>
            <a:pPr>
              <a:spcAft>
                <a:spcPts val="300"/>
              </a:spcAft>
            </a:pPr>
            <a:r>
              <a:rPr b="1" sz="1250">
                <a:solidFill>
                  <a:srgbClr val="63637E"/>
                </a:solidFill>
                <a:latin typeface="Calibri"/>
              </a:rPr>
              <a:t>Member Name &amp; Email 4 - </a:t>
            </a:r>
            <a:r>
              <a:rPr b="0" sz="1250">
                <a:solidFill>
                  <a:srgbClr val="1E293B"/>
                </a:solidFill>
                <a:latin typeface="Calibri"/>
              </a:rPr>
              <a:t>Vikramaditya Singh | vsingh1_be24@thapar.edu | 6239134155</a:t>
            </a:r>
          </a:p>
          <a:p>
            <a:pPr>
              <a:spcAft>
                <a:spcPts val="300"/>
              </a:spcAft>
            </a:pPr>
            <a:r>
              <a:rPr b="1" sz="1250">
                <a:solidFill>
                  <a:srgbClr val="63637E"/>
                </a:solidFill>
                <a:latin typeface="Calibri"/>
              </a:rPr>
              <a:t>Submission Github link - </a:t>
            </a:r>
            <a:r>
              <a:rPr b="0" sz="1250">
                <a:solidFill>
                  <a:srgbClr val="1E293B"/>
                </a:solidFill>
                <a:latin typeface="Calibri"/>
              </a:rPr>
              <a:t>https://github.com/abhinav29102005/ultron</a:t>
            </a:r>
          </a:p>
        </p:txBody>
      </p:sp>
      <p:pic>
        <p:nvPicPr>
          <p:cNvPr id="14" name="Image 0" descr="hero_network.png"/>
          <p:cNvPicPr>
            <a:picLocks noChangeAspect="1"/>
          </p:cNvPicPr>
          <p:nvPr/>
        </p:nvPicPr>
        <p:blipFill>
          <a:blip r:embed="rId3"/>
          <a:stretch>
            <a:fillRect/>
          </a:stretch>
        </p:blipFill>
        <p:spPr>
          <a:xfrm>
            <a:off x="7059168" y="1051560"/>
            <a:ext cx="4572000" cy="4572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777240" y="365760"/>
            <a:ext cx="10607040" cy="914400"/>
          </a:xfrm>
        </p:spPr>
        <p:txBody>
          <a:bodyPr>
            <a:normAutofit/>
          </a:bodyPr>
          <a:lstStyle/>
          <a:p>
            <a:pPr>
              <a:defRPr sz="2800" b="1">
                <a:solidFill>
                  <a:srgbClr val="704EA6"/>
                </a:solidFill>
                <a:latin typeface="Calibri"/>
              </a:defRPr>
            </a:pPr>
            <a:r>
              <a:t>Theme 4: Streaming Live RAG (Real-Time Grounding &amp; Speculative Retrieval)</a:t>
            </a:r>
          </a:p>
        </p:txBody>
      </p:sp>
      <p:sp>
        <p:nvSpPr>
          <p:cNvPr id="3" name="Rounded Rectangle 2"/>
          <p:cNvSpPr/>
          <p:nvPr/>
        </p:nvSpPr>
        <p:spPr>
          <a:xfrm>
            <a:off x="777240" y="1463040"/>
            <a:ext cx="516636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DC2626"/>
                </a:solidFill>
                <a:latin typeface="Calibri"/>
              </a:defRPr>
            </a:pPr>
            <a:r>
              <a:t>The Live Conversational RAG Problem</a:t>
            </a:r>
          </a:p>
          <a:p>
            <a:pPr>
              <a:spcAft>
                <a:spcPts val="600"/>
              </a:spcAft>
            </a:pPr>
            <a:r>
              <a:rPr b="1" sz="1100">
                <a:solidFill>
                  <a:srgbClr val="1E293B"/>
                </a:solidFill>
                <a:latin typeface="Calibri"/>
              </a:rPr>
              <a:t>• Turn-Complete Bottleneck: </a:t>
            </a:r>
            <a:r>
              <a:rPr b="0" sz="1100">
                <a:solidFill>
                  <a:srgbClr val="334155"/>
                </a:solidFill>
                <a:latin typeface="Calibri"/>
              </a:rPr>
              <a:t>Traditional RAG waits for entire sentences to finish before initiating vector search, incurring 1,500ms–2,500ms TTFT delays that destroy natural voice pacing.</a:t>
            </a:r>
          </a:p>
          <a:p>
            <a:pPr>
              <a:spcAft>
                <a:spcPts val="600"/>
              </a:spcAft>
            </a:pPr>
            <a:r>
              <a:rPr b="1" sz="1100">
                <a:solidFill>
                  <a:srgbClr val="1E293B"/>
                </a:solidFill>
                <a:latin typeface="Calibri"/>
              </a:rPr>
              <a:t>• Mid-Utterance Corrections: </a:t>
            </a:r>
            <a:r>
              <a:rPr b="0" sz="1100">
                <a:solidFill>
                  <a:srgbClr val="334155"/>
                </a:solidFill>
                <a:latin typeface="Calibri"/>
              </a:rPr>
              <a:t>Human speech contains self-corrections ('Pune... wait, make that Mumbai'). Standard engines commit to the stale entity or retrieve contradictory chunks.</a:t>
            </a:r>
          </a:p>
          <a:p>
            <a:pPr>
              <a:spcAft>
                <a:spcPts val="600"/>
              </a:spcAft>
            </a:pPr>
            <a:r>
              <a:rPr b="1" sz="1100">
                <a:solidFill>
                  <a:srgbClr val="1E293B"/>
                </a:solidFill>
                <a:latin typeface="Calibri"/>
              </a:rPr>
              <a:t>• Context Discontinuity: </a:t>
            </a:r>
            <a:r>
              <a:rPr b="0" sz="1100">
                <a:solidFill>
                  <a:srgbClr val="334155"/>
                </a:solidFill>
                <a:latin typeface="Calibri"/>
              </a:rPr>
              <a:t>Follow-up questions contain ellipses &amp; anaphora ('What about for 50 people there?'). Systems drift away without cross-turn coreference resolution.</a:t>
            </a:r>
          </a:p>
          <a:p>
            <a:pPr>
              <a:spcAft>
                <a:spcPts val="600"/>
              </a:spcAft>
            </a:pPr>
            <a:r>
              <a:rPr b="1" sz="1100">
                <a:solidFill>
                  <a:srgbClr val="1E293B"/>
                </a:solidFill>
                <a:latin typeface="Calibri"/>
              </a:rPr>
              <a:t>• Audit Failure &amp; Hallucination: </a:t>
            </a:r>
            <a:r>
              <a:rPr b="0" sz="1100">
                <a:solidFill>
                  <a:srgbClr val="334155"/>
                </a:solidFill>
                <a:latin typeface="Calibri"/>
              </a:rPr>
              <a:t>Generic document-level tags fail enterprise audits; systems hallucinate when queries fall outside the corpus without strict uncertainty guarantees.</a:t>
            </a:r>
          </a:p>
        </p:txBody>
      </p:sp>
      <p:sp>
        <p:nvSpPr>
          <p:cNvPr id="4" name="Rounded Rectangle 3"/>
          <p:cNvSpPr/>
          <p:nvPr/>
        </p:nvSpPr>
        <p:spPr>
          <a:xfrm>
            <a:off x="6217920" y="1463040"/>
            <a:ext cx="516636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Ultron's Paradigm &amp; Hackathon Objectives</a:t>
            </a:r>
          </a:p>
          <a:p>
            <a:pPr>
              <a:spcAft>
                <a:spcPts val="600"/>
              </a:spcAft>
            </a:pPr>
            <a:r>
              <a:rPr b="1" sz="1100">
                <a:solidFill>
                  <a:srgbClr val="1E293B"/>
                </a:solidFill>
                <a:latin typeface="Calibri"/>
              </a:rPr>
              <a:t>• Speculative Early Triggering: </a:t>
            </a:r>
            <a:r>
              <a:rPr b="0" sz="1100">
                <a:solidFill>
                  <a:srgbClr val="334155"/>
                </a:solidFill>
                <a:latin typeface="Calibri"/>
              </a:rPr>
              <a:t>Analyzes the streaming token trajectory and fires hybrid retrieval at token 6–8, achieving +1,300ms time gain before utterance completion.</a:t>
            </a:r>
          </a:p>
          <a:p>
            <a:pPr>
              <a:spcAft>
                <a:spcPts val="600"/>
              </a:spcAft>
            </a:pPr>
            <a:r>
              <a:rPr b="1" sz="1100">
                <a:solidFill>
                  <a:srgbClr val="1E293B"/>
                </a:solidFill>
                <a:latin typeface="Calibri"/>
              </a:rPr>
              <a:t>• Intra-Stream Speculative Pivot: </a:t>
            </a:r>
            <a:r>
              <a:rPr b="0" sz="1100">
                <a:solidFill>
                  <a:srgbClr val="334155"/>
                </a:solidFill>
                <a:latin typeface="Calibri"/>
              </a:rPr>
              <a:t>Real-time diff tracking cancels in-flight vector searches upon detecting mid-sentence pivot keywords ('wait', 'actually'), re-dispatching instantly.</a:t>
            </a:r>
          </a:p>
          <a:p>
            <a:pPr>
              <a:spcAft>
                <a:spcPts val="600"/>
              </a:spcAft>
            </a:pPr>
            <a:r>
              <a:rPr b="1" sz="1100">
                <a:solidFill>
                  <a:srgbClr val="1E293B"/>
                </a:solidFill>
                <a:latin typeface="Calibri"/>
              </a:rPr>
              <a:t>• Session Lineage Refinement: </a:t>
            </a:r>
            <a:r>
              <a:rPr b="0" sz="1100">
                <a:solidFill>
                  <a:srgbClr val="334155"/>
                </a:solidFill>
                <a:latin typeface="Calibri"/>
              </a:rPr>
              <a:t>Coreference engine resolves anaphora &amp; deictic markers; Session Lineage tracks constraint mutations (Version 1 → Version 2).</a:t>
            </a:r>
          </a:p>
          <a:p>
            <a:pPr>
              <a:spcAft>
                <a:spcPts val="600"/>
              </a:spcAft>
            </a:pPr>
            <a:r>
              <a:rPr b="1" sz="1100">
                <a:solidFill>
                  <a:srgbClr val="1E293B"/>
                </a:solidFill>
                <a:latin typeface="Calibri"/>
              </a:rPr>
              <a:t>• Gate 0 Query Suppression: </a:t>
            </a:r>
            <a:r>
              <a:rPr b="0" sz="1100">
                <a:solidFill>
                  <a:srgbClr val="334155"/>
                </a:solidFill>
                <a:latin typeface="Calibri"/>
              </a:rPr>
              <a:t>Classifies pure formatting/summarization requests ('format into 2 bullets') and executes 0 corpus vector searches, saving 40% compute.</a:t>
            </a:r>
          </a:p>
          <a:p>
            <a:pPr>
              <a:spcAft>
                <a:spcPts val="600"/>
              </a:spcAft>
            </a:pPr>
            <a:r>
              <a:rPr b="1" sz="1100">
                <a:solidFill>
                  <a:srgbClr val="1E293B"/>
                </a:solidFill>
                <a:latin typeface="Calibri"/>
              </a:rPr>
              <a:t>• Verifiable Enterprise Grounding: </a:t>
            </a:r>
            <a:r>
              <a:rPr b="0" sz="1100">
                <a:solidFill>
                  <a:srgbClr val="334155"/>
                </a:solidFill>
                <a:latin typeface="Calibri"/>
              </a:rPr>
              <a:t>Exact section citations ('[Doc_POLICY §XX]') across 21 corporate policy sections with zero parametric hallucination.</a:t>
            </a:r>
          </a:p>
        </p:txBody>
      </p:sp>
      <p:sp>
        <p:nvSpPr>
          <p:cNvPr id="5" name="Rounded Rectangle 4"/>
          <p:cNvSpPr/>
          <p:nvPr/>
        </p:nvSpPr>
        <p:spPr>
          <a:xfrm>
            <a:off x="777240" y="1463040"/>
            <a:ext cx="516636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DC2626"/>
                </a:solidFill>
                <a:latin typeface="Calibri"/>
              </a:defRPr>
            </a:pPr>
            <a:r>
              <a:t>The Live Conversational RAG Problem</a:t>
            </a:r>
          </a:p>
          <a:p>
            <a:pPr>
              <a:spcAft>
                <a:spcPts val="600"/>
              </a:spcAft>
            </a:pPr>
            <a:r>
              <a:rPr b="1" sz="1100">
                <a:solidFill>
                  <a:srgbClr val="1E293B"/>
                </a:solidFill>
                <a:latin typeface="Calibri"/>
              </a:rPr>
              <a:t>• Turn-Complete Bottleneck: </a:t>
            </a:r>
            <a:r>
              <a:rPr b="0" sz="1100">
                <a:solidFill>
                  <a:srgbClr val="334155"/>
                </a:solidFill>
                <a:latin typeface="Calibri"/>
              </a:rPr>
              <a:t>Traditional RAG waits for entire sentences to finish before initiating vector search, incurring 1,500ms–2,500ms TTFT delays that destroy natural voice pacing.</a:t>
            </a:r>
          </a:p>
          <a:p>
            <a:pPr>
              <a:spcAft>
                <a:spcPts val="600"/>
              </a:spcAft>
            </a:pPr>
            <a:r>
              <a:rPr b="1" sz="1100">
                <a:solidFill>
                  <a:srgbClr val="1E293B"/>
                </a:solidFill>
                <a:latin typeface="Calibri"/>
              </a:rPr>
              <a:t>• Mid-Utterance Corrections: </a:t>
            </a:r>
            <a:r>
              <a:rPr b="0" sz="1100">
                <a:solidFill>
                  <a:srgbClr val="334155"/>
                </a:solidFill>
                <a:latin typeface="Calibri"/>
              </a:rPr>
              <a:t>Human speech contains self-corrections ('Pune... wait, make that Mumbai'). Standard engines commit to the stale entity or retrieve contradictory chunks.</a:t>
            </a:r>
          </a:p>
          <a:p>
            <a:pPr>
              <a:spcAft>
                <a:spcPts val="600"/>
              </a:spcAft>
            </a:pPr>
            <a:r>
              <a:rPr b="1" sz="1100">
                <a:solidFill>
                  <a:srgbClr val="1E293B"/>
                </a:solidFill>
                <a:latin typeface="Calibri"/>
              </a:rPr>
              <a:t>• Context Discontinuity: </a:t>
            </a:r>
            <a:r>
              <a:rPr b="0" sz="1100">
                <a:solidFill>
                  <a:srgbClr val="334155"/>
                </a:solidFill>
                <a:latin typeface="Calibri"/>
              </a:rPr>
              <a:t>Follow-up questions contain ellipses &amp; anaphora ('What about for 50 people there?'). Systems drift away without cross-turn coreference resolution.</a:t>
            </a:r>
          </a:p>
          <a:p>
            <a:pPr>
              <a:spcAft>
                <a:spcPts val="600"/>
              </a:spcAft>
            </a:pPr>
            <a:r>
              <a:rPr b="1" sz="1100">
                <a:solidFill>
                  <a:srgbClr val="1E293B"/>
                </a:solidFill>
                <a:latin typeface="Calibri"/>
              </a:rPr>
              <a:t>• Audit Failure &amp; Hallucination: </a:t>
            </a:r>
            <a:r>
              <a:rPr b="0" sz="1100">
                <a:solidFill>
                  <a:srgbClr val="334155"/>
                </a:solidFill>
                <a:latin typeface="Calibri"/>
              </a:rPr>
              <a:t>Generic document-level tags fail enterprise audits; systems hallucinate when queries fall outside the corpus without strict uncertainty guarantees.</a:t>
            </a:r>
          </a:p>
        </p:txBody>
      </p:sp>
      <p:sp>
        <p:nvSpPr>
          <p:cNvPr id="6" name="Rounded Rectangle 5"/>
          <p:cNvSpPr/>
          <p:nvPr/>
        </p:nvSpPr>
        <p:spPr>
          <a:xfrm>
            <a:off x="6217920" y="1463040"/>
            <a:ext cx="516636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Ultron's Paradigm &amp; Hackathon Objectives</a:t>
            </a:r>
          </a:p>
          <a:p>
            <a:pPr>
              <a:spcAft>
                <a:spcPts val="600"/>
              </a:spcAft>
            </a:pPr>
            <a:r>
              <a:rPr b="1" sz="1100">
                <a:solidFill>
                  <a:srgbClr val="1E293B"/>
                </a:solidFill>
                <a:latin typeface="Calibri"/>
              </a:rPr>
              <a:t>• Speculative Early Triggering: </a:t>
            </a:r>
            <a:r>
              <a:rPr b="0" sz="1100">
                <a:solidFill>
                  <a:srgbClr val="334155"/>
                </a:solidFill>
                <a:latin typeface="Calibri"/>
              </a:rPr>
              <a:t>Analyzes the streaming token trajectory and fires hybrid retrieval at token 6–8, achieving +1,300ms time gain before utterance completion.</a:t>
            </a:r>
          </a:p>
          <a:p>
            <a:pPr>
              <a:spcAft>
                <a:spcPts val="600"/>
              </a:spcAft>
            </a:pPr>
            <a:r>
              <a:rPr b="1" sz="1100">
                <a:solidFill>
                  <a:srgbClr val="1E293B"/>
                </a:solidFill>
                <a:latin typeface="Calibri"/>
              </a:rPr>
              <a:t>• Intra-Stream Speculative Pivot: </a:t>
            </a:r>
            <a:r>
              <a:rPr b="0" sz="1100">
                <a:solidFill>
                  <a:srgbClr val="334155"/>
                </a:solidFill>
                <a:latin typeface="Calibri"/>
              </a:rPr>
              <a:t>Real-time diff tracking cancels in-flight vector searches upon detecting mid-sentence pivot keywords ('wait', 'actually'), re-dispatching instantly.</a:t>
            </a:r>
          </a:p>
          <a:p>
            <a:pPr>
              <a:spcAft>
                <a:spcPts val="600"/>
              </a:spcAft>
            </a:pPr>
            <a:r>
              <a:rPr b="1" sz="1100">
                <a:solidFill>
                  <a:srgbClr val="1E293B"/>
                </a:solidFill>
                <a:latin typeface="Calibri"/>
              </a:rPr>
              <a:t>• Session Lineage Refinement: </a:t>
            </a:r>
            <a:r>
              <a:rPr b="0" sz="1100">
                <a:solidFill>
                  <a:srgbClr val="334155"/>
                </a:solidFill>
                <a:latin typeface="Calibri"/>
              </a:rPr>
              <a:t>Coreference engine resolves anaphora &amp; deictic markers; Session Lineage tracks constraint mutations (Version 1 → Version 2).</a:t>
            </a:r>
          </a:p>
          <a:p>
            <a:pPr>
              <a:spcAft>
                <a:spcPts val="600"/>
              </a:spcAft>
            </a:pPr>
            <a:r>
              <a:rPr b="1" sz="1100">
                <a:solidFill>
                  <a:srgbClr val="1E293B"/>
                </a:solidFill>
                <a:latin typeface="Calibri"/>
              </a:rPr>
              <a:t>• Gate 0 Query Suppression: </a:t>
            </a:r>
            <a:r>
              <a:rPr b="0" sz="1100">
                <a:solidFill>
                  <a:srgbClr val="334155"/>
                </a:solidFill>
                <a:latin typeface="Calibri"/>
              </a:rPr>
              <a:t>Classifies pure formatting/summarization requests ('format into 2 bullets') and executes 0 corpus vector searches, saving 40% compute.</a:t>
            </a:r>
          </a:p>
          <a:p>
            <a:pPr>
              <a:spcAft>
                <a:spcPts val="600"/>
              </a:spcAft>
            </a:pPr>
            <a:r>
              <a:rPr b="1" sz="1100">
                <a:solidFill>
                  <a:srgbClr val="1E293B"/>
                </a:solidFill>
                <a:latin typeface="Calibri"/>
              </a:rPr>
              <a:t>• Verifiable Enterprise Grounding: </a:t>
            </a:r>
            <a:r>
              <a:rPr b="0" sz="1100">
                <a:solidFill>
                  <a:srgbClr val="334155"/>
                </a:solidFill>
                <a:latin typeface="Calibri"/>
              </a:rPr>
              <a:t>Exact section citations ('[Doc_POLICY §XX]') across 21 corporate policy sections with zero parametric hallucination.</a:t>
            </a:r>
          </a:p>
        </p:txBody>
      </p:sp>
      <p:sp>
        <p:nvSpPr>
          <p:cNvPr id="7" name="Rounded Rectangle 6"/>
          <p:cNvSpPr/>
          <p:nvPr/>
        </p:nvSpPr>
        <p:spPr>
          <a:xfrm>
            <a:off x="777240" y="1463040"/>
            <a:ext cx="516636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DC2626"/>
                </a:solidFill>
                <a:latin typeface="Calibri"/>
              </a:defRPr>
            </a:pPr>
            <a:r>
              <a:t>The Live Conversational RAG Problem</a:t>
            </a:r>
          </a:p>
          <a:p>
            <a:pPr>
              <a:spcAft>
                <a:spcPts val="600"/>
              </a:spcAft>
            </a:pPr>
            <a:r>
              <a:rPr b="1" sz="1100">
                <a:solidFill>
                  <a:srgbClr val="1E293B"/>
                </a:solidFill>
                <a:latin typeface="Calibri"/>
              </a:rPr>
              <a:t>• Turn-Complete Bottleneck: </a:t>
            </a:r>
            <a:r>
              <a:rPr b="0" sz="1100">
                <a:solidFill>
                  <a:srgbClr val="334155"/>
                </a:solidFill>
                <a:latin typeface="Calibri"/>
              </a:rPr>
              <a:t>Traditional RAG waits for entire sentences to finish before initiating vector search, incurring 1,500ms–2,500ms TTFT delays that destroy natural voice pacing.</a:t>
            </a:r>
          </a:p>
          <a:p>
            <a:pPr>
              <a:spcAft>
                <a:spcPts val="600"/>
              </a:spcAft>
            </a:pPr>
            <a:r>
              <a:rPr b="1" sz="1100">
                <a:solidFill>
                  <a:srgbClr val="1E293B"/>
                </a:solidFill>
                <a:latin typeface="Calibri"/>
              </a:rPr>
              <a:t>• Mid-Utterance Corrections: </a:t>
            </a:r>
            <a:r>
              <a:rPr b="0" sz="1100">
                <a:solidFill>
                  <a:srgbClr val="334155"/>
                </a:solidFill>
                <a:latin typeface="Calibri"/>
              </a:rPr>
              <a:t>Human speech contains self-corrections ('Pune... wait, make that Mumbai'). Standard engines commit to the stale entity or retrieve contradictory chunks.</a:t>
            </a:r>
          </a:p>
          <a:p>
            <a:pPr>
              <a:spcAft>
                <a:spcPts val="600"/>
              </a:spcAft>
            </a:pPr>
            <a:r>
              <a:rPr b="1" sz="1100">
                <a:solidFill>
                  <a:srgbClr val="1E293B"/>
                </a:solidFill>
                <a:latin typeface="Calibri"/>
              </a:rPr>
              <a:t>• Context Discontinuity: </a:t>
            </a:r>
            <a:r>
              <a:rPr b="0" sz="1100">
                <a:solidFill>
                  <a:srgbClr val="334155"/>
                </a:solidFill>
                <a:latin typeface="Calibri"/>
              </a:rPr>
              <a:t>Follow-up questions contain ellipses &amp; anaphora ('What about for 50 people there?'). Systems drift away without cross-turn coreference resolution.</a:t>
            </a:r>
          </a:p>
          <a:p>
            <a:pPr>
              <a:spcAft>
                <a:spcPts val="600"/>
              </a:spcAft>
            </a:pPr>
            <a:r>
              <a:rPr b="1" sz="1100">
                <a:solidFill>
                  <a:srgbClr val="1E293B"/>
                </a:solidFill>
                <a:latin typeface="Calibri"/>
              </a:rPr>
              <a:t>• Audit Failure &amp; Hallucination: </a:t>
            </a:r>
            <a:r>
              <a:rPr b="0" sz="1100">
                <a:solidFill>
                  <a:srgbClr val="334155"/>
                </a:solidFill>
                <a:latin typeface="Calibri"/>
              </a:rPr>
              <a:t>Generic document-level tags fail enterprise audits; systems hallucinate when queries fall outside the corpus without strict uncertainty guarantees.</a:t>
            </a:r>
          </a:p>
        </p:txBody>
      </p:sp>
      <p:sp>
        <p:nvSpPr>
          <p:cNvPr id="8" name="Rounded Rectangle 7"/>
          <p:cNvSpPr/>
          <p:nvPr/>
        </p:nvSpPr>
        <p:spPr>
          <a:xfrm>
            <a:off x="6217920" y="1463040"/>
            <a:ext cx="516636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Ultron's Paradigm &amp; Hackathon Objectives</a:t>
            </a:r>
          </a:p>
          <a:p>
            <a:pPr>
              <a:spcAft>
                <a:spcPts val="600"/>
              </a:spcAft>
            </a:pPr>
            <a:r>
              <a:rPr b="1" sz="1100">
                <a:solidFill>
                  <a:srgbClr val="1E293B"/>
                </a:solidFill>
                <a:latin typeface="Calibri"/>
              </a:rPr>
              <a:t>• Speculative Early Triggering: </a:t>
            </a:r>
            <a:r>
              <a:rPr b="0" sz="1100">
                <a:solidFill>
                  <a:srgbClr val="334155"/>
                </a:solidFill>
                <a:latin typeface="Calibri"/>
              </a:rPr>
              <a:t>Analyzes the streaming token trajectory and fires hybrid retrieval at token 6–8, achieving +1,300ms time gain before utterance completion.</a:t>
            </a:r>
          </a:p>
          <a:p>
            <a:pPr>
              <a:spcAft>
                <a:spcPts val="600"/>
              </a:spcAft>
            </a:pPr>
            <a:r>
              <a:rPr b="1" sz="1100">
                <a:solidFill>
                  <a:srgbClr val="1E293B"/>
                </a:solidFill>
                <a:latin typeface="Calibri"/>
              </a:rPr>
              <a:t>• Intra-Stream Speculative Pivot: </a:t>
            </a:r>
            <a:r>
              <a:rPr b="0" sz="1100">
                <a:solidFill>
                  <a:srgbClr val="334155"/>
                </a:solidFill>
                <a:latin typeface="Calibri"/>
              </a:rPr>
              <a:t>Real-time diff tracking cancels in-flight vector searches upon detecting mid-sentence pivot keywords ('wait', 'actually'), re-dispatching instantly.</a:t>
            </a:r>
          </a:p>
          <a:p>
            <a:pPr>
              <a:spcAft>
                <a:spcPts val="600"/>
              </a:spcAft>
            </a:pPr>
            <a:r>
              <a:rPr b="1" sz="1100">
                <a:solidFill>
                  <a:srgbClr val="1E293B"/>
                </a:solidFill>
                <a:latin typeface="Calibri"/>
              </a:rPr>
              <a:t>• Session Lineage Refinement: </a:t>
            </a:r>
            <a:r>
              <a:rPr b="0" sz="1100">
                <a:solidFill>
                  <a:srgbClr val="334155"/>
                </a:solidFill>
                <a:latin typeface="Calibri"/>
              </a:rPr>
              <a:t>Coreference engine resolves anaphora &amp; deictic markers; Session Lineage tracks constraint mutations (Version 1 → Version 2).</a:t>
            </a:r>
          </a:p>
          <a:p>
            <a:pPr>
              <a:spcAft>
                <a:spcPts val="600"/>
              </a:spcAft>
            </a:pPr>
            <a:r>
              <a:rPr b="1" sz="1100">
                <a:solidFill>
                  <a:srgbClr val="1E293B"/>
                </a:solidFill>
                <a:latin typeface="Calibri"/>
              </a:rPr>
              <a:t>• Gate 0 Query Suppression: </a:t>
            </a:r>
            <a:r>
              <a:rPr b="0" sz="1100">
                <a:solidFill>
                  <a:srgbClr val="334155"/>
                </a:solidFill>
                <a:latin typeface="Calibri"/>
              </a:rPr>
              <a:t>Classifies pure formatting/summarization requests ('format into 2 bullets') and executes 0 corpus vector searches, saving 40% compute.</a:t>
            </a:r>
          </a:p>
          <a:p>
            <a:pPr>
              <a:spcAft>
                <a:spcPts val="600"/>
              </a:spcAft>
            </a:pPr>
            <a:r>
              <a:rPr b="1" sz="1100">
                <a:solidFill>
                  <a:srgbClr val="1E293B"/>
                </a:solidFill>
                <a:latin typeface="Calibri"/>
              </a:rPr>
              <a:t>• Verifiable Enterprise Grounding: </a:t>
            </a:r>
            <a:r>
              <a:rPr b="0" sz="1100">
                <a:solidFill>
                  <a:srgbClr val="334155"/>
                </a:solidFill>
                <a:latin typeface="Calibri"/>
              </a:rPr>
              <a:t>Exact section citations ('[Doc_POLICY §XX]') across 21 corporate policy sections with zero parametric hallucination.</a:t>
            </a:r>
          </a:p>
        </p:txBody>
      </p:sp>
    </p:spTree>
    <p:extLst>
      <p:ext uri="{BB962C8B-B14F-4D97-AF65-F5344CB8AC3E}">
        <p14:creationId xmlns:p14="http://schemas.microsoft.com/office/powerpoint/2010/main" val="256478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777240" y="365760"/>
            <a:ext cx="10607040" cy="914400"/>
          </a:xfrm>
        </p:spPr>
        <p:txBody>
          <a:bodyPr>
            <a:normAutofit/>
          </a:bodyPr>
          <a:lstStyle/>
          <a:p>
            <a:pPr>
              <a:defRPr sz="2800" b="1">
                <a:solidFill>
                  <a:srgbClr val="704EA6"/>
                </a:solidFill>
                <a:latin typeface="Calibri"/>
              </a:defRPr>
            </a:pPr>
            <a:r>
              <a:t>Existing Solutions &amp; Critical Industry Gaps</a:t>
            </a:r>
          </a:p>
        </p:txBody>
      </p:sp>
      <p:sp>
        <p:nvSpPr>
          <p:cNvPr id="3" name="Rounded Rectangle 2"/>
          <p:cNvSpPr/>
          <p:nvPr/>
        </p:nvSpPr>
        <p:spPr>
          <a:xfrm>
            <a:off x="777240" y="1463040"/>
            <a:ext cx="333756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475569"/>
                </a:solidFill>
                <a:latin typeface="Calibri"/>
              </a:defRPr>
            </a:pPr>
            <a:r>
              <a:t>1. Existing Approaches</a:t>
            </a:r>
          </a:p>
          <a:p>
            <a:pPr>
              <a:spcAft>
                <a:spcPts val="600"/>
              </a:spcAft>
            </a:pPr>
            <a:r>
              <a:rPr b="1" sz="1100">
                <a:solidFill>
                  <a:srgbClr val="1E293B"/>
                </a:solidFill>
                <a:latin typeface="Calibri"/>
              </a:rPr>
              <a:t>• Turn-Based RAG: </a:t>
            </a:r>
            <a:r>
              <a:rPr b="0" sz="1100">
                <a:solidFill>
                  <a:srgbClr val="334155"/>
                </a:solidFill>
                <a:latin typeface="Calibri"/>
              </a:rPr>
              <a:t>LangChain &amp; LlamaIndex wait for sentence boundaries before embedding generation; high user-perceived latency (1.8s+ TTFT).</a:t>
            </a:r>
          </a:p>
          <a:p>
            <a:pPr>
              <a:spcAft>
                <a:spcPts val="600"/>
              </a:spcAft>
            </a:pPr>
            <a:r>
              <a:rPr b="1" sz="1100">
                <a:solidFill>
                  <a:srgbClr val="1E293B"/>
                </a:solidFill>
                <a:latin typeface="Calibri"/>
              </a:rPr>
              <a:t>• Naive Token Streaming: </a:t>
            </a:r>
            <a:r>
              <a:rPr b="0" sz="1100">
                <a:solidFill>
                  <a:srgbClr val="334155"/>
                </a:solidFill>
                <a:latin typeface="Calibri"/>
              </a:rPr>
              <a:t>Streams only LLM token output; retrieval itself remains synchronous, blocking, and isolated.</a:t>
            </a:r>
          </a:p>
          <a:p>
            <a:pPr>
              <a:spcAft>
                <a:spcPts val="600"/>
              </a:spcAft>
            </a:pPr>
            <a:r>
              <a:rPr b="1" sz="1100">
                <a:solidFill>
                  <a:srgbClr val="1E293B"/>
                </a:solidFill>
                <a:latin typeface="Calibri"/>
              </a:rPr>
              <a:t>• Static Keyword Search: </a:t>
            </a:r>
            <a:r>
              <a:rPr b="0" sz="1100">
                <a:solidFill>
                  <a:srgbClr val="334155"/>
                </a:solidFill>
                <a:latin typeface="Calibri"/>
              </a:rPr>
              <a:t>Pure lexical search lacks semantic awareness and fails completely on coreference and anaphora.</a:t>
            </a:r>
          </a:p>
        </p:txBody>
      </p:sp>
      <p:sp>
        <p:nvSpPr>
          <p:cNvPr id="4" name="Rounded Rectangle 3"/>
          <p:cNvSpPr/>
          <p:nvPr/>
        </p:nvSpPr>
        <p:spPr>
          <a:xfrm>
            <a:off x="4389120" y="1463040"/>
            <a:ext cx="333756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DC2626"/>
                </a:solidFill>
                <a:latin typeface="Calibri"/>
              </a:defRPr>
            </a:pPr>
            <a:r>
              <a:t>2. Critical Industry Gaps</a:t>
            </a:r>
          </a:p>
          <a:p>
            <a:pPr>
              <a:spcAft>
                <a:spcPts val="600"/>
              </a:spcAft>
            </a:pPr>
            <a:r>
              <a:rPr b="1" sz="1100">
                <a:solidFill>
                  <a:srgbClr val="1E293B"/>
                </a:solidFill>
                <a:latin typeface="Calibri"/>
              </a:rPr>
              <a:t>• Gap 1: No Pre-Retrieval: </a:t>
            </a:r>
            <a:r>
              <a:rPr b="0" sz="1100">
                <a:solidFill>
                  <a:srgbClr val="334155"/>
                </a:solidFill>
                <a:latin typeface="Calibri"/>
              </a:rPr>
              <a:t>1,400ms+ of wasted dead air while the user is actively speaking.</a:t>
            </a:r>
          </a:p>
          <a:p>
            <a:pPr>
              <a:spcAft>
                <a:spcPts val="600"/>
              </a:spcAft>
            </a:pPr>
            <a:r>
              <a:rPr b="1" sz="1100">
                <a:solidFill>
                  <a:srgbClr val="1E293B"/>
                </a:solidFill>
                <a:latin typeface="Calibri"/>
              </a:rPr>
              <a:t>• Gap 2: In-Flight Blindness: </a:t>
            </a:r>
            <a:r>
              <a:rPr b="0" sz="1100">
                <a:solidFill>
                  <a:srgbClr val="334155"/>
                </a:solidFill>
                <a:latin typeface="Calibri"/>
              </a:rPr>
              <a:t>Zero ability to abort stale in-flight vector searches when users correct themselves mid-sentence.</a:t>
            </a:r>
          </a:p>
          <a:p>
            <a:pPr>
              <a:spcAft>
                <a:spcPts val="600"/>
              </a:spcAft>
            </a:pPr>
            <a:r>
              <a:rPr b="1" sz="1100">
                <a:solidFill>
                  <a:srgbClr val="1E293B"/>
                </a:solidFill>
                <a:latin typeface="Calibri"/>
              </a:rPr>
              <a:t>• Gap 3: Compute Waste: </a:t>
            </a:r>
            <a:r>
              <a:rPr b="0" sz="1100">
                <a:solidFill>
                  <a:srgbClr val="334155"/>
                </a:solidFill>
                <a:latin typeface="Calibri"/>
              </a:rPr>
              <a:t>Unnecessary vector searches executed on reformatting turns ('summarize this').</a:t>
            </a:r>
          </a:p>
          <a:p>
            <a:pPr>
              <a:spcAft>
                <a:spcPts val="600"/>
              </a:spcAft>
            </a:pPr>
            <a:r>
              <a:rPr b="1" sz="1100">
                <a:solidFill>
                  <a:srgbClr val="1E293B"/>
                </a:solidFill>
                <a:latin typeface="Calibri"/>
              </a:rPr>
              <a:t>• Gap 4: Citation Blindness: </a:t>
            </a:r>
            <a:r>
              <a:rPr b="0" sz="1100">
                <a:solidFill>
                  <a:srgbClr val="334155"/>
                </a:solidFill>
                <a:latin typeface="Calibri"/>
              </a:rPr>
              <a:t>Broad document-level references unable to survive rigorous enterprise compliance audits.</a:t>
            </a:r>
          </a:p>
        </p:txBody>
      </p:sp>
      <p:sp>
        <p:nvSpPr>
          <p:cNvPr id="5" name="Rounded Rectangle 4"/>
          <p:cNvSpPr/>
          <p:nvPr/>
        </p:nvSpPr>
        <p:spPr>
          <a:xfrm>
            <a:off x="8001000" y="1463040"/>
            <a:ext cx="338328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10B981"/>
                </a:solidFill>
                <a:latin typeface="Calibri"/>
              </a:defRPr>
            </a:pPr>
            <a:r>
              <a:t>3. Ultron's Breakthrough</a:t>
            </a:r>
          </a:p>
          <a:p>
            <a:pPr>
              <a:spcAft>
                <a:spcPts val="600"/>
              </a:spcAft>
            </a:pPr>
            <a:r>
              <a:rPr b="1" sz="1100">
                <a:solidFill>
                  <a:srgbClr val="1E293B"/>
                </a:solidFill>
                <a:latin typeface="Calibri"/>
              </a:rPr>
              <a:t>• Sub-50ms TTFT: </a:t>
            </a:r>
            <a:r>
              <a:rPr b="0" sz="1100">
                <a:solidFill>
                  <a:srgbClr val="334155"/>
                </a:solidFill>
                <a:latin typeface="Calibri"/>
              </a:rPr>
              <a:t>Measured 16.0ms TTFT via speculative pre-retrieval; +1,300ms retrieval head start.</a:t>
            </a:r>
          </a:p>
          <a:p>
            <a:pPr>
              <a:spcAft>
                <a:spcPts val="600"/>
              </a:spcAft>
            </a:pPr>
            <a:r>
              <a:rPr b="1" sz="1100">
                <a:solidFill>
                  <a:srgbClr val="1E293B"/>
                </a:solidFill>
                <a:latin typeface="Calibri"/>
              </a:rPr>
              <a:t>• Dynamic Pivot Engine: </a:t>
            </a:r>
            <a:r>
              <a:rPr b="0" sz="1100">
                <a:solidFill>
                  <a:srgbClr val="334155"/>
                </a:solidFill>
                <a:latin typeface="Calibri"/>
              </a:rPr>
              <a:t>Instant invalidation of stale cache on speech corrections ('Pune' -&gt; 'Mumbai').</a:t>
            </a:r>
          </a:p>
          <a:p>
            <a:pPr>
              <a:spcAft>
                <a:spcPts val="600"/>
              </a:spcAft>
            </a:pPr>
            <a:r>
              <a:rPr b="1" sz="1100">
                <a:solidFill>
                  <a:srgbClr val="1E293B"/>
                </a:solidFill>
                <a:latin typeface="Calibri"/>
              </a:rPr>
              <a:t>• Gate 0 Suppression: </a:t>
            </a:r>
            <a:r>
              <a:rPr b="0" sz="1100">
                <a:solidFill>
                  <a:srgbClr val="334155"/>
                </a:solidFill>
                <a:latin typeface="Calibri"/>
              </a:rPr>
              <a:t>0 vector queries executed on presentation formatting turns, preserving original citations.</a:t>
            </a:r>
          </a:p>
          <a:p>
            <a:pPr>
              <a:spcAft>
                <a:spcPts val="600"/>
              </a:spcAft>
            </a:pPr>
            <a:r>
              <a:rPr b="1" sz="1100">
                <a:solidFill>
                  <a:srgbClr val="1E293B"/>
                </a:solidFill>
                <a:latin typeface="Calibri"/>
              </a:rPr>
              <a:t>• Granular Grounding: </a:t>
            </a:r>
            <a:r>
              <a:rPr b="0" sz="1100">
                <a:solidFill>
                  <a:srgbClr val="334155"/>
                </a:solidFill>
                <a:latin typeface="Calibri"/>
              </a:rPr>
              <a:t>Every proposition attributed with exact clause citations ('[Doc_POLICY §16]').</a:t>
            </a:r>
          </a:p>
        </p:txBody>
      </p:sp>
      <p:sp>
        <p:nvSpPr>
          <p:cNvPr id="6" name="Rounded Rectangle 5"/>
          <p:cNvSpPr/>
          <p:nvPr/>
        </p:nvSpPr>
        <p:spPr>
          <a:xfrm>
            <a:off x="777240" y="1463040"/>
            <a:ext cx="333756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475569"/>
                </a:solidFill>
                <a:latin typeface="Calibri"/>
              </a:defRPr>
            </a:pPr>
            <a:r>
              <a:t>1. Existing Approaches</a:t>
            </a:r>
          </a:p>
          <a:p>
            <a:pPr>
              <a:spcAft>
                <a:spcPts val="600"/>
              </a:spcAft>
            </a:pPr>
            <a:r>
              <a:rPr b="1" sz="1100">
                <a:solidFill>
                  <a:srgbClr val="1E293B"/>
                </a:solidFill>
                <a:latin typeface="Calibri"/>
              </a:rPr>
              <a:t>• Turn-Based RAG: </a:t>
            </a:r>
            <a:r>
              <a:rPr b="0" sz="1100">
                <a:solidFill>
                  <a:srgbClr val="334155"/>
                </a:solidFill>
                <a:latin typeface="Calibri"/>
              </a:rPr>
              <a:t>LangChain &amp; LlamaIndex wait for sentence boundaries before embedding generation; high user-perceived latency (1.8s+ TTFT).</a:t>
            </a:r>
          </a:p>
          <a:p>
            <a:pPr>
              <a:spcAft>
                <a:spcPts val="600"/>
              </a:spcAft>
            </a:pPr>
            <a:r>
              <a:rPr b="1" sz="1100">
                <a:solidFill>
                  <a:srgbClr val="1E293B"/>
                </a:solidFill>
                <a:latin typeface="Calibri"/>
              </a:rPr>
              <a:t>• Naive Token Streaming: </a:t>
            </a:r>
            <a:r>
              <a:rPr b="0" sz="1100">
                <a:solidFill>
                  <a:srgbClr val="334155"/>
                </a:solidFill>
                <a:latin typeface="Calibri"/>
              </a:rPr>
              <a:t>Streams only LLM token output; retrieval itself remains synchronous, blocking, and isolated.</a:t>
            </a:r>
          </a:p>
          <a:p>
            <a:pPr>
              <a:spcAft>
                <a:spcPts val="600"/>
              </a:spcAft>
            </a:pPr>
            <a:r>
              <a:rPr b="1" sz="1100">
                <a:solidFill>
                  <a:srgbClr val="1E293B"/>
                </a:solidFill>
                <a:latin typeface="Calibri"/>
              </a:rPr>
              <a:t>• Static Keyword Search: </a:t>
            </a:r>
            <a:r>
              <a:rPr b="0" sz="1100">
                <a:solidFill>
                  <a:srgbClr val="334155"/>
                </a:solidFill>
                <a:latin typeface="Calibri"/>
              </a:rPr>
              <a:t>Pure lexical search lacks semantic awareness and fails completely on coreference and anaphora.</a:t>
            </a:r>
          </a:p>
        </p:txBody>
      </p:sp>
      <p:sp>
        <p:nvSpPr>
          <p:cNvPr id="7" name="Rounded Rectangle 6"/>
          <p:cNvSpPr/>
          <p:nvPr/>
        </p:nvSpPr>
        <p:spPr>
          <a:xfrm>
            <a:off x="4389120" y="1463040"/>
            <a:ext cx="333756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DC2626"/>
                </a:solidFill>
                <a:latin typeface="Calibri"/>
              </a:defRPr>
            </a:pPr>
            <a:r>
              <a:t>2. Critical Industry Gaps</a:t>
            </a:r>
          </a:p>
          <a:p>
            <a:pPr>
              <a:spcAft>
                <a:spcPts val="600"/>
              </a:spcAft>
            </a:pPr>
            <a:r>
              <a:rPr b="1" sz="1100">
                <a:solidFill>
                  <a:srgbClr val="1E293B"/>
                </a:solidFill>
                <a:latin typeface="Calibri"/>
              </a:rPr>
              <a:t>• Gap 1: No Pre-Retrieval: </a:t>
            </a:r>
            <a:r>
              <a:rPr b="0" sz="1100">
                <a:solidFill>
                  <a:srgbClr val="334155"/>
                </a:solidFill>
                <a:latin typeface="Calibri"/>
              </a:rPr>
              <a:t>1,400ms+ of wasted dead air while the user is actively speaking.</a:t>
            </a:r>
          </a:p>
          <a:p>
            <a:pPr>
              <a:spcAft>
                <a:spcPts val="600"/>
              </a:spcAft>
            </a:pPr>
            <a:r>
              <a:rPr b="1" sz="1100">
                <a:solidFill>
                  <a:srgbClr val="1E293B"/>
                </a:solidFill>
                <a:latin typeface="Calibri"/>
              </a:rPr>
              <a:t>• Gap 2: In-Flight Blindness: </a:t>
            </a:r>
            <a:r>
              <a:rPr b="0" sz="1100">
                <a:solidFill>
                  <a:srgbClr val="334155"/>
                </a:solidFill>
                <a:latin typeface="Calibri"/>
              </a:rPr>
              <a:t>Zero ability to abort stale in-flight vector searches when users correct themselves mid-sentence.</a:t>
            </a:r>
          </a:p>
          <a:p>
            <a:pPr>
              <a:spcAft>
                <a:spcPts val="600"/>
              </a:spcAft>
            </a:pPr>
            <a:r>
              <a:rPr b="1" sz="1100">
                <a:solidFill>
                  <a:srgbClr val="1E293B"/>
                </a:solidFill>
                <a:latin typeface="Calibri"/>
              </a:rPr>
              <a:t>• Gap 3: Compute Waste: </a:t>
            </a:r>
            <a:r>
              <a:rPr b="0" sz="1100">
                <a:solidFill>
                  <a:srgbClr val="334155"/>
                </a:solidFill>
                <a:latin typeface="Calibri"/>
              </a:rPr>
              <a:t>Unnecessary vector searches executed on reformatting turns ('summarize this').</a:t>
            </a:r>
          </a:p>
          <a:p>
            <a:pPr>
              <a:spcAft>
                <a:spcPts val="600"/>
              </a:spcAft>
            </a:pPr>
            <a:r>
              <a:rPr b="1" sz="1100">
                <a:solidFill>
                  <a:srgbClr val="1E293B"/>
                </a:solidFill>
                <a:latin typeface="Calibri"/>
              </a:rPr>
              <a:t>• Gap 4: Citation Blindness: </a:t>
            </a:r>
            <a:r>
              <a:rPr b="0" sz="1100">
                <a:solidFill>
                  <a:srgbClr val="334155"/>
                </a:solidFill>
                <a:latin typeface="Calibri"/>
              </a:rPr>
              <a:t>Broad document-level references unable to survive rigorous enterprise compliance audits.</a:t>
            </a:r>
          </a:p>
        </p:txBody>
      </p:sp>
      <p:sp>
        <p:nvSpPr>
          <p:cNvPr id="8" name="Rounded Rectangle 7"/>
          <p:cNvSpPr/>
          <p:nvPr/>
        </p:nvSpPr>
        <p:spPr>
          <a:xfrm>
            <a:off x="8001000" y="1463040"/>
            <a:ext cx="338328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10B981"/>
                </a:solidFill>
                <a:latin typeface="Calibri"/>
              </a:defRPr>
            </a:pPr>
            <a:r>
              <a:t>3. Ultron's Breakthrough</a:t>
            </a:r>
          </a:p>
          <a:p>
            <a:pPr>
              <a:spcAft>
                <a:spcPts val="600"/>
              </a:spcAft>
            </a:pPr>
            <a:r>
              <a:rPr b="1" sz="1100">
                <a:solidFill>
                  <a:srgbClr val="1E293B"/>
                </a:solidFill>
                <a:latin typeface="Calibri"/>
              </a:rPr>
              <a:t>• Sub-50ms TTFT: </a:t>
            </a:r>
            <a:r>
              <a:rPr b="0" sz="1100">
                <a:solidFill>
                  <a:srgbClr val="334155"/>
                </a:solidFill>
                <a:latin typeface="Calibri"/>
              </a:rPr>
              <a:t>Measured 16.0ms TTFT via speculative pre-retrieval; +1,300ms retrieval head start.</a:t>
            </a:r>
          </a:p>
          <a:p>
            <a:pPr>
              <a:spcAft>
                <a:spcPts val="600"/>
              </a:spcAft>
            </a:pPr>
            <a:r>
              <a:rPr b="1" sz="1100">
                <a:solidFill>
                  <a:srgbClr val="1E293B"/>
                </a:solidFill>
                <a:latin typeface="Calibri"/>
              </a:rPr>
              <a:t>• Dynamic Pivot Engine: </a:t>
            </a:r>
            <a:r>
              <a:rPr b="0" sz="1100">
                <a:solidFill>
                  <a:srgbClr val="334155"/>
                </a:solidFill>
                <a:latin typeface="Calibri"/>
              </a:rPr>
              <a:t>Instant invalidation of stale cache on speech corrections ('Pune' -&gt; 'Mumbai').</a:t>
            </a:r>
          </a:p>
          <a:p>
            <a:pPr>
              <a:spcAft>
                <a:spcPts val="600"/>
              </a:spcAft>
            </a:pPr>
            <a:r>
              <a:rPr b="1" sz="1100">
                <a:solidFill>
                  <a:srgbClr val="1E293B"/>
                </a:solidFill>
                <a:latin typeface="Calibri"/>
              </a:rPr>
              <a:t>• Gate 0 Suppression: </a:t>
            </a:r>
            <a:r>
              <a:rPr b="0" sz="1100">
                <a:solidFill>
                  <a:srgbClr val="334155"/>
                </a:solidFill>
                <a:latin typeface="Calibri"/>
              </a:rPr>
              <a:t>0 vector queries executed on presentation formatting turns, preserving original citations.</a:t>
            </a:r>
          </a:p>
          <a:p>
            <a:pPr>
              <a:spcAft>
                <a:spcPts val="600"/>
              </a:spcAft>
            </a:pPr>
            <a:r>
              <a:rPr b="1" sz="1100">
                <a:solidFill>
                  <a:srgbClr val="1E293B"/>
                </a:solidFill>
                <a:latin typeface="Calibri"/>
              </a:rPr>
              <a:t>• Granular Grounding: </a:t>
            </a:r>
            <a:r>
              <a:rPr b="0" sz="1100">
                <a:solidFill>
                  <a:srgbClr val="334155"/>
                </a:solidFill>
                <a:latin typeface="Calibri"/>
              </a:rPr>
              <a:t>Every proposition attributed with exact clause citations ('[Doc_POLICY §16]').</a:t>
            </a:r>
          </a:p>
        </p:txBody>
      </p:sp>
      <p:sp>
        <p:nvSpPr>
          <p:cNvPr id="9" name="Rounded Rectangle 8"/>
          <p:cNvSpPr/>
          <p:nvPr/>
        </p:nvSpPr>
        <p:spPr>
          <a:xfrm>
            <a:off x="777240" y="1463040"/>
            <a:ext cx="333756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475569"/>
                </a:solidFill>
                <a:latin typeface="Calibri"/>
              </a:defRPr>
            </a:pPr>
            <a:r>
              <a:t>1. Existing Approaches</a:t>
            </a:r>
          </a:p>
          <a:p>
            <a:pPr>
              <a:spcAft>
                <a:spcPts val="600"/>
              </a:spcAft>
            </a:pPr>
            <a:r>
              <a:rPr b="1" sz="1100">
                <a:solidFill>
                  <a:srgbClr val="1E293B"/>
                </a:solidFill>
                <a:latin typeface="Calibri"/>
              </a:rPr>
              <a:t>• Turn-Based RAG: </a:t>
            </a:r>
            <a:r>
              <a:rPr b="0" sz="1100">
                <a:solidFill>
                  <a:srgbClr val="334155"/>
                </a:solidFill>
                <a:latin typeface="Calibri"/>
              </a:rPr>
              <a:t>LangChain &amp; LlamaIndex wait for sentence boundaries before embedding generation; high user-perceived latency (1.8s+ TTFT).</a:t>
            </a:r>
          </a:p>
          <a:p>
            <a:pPr>
              <a:spcAft>
                <a:spcPts val="600"/>
              </a:spcAft>
            </a:pPr>
            <a:r>
              <a:rPr b="1" sz="1100">
                <a:solidFill>
                  <a:srgbClr val="1E293B"/>
                </a:solidFill>
                <a:latin typeface="Calibri"/>
              </a:rPr>
              <a:t>• Naive Token Streaming: </a:t>
            </a:r>
            <a:r>
              <a:rPr b="0" sz="1100">
                <a:solidFill>
                  <a:srgbClr val="334155"/>
                </a:solidFill>
                <a:latin typeface="Calibri"/>
              </a:rPr>
              <a:t>Streams only LLM token output; retrieval itself remains synchronous, blocking, and isolated.</a:t>
            </a:r>
          </a:p>
          <a:p>
            <a:pPr>
              <a:spcAft>
                <a:spcPts val="600"/>
              </a:spcAft>
            </a:pPr>
            <a:r>
              <a:rPr b="1" sz="1100">
                <a:solidFill>
                  <a:srgbClr val="1E293B"/>
                </a:solidFill>
                <a:latin typeface="Calibri"/>
              </a:rPr>
              <a:t>• Static Keyword Search: </a:t>
            </a:r>
            <a:r>
              <a:rPr b="0" sz="1100">
                <a:solidFill>
                  <a:srgbClr val="334155"/>
                </a:solidFill>
                <a:latin typeface="Calibri"/>
              </a:rPr>
              <a:t>Pure lexical search lacks semantic awareness and fails completely on coreference and anaphora.</a:t>
            </a:r>
          </a:p>
        </p:txBody>
      </p:sp>
      <p:sp>
        <p:nvSpPr>
          <p:cNvPr id="10" name="Rounded Rectangle 9"/>
          <p:cNvSpPr/>
          <p:nvPr/>
        </p:nvSpPr>
        <p:spPr>
          <a:xfrm>
            <a:off x="4389120" y="1463040"/>
            <a:ext cx="333756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DC2626"/>
                </a:solidFill>
                <a:latin typeface="Calibri"/>
              </a:defRPr>
            </a:pPr>
            <a:r>
              <a:t>2. Critical Industry Gaps</a:t>
            </a:r>
          </a:p>
          <a:p>
            <a:pPr>
              <a:spcAft>
                <a:spcPts val="600"/>
              </a:spcAft>
            </a:pPr>
            <a:r>
              <a:rPr b="1" sz="1100">
                <a:solidFill>
                  <a:srgbClr val="1E293B"/>
                </a:solidFill>
                <a:latin typeface="Calibri"/>
              </a:rPr>
              <a:t>• Gap 1: No Pre-Retrieval: </a:t>
            </a:r>
            <a:r>
              <a:rPr b="0" sz="1100">
                <a:solidFill>
                  <a:srgbClr val="334155"/>
                </a:solidFill>
                <a:latin typeface="Calibri"/>
              </a:rPr>
              <a:t>1,400ms+ of wasted dead air while the user is actively speaking.</a:t>
            </a:r>
          </a:p>
          <a:p>
            <a:pPr>
              <a:spcAft>
                <a:spcPts val="600"/>
              </a:spcAft>
            </a:pPr>
            <a:r>
              <a:rPr b="1" sz="1100">
                <a:solidFill>
                  <a:srgbClr val="1E293B"/>
                </a:solidFill>
                <a:latin typeface="Calibri"/>
              </a:rPr>
              <a:t>• Gap 2: In-Flight Blindness: </a:t>
            </a:r>
            <a:r>
              <a:rPr b="0" sz="1100">
                <a:solidFill>
                  <a:srgbClr val="334155"/>
                </a:solidFill>
                <a:latin typeface="Calibri"/>
              </a:rPr>
              <a:t>Zero ability to abort stale in-flight vector searches when users correct themselves mid-sentence.</a:t>
            </a:r>
          </a:p>
          <a:p>
            <a:pPr>
              <a:spcAft>
                <a:spcPts val="600"/>
              </a:spcAft>
            </a:pPr>
            <a:r>
              <a:rPr b="1" sz="1100">
                <a:solidFill>
                  <a:srgbClr val="1E293B"/>
                </a:solidFill>
                <a:latin typeface="Calibri"/>
              </a:rPr>
              <a:t>• Gap 3: Compute Waste: </a:t>
            </a:r>
            <a:r>
              <a:rPr b="0" sz="1100">
                <a:solidFill>
                  <a:srgbClr val="334155"/>
                </a:solidFill>
                <a:latin typeface="Calibri"/>
              </a:rPr>
              <a:t>Unnecessary vector searches executed on reformatting turns ('summarize this').</a:t>
            </a:r>
          </a:p>
          <a:p>
            <a:pPr>
              <a:spcAft>
                <a:spcPts val="600"/>
              </a:spcAft>
            </a:pPr>
            <a:r>
              <a:rPr b="1" sz="1100">
                <a:solidFill>
                  <a:srgbClr val="1E293B"/>
                </a:solidFill>
                <a:latin typeface="Calibri"/>
              </a:rPr>
              <a:t>• Gap 4: Citation Blindness: </a:t>
            </a:r>
            <a:r>
              <a:rPr b="0" sz="1100">
                <a:solidFill>
                  <a:srgbClr val="334155"/>
                </a:solidFill>
                <a:latin typeface="Calibri"/>
              </a:rPr>
              <a:t>Broad document-level references unable to survive rigorous enterprise compliance audits.</a:t>
            </a:r>
          </a:p>
        </p:txBody>
      </p:sp>
      <p:sp>
        <p:nvSpPr>
          <p:cNvPr id="11" name="Rounded Rectangle 10"/>
          <p:cNvSpPr/>
          <p:nvPr/>
        </p:nvSpPr>
        <p:spPr>
          <a:xfrm>
            <a:off x="8001000" y="1463040"/>
            <a:ext cx="338328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10B981"/>
                </a:solidFill>
                <a:latin typeface="Calibri"/>
              </a:defRPr>
            </a:pPr>
            <a:r>
              <a:t>3. Ultron's Breakthrough</a:t>
            </a:r>
          </a:p>
          <a:p>
            <a:pPr>
              <a:spcAft>
                <a:spcPts val="600"/>
              </a:spcAft>
            </a:pPr>
            <a:r>
              <a:rPr b="1" sz="1100">
                <a:solidFill>
                  <a:srgbClr val="1E293B"/>
                </a:solidFill>
                <a:latin typeface="Calibri"/>
              </a:rPr>
              <a:t>• Sub-50ms TTFT: </a:t>
            </a:r>
            <a:r>
              <a:rPr b="0" sz="1100">
                <a:solidFill>
                  <a:srgbClr val="334155"/>
                </a:solidFill>
                <a:latin typeface="Calibri"/>
              </a:rPr>
              <a:t>Measured 16.0ms TTFT via speculative pre-retrieval; +1,300ms retrieval head start.</a:t>
            </a:r>
          </a:p>
          <a:p>
            <a:pPr>
              <a:spcAft>
                <a:spcPts val="600"/>
              </a:spcAft>
            </a:pPr>
            <a:r>
              <a:rPr b="1" sz="1100">
                <a:solidFill>
                  <a:srgbClr val="1E293B"/>
                </a:solidFill>
                <a:latin typeface="Calibri"/>
              </a:rPr>
              <a:t>• Dynamic Pivot Engine: </a:t>
            </a:r>
            <a:r>
              <a:rPr b="0" sz="1100">
                <a:solidFill>
                  <a:srgbClr val="334155"/>
                </a:solidFill>
                <a:latin typeface="Calibri"/>
              </a:rPr>
              <a:t>Instant invalidation of stale cache on speech corrections ('Pune' -&gt; 'Mumbai').</a:t>
            </a:r>
          </a:p>
          <a:p>
            <a:pPr>
              <a:spcAft>
                <a:spcPts val="600"/>
              </a:spcAft>
            </a:pPr>
            <a:r>
              <a:rPr b="1" sz="1100">
                <a:solidFill>
                  <a:srgbClr val="1E293B"/>
                </a:solidFill>
                <a:latin typeface="Calibri"/>
              </a:rPr>
              <a:t>• Gate 0 Suppression: </a:t>
            </a:r>
            <a:r>
              <a:rPr b="0" sz="1100">
                <a:solidFill>
                  <a:srgbClr val="334155"/>
                </a:solidFill>
                <a:latin typeface="Calibri"/>
              </a:rPr>
              <a:t>0 vector queries executed on presentation formatting turns, preserving original citations.</a:t>
            </a:r>
          </a:p>
          <a:p>
            <a:pPr>
              <a:spcAft>
                <a:spcPts val="600"/>
              </a:spcAft>
            </a:pPr>
            <a:r>
              <a:rPr b="1" sz="1100">
                <a:solidFill>
                  <a:srgbClr val="1E293B"/>
                </a:solidFill>
                <a:latin typeface="Calibri"/>
              </a:rPr>
              <a:t>• Granular Grounding: </a:t>
            </a:r>
            <a:r>
              <a:rPr b="0" sz="1100">
                <a:solidFill>
                  <a:srgbClr val="334155"/>
                </a:solidFill>
                <a:latin typeface="Calibri"/>
              </a:rPr>
              <a:t>Every proposition attributed with exact clause citations ('[Doc_POLICY §16]').</a:t>
            </a:r>
          </a:p>
        </p:txBody>
      </p:sp>
    </p:spTree>
    <p:extLst>
      <p:ext uri="{BB962C8B-B14F-4D97-AF65-F5344CB8AC3E}">
        <p14:creationId xmlns:p14="http://schemas.microsoft.com/office/powerpoint/2010/main" val="15499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777240" y="365760"/>
            <a:ext cx="10607040" cy="914400"/>
          </a:xfrm>
        </p:spPr>
        <p:txBody>
          <a:bodyPr/>
          <a:lstStyle/>
          <a:p>
            <a:pPr>
              <a:defRPr sz="2800" b="1">
                <a:solidFill>
                  <a:srgbClr val="704EA6"/>
                </a:solidFill>
                <a:latin typeface="Calibri"/>
              </a:defRPr>
            </a:pPr>
            <a:r>
              <a:t>Our Solutions &amp; Architecture Diagram</a:t>
            </a:r>
          </a:p>
        </p:txBody>
      </p:sp>
      <p:pic>
        <p:nvPicPr>
          <p:cNvPr id="3" name="Picture 2" descr="architecture_diagram.png"/>
          <p:cNvPicPr>
            <a:picLocks noChangeAspect="1"/>
          </p:cNvPicPr>
          <p:nvPr/>
        </p:nvPicPr>
        <p:blipFill>
          <a:blip r:embed="rId3"/>
          <a:stretch>
            <a:fillRect/>
          </a:stretch>
        </p:blipFill>
        <p:spPr>
          <a:xfrm>
            <a:off x="777240" y="1371600"/>
            <a:ext cx="10607040" cy="4846320"/>
          </a:xfrm>
          <a:prstGeom prst="rect">
            <a:avLst/>
          </a:prstGeom>
        </p:spPr>
      </p:pic>
      <p:pic>
        <p:nvPicPr>
          <p:cNvPr id="4" name="Picture 3" descr="image.png"/>
          <p:cNvPicPr>
            <a:picLocks noChangeAspect="1"/>
          </p:cNvPicPr>
          <p:nvPr/>
        </p:nvPicPr>
        <p:blipFill>
          <a:blip r:embed="rId3"/>
          <a:stretch>
            <a:fillRect/>
          </a:stretch>
        </p:blipFill>
        <p:spPr>
          <a:xfrm>
            <a:off x="777240" y="1371600"/>
            <a:ext cx="10607040" cy="4846320"/>
          </a:xfrm>
          <a:prstGeom prst="rect">
            <a:avLst/>
          </a:prstGeom>
        </p:spPr>
      </p:pic>
      <p:pic>
        <p:nvPicPr>
          <p:cNvPr id="5" name="Picture 4" descr="image.png"/>
          <p:cNvPicPr>
            <a:picLocks noChangeAspect="1"/>
          </p:cNvPicPr>
          <p:nvPr/>
        </p:nvPicPr>
        <p:blipFill>
          <a:blip r:embed="rId3"/>
          <a:stretch>
            <a:fillRect/>
          </a:stretch>
        </p:blipFill>
        <p:spPr>
          <a:xfrm>
            <a:off x="777240" y="1371600"/>
            <a:ext cx="10607040" cy="4846320"/>
          </a:xfrm>
          <a:prstGeom prst="rect">
            <a:avLst/>
          </a:prstGeom>
        </p:spPr>
      </p:pic>
    </p:spTree>
    <p:extLst>
      <p:ext uri="{BB962C8B-B14F-4D97-AF65-F5344CB8AC3E}">
        <p14:creationId xmlns:p14="http://schemas.microsoft.com/office/powerpoint/2010/main" val="257978907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777240" y="365760"/>
            <a:ext cx="10607040" cy="914400"/>
          </a:xfrm>
        </p:spPr>
        <p:txBody>
          <a:bodyPr/>
          <a:lstStyle/>
          <a:p>
            <a:pPr>
              <a:defRPr sz="2800" b="1">
                <a:solidFill>
                  <a:srgbClr val="704EA6"/>
                </a:solidFill>
                <a:latin typeface="Calibri"/>
              </a:defRPr>
            </a:pPr>
            <a:r>
              <a:t>Demo &amp; Product Walkthrough (Gates G1 – G9 Verified)</a:t>
            </a:r>
          </a:p>
        </p:txBody>
      </p:sp>
      <p:sp>
        <p:nvSpPr>
          <p:cNvPr id="3" name="Rounded Rectangle 2"/>
          <p:cNvSpPr/>
          <p:nvPr/>
        </p:nvSpPr>
        <p:spPr>
          <a:xfrm>
            <a:off x="777240" y="1417320"/>
            <a:ext cx="5029200" cy="489204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9-Scene Verification Showcase</a:t>
            </a:r>
          </a:p>
          <a:p>
            <a:pPr>
              <a:spcAft>
                <a:spcPts val="600"/>
              </a:spcAft>
            </a:pPr>
            <a:r>
              <a:rPr b="1" sz="1100">
                <a:solidFill>
                  <a:srgbClr val="1E293B"/>
                </a:solidFill>
                <a:latin typeface="Calibri"/>
              </a:rPr>
              <a:t>• Scene 1 (G1-G9 Harness): </a:t>
            </a:r>
            <a:r>
              <a:rPr b="0" sz="1100">
                <a:solidFill>
                  <a:srgbClr val="334155"/>
                </a:solidFill>
                <a:latin typeface="Calibri"/>
              </a:rPr>
              <a:t>Automated test harness validating all hackathon evaluation criteria.</a:t>
            </a:r>
          </a:p>
          <a:p>
            <a:pPr>
              <a:spcAft>
                <a:spcPts val="600"/>
              </a:spcAft>
            </a:pPr>
            <a:r>
              <a:rPr b="1" sz="1100">
                <a:solidFill>
                  <a:srgbClr val="1E293B"/>
                </a:solidFill>
                <a:latin typeface="Calibri"/>
              </a:rPr>
              <a:t>• Scene 2 (Early Trigger): </a:t>
            </a:r>
            <a:r>
              <a:rPr b="0" sz="1100">
                <a:solidFill>
                  <a:srgbClr val="334155"/>
                </a:solidFill>
                <a:latin typeface="Calibri"/>
              </a:rPr>
              <a:t>Query triggered at token 7; +1,300ms time gain with 16ms TTFT.</a:t>
            </a:r>
          </a:p>
          <a:p>
            <a:pPr>
              <a:spcAft>
                <a:spcPts val="600"/>
              </a:spcAft>
            </a:pPr>
            <a:r>
              <a:rPr b="1" sz="1100">
                <a:solidFill>
                  <a:srgbClr val="1E293B"/>
                </a:solidFill>
                <a:latin typeface="Calibri"/>
              </a:rPr>
              <a:t>• Scene 3 (Compound Intent): </a:t>
            </a:r>
            <a:r>
              <a:rPr b="0" sz="1100">
                <a:solidFill>
                  <a:srgbClr val="334155"/>
                </a:solidFill>
                <a:latin typeface="Calibri"/>
              </a:rPr>
              <a:t>Parallel retrieval across 3 orthogonal corporate policy sections.</a:t>
            </a:r>
          </a:p>
          <a:p>
            <a:pPr>
              <a:spcAft>
                <a:spcPts val="600"/>
              </a:spcAft>
            </a:pPr>
            <a:r>
              <a:rPr b="1" sz="1100">
                <a:solidFill>
                  <a:srgbClr val="1E293B"/>
                </a:solidFill>
                <a:latin typeface="Calibri"/>
              </a:rPr>
              <a:t>• Scene 4 (Context Continuity): </a:t>
            </a:r>
            <a:r>
              <a:rPr b="0" sz="1100">
                <a:solidFill>
                  <a:srgbClr val="334155"/>
                </a:solidFill>
                <a:latin typeface="Calibri"/>
              </a:rPr>
              <a:t>Resolves 'there' and 'for 50 people' across turns without context drift.</a:t>
            </a:r>
          </a:p>
          <a:p>
            <a:pPr>
              <a:spcAft>
                <a:spcPts val="600"/>
              </a:spcAft>
            </a:pPr>
            <a:r>
              <a:rPr b="1" sz="1100">
                <a:solidFill>
                  <a:srgbClr val="1E293B"/>
                </a:solidFill>
                <a:latin typeface="Calibri"/>
              </a:rPr>
              <a:t>• Scene 5 (Intra-Stream Pivot): </a:t>
            </a:r>
            <a:r>
              <a:rPr b="0" sz="1100">
                <a:solidFill>
                  <a:srgbClr val="334155"/>
                </a:solidFill>
                <a:latin typeface="Calibri"/>
              </a:rPr>
              <a:t>'Pune... wait, make that Mumbai' -&gt; cache invalidated, pivoted to Mumbai.</a:t>
            </a:r>
          </a:p>
          <a:p>
            <a:pPr>
              <a:spcAft>
                <a:spcPts val="600"/>
              </a:spcAft>
            </a:pPr>
            <a:r>
              <a:rPr b="1" sz="1100">
                <a:solidFill>
                  <a:srgbClr val="1E293B"/>
                </a:solidFill>
                <a:latin typeface="Calibri"/>
              </a:rPr>
              <a:t>• Scene 6 (Session Refinement): </a:t>
            </a:r>
            <a:r>
              <a:rPr b="0" sz="1100">
                <a:solidFill>
                  <a:srgbClr val="334155"/>
                </a:solidFill>
                <a:latin typeface="Calibri"/>
              </a:rPr>
              <a:t>Domestic travel baseline mutated with international delta -&gt; Version 2 state.</a:t>
            </a:r>
          </a:p>
          <a:p>
            <a:pPr>
              <a:spcAft>
                <a:spcPts val="600"/>
              </a:spcAft>
            </a:pPr>
            <a:r>
              <a:rPr b="1" sz="1100">
                <a:solidFill>
                  <a:srgbClr val="1E293B"/>
                </a:solidFill>
                <a:latin typeface="Calibri"/>
              </a:rPr>
              <a:t>• Scene 7 (Gate 0 Suppression): </a:t>
            </a:r>
            <a:r>
              <a:rPr b="0" sz="1100">
                <a:solidFill>
                  <a:srgbClr val="334155"/>
                </a:solidFill>
                <a:latin typeface="Calibri"/>
              </a:rPr>
              <a:t>'Format into 2 bullet points' -&gt; 0 corpus vector queries dispatched.</a:t>
            </a:r>
          </a:p>
          <a:p>
            <a:pPr>
              <a:spcAft>
                <a:spcPts val="600"/>
              </a:spcAft>
            </a:pPr>
            <a:r>
              <a:rPr b="1" sz="1100">
                <a:solidFill>
                  <a:srgbClr val="1E293B"/>
                </a:solidFill>
                <a:latin typeface="Calibri"/>
              </a:rPr>
              <a:t>• Scene 8 (Negative Control): </a:t>
            </a:r>
            <a:r>
              <a:rPr b="0" sz="1100">
                <a:solidFill>
                  <a:srgbClr val="334155"/>
                </a:solidFill>
                <a:latin typeface="Calibri"/>
              </a:rPr>
              <a:t>Out-of-corpus query -&gt; explicit uncertainty, 0 hallucinations.</a:t>
            </a:r>
          </a:p>
          <a:p>
            <a:pPr>
              <a:spcAft>
                <a:spcPts val="600"/>
              </a:spcAft>
            </a:pPr>
            <a:r>
              <a:rPr b="1" sz="1100">
                <a:solidFill>
                  <a:srgbClr val="1E293B"/>
                </a:solidFill>
                <a:latin typeface="Calibri"/>
              </a:rPr>
              <a:t>• Scene 9 (Telemetry HUD): </a:t>
            </a:r>
            <a:r>
              <a:rPr b="0" sz="1100">
                <a:solidFill>
                  <a:srgbClr val="334155"/>
                </a:solidFill>
                <a:latin typeface="Calibri"/>
              </a:rPr>
              <a:t>Live HUD measuring TTFT, latency, token budgets, and citation lineage.</a:t>
            </a:r>
          </a:p>
        </p:txBody>
      </p:sp>
      <p:pic>
        <p:nvPicPr>
          <p:cNvPr id="4" name="Picture 3" descr="demo_telemetry_hud.png"/>
          <p:cNvPicPr>
            <a:picLocks noChangeAspect="1"/>
          </p:cNvPicPr>
          <p:nvPr/>
        </p:nvPicPr>
        <p:blipFill>
          <a:blip r:embed="rId2"/>
          <a:stretch>
            <a:fillRect/>
          </a:stretch>
        </p:blipFill>
        <p:spPr>
          <a:xfrm>
            <a:off x="5989320" y="1417320"/>
            <a:ext cx="5394960" cy="4892040"/>
          </a:xfrm>
          <a:prstGeom prst="rect">
            <a:avLst/>
          </a:prstGeom>
        </p:spPr>
      </p:pic>
      <p:pic>
        <p:nvPicPr>
          <p:cNvPr id="5" name="Picture 4" descr="technical_gates_showcase.png"/>
          <p:cNvPicPr>
            <a:picLocks noChangeAspect="1"/>
          </p:cNvPicPr>
          <p:nvPr/>
        </p:nvPicPr>
        <p:blipFill>
          <a:blip r:embed="rId3"/>
          <a:stretch>
            <a:fillRect/>
          </a:stretch>
        </p:blipFill>
        <p:spPr>
          <a:xfrm>
            <a:off x="777240" y="1325880"/>
            <a:ext cx="10607040" cy="4050791"/>
          </a:xfrm>
          <a:prstGeom prst="rect">
            <a:avLst/>
          </a:prstGeom>
        </p:spPr>
      </p:pic>
      <p:sp>
        <p:nvSpPr>
          <p:cNvPr id="6" name="Rounded Rectangle 5"/>
          <p:cNvSpPr/>
          <p:nvPr/>
        </p:nvSpPr>
        <p:spPr>
          <a:xfrm>
            <a:off x="777240" y="5486400"/>
            <a:ext cx="10607040" cy="10515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200"/>
              </a:spcAft>
              <a:defRPr sz="1100" b="1">
                <a:solidFill>
                  <a:srgbClr val="704EA6"/>
                </a:solidFill>
                <a:latin typeface="Calibri"/>
              </a:defRPr>
            </a:pPr>
            <a:r>
              <a:t>Live Interactive Demonstration &amp; Automated Verification Harness</a:t>
            </a:r>
          </a:p>
          <a:p>
            <a:pPr>
              <a:spcAft>
                <a:spcPts val="200"/>
              </a:spcAft>
              <a:defRPr sz="950">
                <a:solidFill>
                  <a:srgbClr val="334155"/>
                </a:solidFill>
                <a:latin typeface="Calibri"/>
              </a:defRPr>
            </a:pPr>
            <a:r>
              <a:t>⚡ 9 End-to-End Scenarios: Speculative Early Trigger (+1,300ms) │ Compound Multi-Intent (3 parallel) │ Context Continuity │ Intra-Stream Pivot │ Session Refinement (V1-&gt;V2) │ Gate 0 Suppression (0 queries) │ Sub-50ms TTFT (16ms)</a:t>
            </a:r>
          </a:p>
          <a:p>
            <a:pPr>
              <a:defRPr sz="1000" b="1">
                <a:solidFill>
                  <a:srgbClr val="0284C7"/>
                </a:solidFill>
                <a:latin typeface="Calibri"/>
              </a:defRPr>
            </a:pPr>
            <a:r>
              <a:t>🖥️ Run Interactive Recording: python3 run.py --cli -&gt; type /demo (manual step mode with [ENTER] between scenes) or python3 run.py demo --auto</a:t>
            </a:r>
          </a:p>
        </p:txBody>
      </p:sp>
      <p:pic>
        <p:nvPicPr>
          <p:cNvPr id="7" name="Picture 6" descr="terminal_full_framed.png"/>
          <p:cNvPicPr>
            <a:picLocks noChangeAspect="1"/>
          </p:cNvPicPr>
          <p:nvPr/>
        </p:nvPicPr>
        <p:blipFill>
          <a:blip r:embed="rId4"/>
          <a:stretch>
            <a:fillRect/>
          </a:stretch>
        </p:blipFill>
        <p:spPr>
          <a:xfrm>
            <a:off x="777240" y="1325880"/>
            <a:ext cx="10607040" cy="4425696"/>
          </a:xfrm>
          <a:prstGeom prst="rect">
            <a:avLst/>
          </a:prstGeom>
        </p:spPr>
      </p:pic>
      <p:sp>
        <p:nvSpPr>
          <p:cNvPr id="8" name="Rounded Rectangle 7"/>
          <p:cNvSpPr/>
          <p:nvPr/>
        </p:nvSpPr>
        <p:spPr>
          <a:xfrm>
            <a:off x="777240" y="5833872"/>
            <a:ext cx="10607040" cy="749808"/>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100"/>
              </a:spcAft>
              <a:defRPr sz="1050" b="1">
                <a:solidFill>
                  <a:srgbClr val="704EA6"/>
                </a:solidFill>
                <a:latin typeface="Calibri"/>
              </a:defRPr>
            </a:pPr>
            <a:r>
              <a:t>Live Interactive Demonstration &amp; Automated Verification Harness</a:t>
            </a:r>
          </a:p>
          <a:p>
            <a:pPr>
              <a:defRPr sz="1000" b="1">
                <a:solidFill>
                  <a:srgbClr val="0284C7"/>
                </a:solidFill>
                <a:latin typeface="Calibri"/>
              </a:defRPr>
            </a:pPr>
            <a:r>
              <a:t>🖥️ Run Interactive Recording: python3 run.py --cli -&gt; type /demo (step mode with [ENTER] between scenes) or python3 run.py demo --auto   │   ✔ 100% G1–G9 Gates Green</a:t>
            </a:r>
          </a:p>
        </p:txBody>
      </p:sp>
    </p:spTree>
    <p:extLst>
      <p:ext uri="{BB962C8B-B14F-4D97-AF65-F5344CB8AC3E}">
        <p14:creationId xmlns:p14="http://schemas.microsoft.com/office/powerpoint/2010/main" val="11782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777240" y="365760"/>
            <a:ext cx="10607040" cy="914400"/>
          </a:xfrm>
        </p:spPr>
        <p:txBody>
          <a:bodyPr/>
          <a:lstStyle/>
          <a:p>
            <a:pPr>
              <a:defRPr sz="2800" b="1">
                <a:solidFill>
                  <a:srgbClr val="704EA6"/>
                </a:solidFill>
                <a:latin typeface="Calibri"/>
              </a:defRPr>
            </a:pPr>
            <a:r>
              <a:t>Tools and Technology Stack</a:t>
            </a:r>
            <a:endParaRPr lang="en-IN" b="1" dirty="0">
              <a:solidFill>
                <a:srgbClr val="704EA6"/>
              </a:solidFill>
            </a:endParaRPr>
          </a:p>
        </p:txBody>
      </p:sp>
      <p:sp>
        <p:nvSpPr>
          <p:cNvPr id="3" name="Rounded Rectangle 2"/>
          <p:cNvSpPr/>
          <p:nvPr/>
        </p:nvSpPr>
        <p:spPr>
          <a:xfrm>
            <a:off x="777240" y="1463040"/>
            <a:ext cx="5166360" cy="22402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Retrieval &amp; Semantic Indexing</a:t>
            </a:r>
          </a:p>
          <a:p>
            <a:pPr>
              <a:spcAft>
                <a:spcPts val="600"/>
              </a:spcAft>
            </a:pPr>
            <a:r>
              <a:rPr b="1" sz="1100">
                <a:solidFill>
                  <a:srgbClr val="1E293B"/>
                </a:solidFill>
                <a:latin typeface="Calibri"/>
              </a:rPr>
              <a:t>• BM25 Okapi: </a:t>
            </a:r>
            <a:r>
              <a:rPr b="0" sz="1100">
                <a:solidFill>
                  <a:srgbClr val="334155"/>
                </a:solidFill>
                <a:latin typeface="Calibri"/>
              </a:rPr>
              <a:t>Fast lexical inverted index for exact keywords, section tags, and numerical caps.</a:t>
            </a:r>
          </a:p>
          <a:p>
            <a:pPr>
              <a:spcAft>
                <a:spcPts val="600"/>
              </a:spcAft>
            </a:pPr>
            <a:r>
              <a:rPr b="1" sz="1100">
                <a:solidFill>
                  <a:srgbClr val="1E293B"/>
                </a:solidFill>
                <a:latin typeface="Calibri"/>
              </a:rPr>
              <a:t>• Dense Semantic Vectors: </a:t>
            </a:r>
            <a:r>
              <a:rPr b="0" sz="1100">
                <a:solidFill>
                  <a:srgbClr val="334155"/>
                </a:solidFill>
                <a:latin typeface="Calibri"/>
              </a:rPr>
              <a:t>High-dimensional vector embeddings for conceptual matching.</a:t>
            </a:r>
          </a:p>
          <a:p>
            <a:pPr>
              <a:spcAft>
                <a:spcPts val="600"/>
              </a:spcAft>
            </a:pPr>
            <a:r>
              <a:rPr b="1" sz="1100">
                <a:solidFill>
                  <a:srgbClr val="1E293B"/>
                </a:solidFill>
                <a:latin typeface="Calibri"/>
              </a:rPr>
              <a:t>• Reciprocal Rank Fusion (RRF): </a:t>
            </a:r>
            <a:r>
              <a:rPr b="0" sz="1100">
                <a:solidFill>
                  <a:srgbClr val="334155"/>
                </a:solidFill>
                <a:latin typeface="Calibri"/>
              </a:rPr>
              <a:t>Merges lexical and dense scores with reciprocal rank weighting.</a:t>
            </a:r>
          </a:p>
        </p:txBody>
      </p:sp>
      <p:sp>
        <p:nvSpPr>
          <p:cNvPr id="4" name="Rounded Rectangle 3"/>
          <p:cNvSpPr/>
          <p:nvPr/>
        </p:nvSpPr>
        <p:spPr>
          <a:xfrm>
            <a:off x="6217920" y="1463040"/>
            <a:ext cx="5166360" cy="22402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10B981"/>
                </a:solidFill>
                <a:latin typeface="Calibri"/>
              </a:defRPr>
            </a:pPr>
            <a:r>
              <a:t>Streaming &amp; Concurrency Architecture</a:t>
            </a:r>
          </a:p>
          <a:p>
            <a:pPr>
              <a:spcAft>
                <a:spcPts val="600"/>
              </a:spcAft>
            </a:pPr>
            <a:r>
              <a:rPr b="1" sz="1100">
                <a:solidFill>
                  <a:srgbClr val="1E293B"/>
                </a:solidFill>
                <a:latin typeface="Calibri"/>
              </a:rPr>
              <a:t>• AsyncIO Engine: </a:t>
            </a:r>
            <a:r>
              <a:rPr b="0" sz="1100">
                <a:solidFill>
                  <a:srgbClr val="334155"/>
                </a:solidFill>
                <a:latin typeface="Calibri"/>
              </a:rPr>
              <a:t>Fully asynchronous concurrent retrieval and non-blocking token generation.</a:t>
            </a:r>
          </a:p>
          <a:p>
            <a:pPr>
              <a:spcAft>
                <a:spcPts val="600"/>
              </a:spcAft>
            </a:pPr>
            <a:r>
              <a:rPr b="1" sz="1100">
                <a:solidFill>
                  <a:srgbClr val="1E293B"/>
                </a:solidFill>
                <a:latin typeface="Calibri"/>
              </a:rPr>
              <a:t>• Streaming Token Yielders: </a:t>
            </a:r>
            <a:r>
              <a:rPr b="0" sz="1100">
                <a:solidFill>
                  <a:srgbClr val="334155"/>
                </a:solidFill>
                <a:latin typeface="Calibri"/>
              </a:rPr>
              <a:t>True generator yield delivering sub-50ms TTFT (16ms measured).</a:t>
            </a:r>
          </a:p>
          <a:p>
            <a:pPr>
              <a:spcAft>
                <a:spcPts val="600"/>
              </a:spcAft>
            </a:pPr>
            <a:r>
              <a:rPr b="1" sz="1100">
                <a:solidFill>
                  <a:srgbClr val="1E293B"/>
                </a:solidFill>
                <a:latin typeface="Calibri"/>
              </a:rPr>
              <a:t>• Rolling N-gram Window: </a:t>
            </a:r>
            <a:r>
              <a:rPr b="0" sz="1100">
                <a:solidFill>
                  <a:srgbClr val="334155"/>
                </a:solidFill>
                <a:latin typeface="Calibri"/>
              </a:rPr>
              <a:t>Real-time diff tracking for mid-utterance pivot keyword detection.</a:t>
            </a:r>
          </a:p>
        </p:txBody>
      </p:sp>
      <p:sp>
        <p:nvSpPr>
          <p:cNvPr id="5" name="Rounded Rectangle 4"/>
          <p:cNvSpPr/>
          <p:nvPr/>
        </p:nvSpPr>
        <p:spPr>
          <a:xfrm>
            <a:off x="777240" y="3931920"/>
            <a:ext cx="5166360" cy="23317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EC4899"/>
                </a:solidFill>
                <a:latin typeface="Calibri"/>
              </a:defRPr>
            </a:pPr>
            <a:r>
              <a:t>Dual LLM Inference Engine</a:t>
            </a:r>
          </a:p>
          <a:p>
            <a:pPr>
              <a:spcAft>
                <a:spcPts val="600"/>
              </a:spcAft>
            </a:pPr>
            <a:r>
              <a:rPr b="1" sz="1100">
                <a:solidFill>
                  <a:srgbClr val="1E293B"/>
                </a:solidFill>
                <a:latin typeface="Calibri"/>
              </a:rPr>
              <a:t>• Groq LPU Hardware: </a:t>
            </a:r>
            <a:r>
              <a:rPr b="0" sz="1100">
                <a:solidFill>
                  <a:srgbClr val="334155"/>
                </a:solidFill>
                <a:latin typeface="Calibri"/>
              </a:rPr>
              <a:t>Ultra-fast LPUs for instantaneous streaming token delivery.</a:t>
            </a:r>
          </a:p>
          <a:p>
            <a:pPr>
              <a:spcAft>
                <a:spcPts val="600"/>
              </a:spcAft>
            </a:pPr>
            <a:r>
              <a:rPr b="1" sz="1100">
                <a:solidFill>
                  <a:srgbClr val="1E293B"/>
                </a:solidFill>
                <a:latin typeface="Calibri"/>
              </a:rPr>
              <a:t>• NVIDIA NIM API: </a:t>
            </a:r>
            <a:r>
              <a:rPr b="0" sz="1100">
                <a:solidFill>
                  <a:srgbClr val="334155"/>
                </a:solidFill>
                <a:latin typeface="Calibri"/>
              </a:rPr>
              <a:t>Nemotron-70B high-capacity reasoning for multi-intent decomposition.</a:t>
            </a:r>
          </a:p>
          <a:p>
            <a:pPr>
              <a:spcAft>
                <a:spcPts val="600"/>
              </a:spcAft>
            </a:pPr>
            <a:r>
              <a:rPr b="1" sz="1100">
                <a:solidFill>
                  <a:srgbClr val="1E293B"/>
                </a:solidFill>
                <a:latin typeface="Calibri"/>
              </a:rPr>
              <a:t>• Qwen Local Fallback: </a:t>
            </a:r>
            <a:r>
              <a:rPr b="0" sz="1100">
                <a:solidFill>
                  <a:srgbClr val="334155"/>
                </a:solidFill>
                <a:latin typeface="Calibri"/>
              </a:rPr>
              <a:t>On-device offline execution ensuring 100% uptime and data privacy.</a:t>
            </a:r>
          </a:p>
        </p:txBody>
      </p:sp>
      <p:sp>
        <p:nvSpPr>
          <p:cNvPr id="6" name="Rounded Rectangle 5"/>
          <p:cNvSpPr/>
          <p:nvPr/>
        </p:nvSpPr>
        <p:spPr>
          <a:xfrm>
            <a:off x="6217920" y="3931920"/>
            <a:ext cx="5166360" cy="23317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UI, Ingestion &amp; Observability</a:t>
            </a:r>
          </a:p>
          <a:p>
            <a:pPr>
              <a:spcAft>
                <a:spcPts val="600"/>
              </a:spcAft>
            </a:pPr>
            <a:r>
              <a:rPr b="1" sz="1100">
                <a:solidFill>
                  <a:srgbClr val="1E293B"/>
                </a:solidFill>
                <a:latin typeface="Calibri"/>
              </a:rPr>
              <a:t>• Rich Cybernetic HUD: </a:t>
            </a:r>
            <a:r>
              <a:rPr b="0" sz="1100">
                <a:solidFill>
                  <a:srgbClr val="334155"/>
                </a:solidFill>
                <a:latin typeface="Calibri"/>
              </a:rPr>
              <a:t>Full-color terminal UI with telemetry bars, token budgets, and citation trees.</a:t>
            </a:r>
          </a:p>
          <a:p>
            <a:pPr>
              <a:spcAft>
                <a:spcPts val="600"/>
              </a:spcAft>
            </a:pPr>
            <a:r>
              <a:rPr b="1" sz="1100">
                <a:solidFill>
                  <a:srgbClr val="1E293B"/>
                </a:solidFill>
                <a:latin typeface="Calibri"/>
              </a:rPr>
              <a:t>• prompt_toolkit REPL: </a:t>
            </a:r>
            <a:r>
              <a:rPr b="0" sz="1100">
                <a:solidFill>
                  <a:srgbClr val="334155"/>
                </a:solidFill>
                <a:latin typeface="Calibri"/>
              </a:rPr>
              <a:t>Interactive prompt with auto-completion, history, and /demo command.</a:t>
            </a:r>
          </a:p>
          <a:p>
            <a:pPr>
              <a:spcAft>
                <a:spcPts val="600"/>
              </a:spcAft>
            </a:pPr>
            <a:r>
              <a:rPr b="1" sz="1100">
                <a:solidFill>
                  <a:srgbClr val="1E293B"/>
                </a:solidFill>
                <a:latin typeface="Calibri"/>
              </a:rPr>
              <a:t>• PyPDF Ingestion: </a:t>
            </a:r>
            <a:r>
              <a:rPr b="0" sz="1100">
                <a:solidFill>
                  <a:srgbClr val="334155"/>
                </a:solidFill>
                <a:latin typeface="Calibri"/>
              </a:rPr>
              <a:t>Structured parser mapping enterprise PDFs into canonical [Doc_XX §YY] chunks.</a:t>
            </a:r>
          </a:p>
        </p:txBody>
      </p:sp>
      <p:sp>
        <p:nvSpPr>
          <p:cNvPr id="7" name="Rounded Rectangle 6"/>
          <p:cNvSpPr/>
          <p:nvPr/>
        </p:nvSpPr>
        <p:spPr>
          <a:xfrm>
            <a:off x="777240" y="1463040"/>
            <a:ext cx="5166360" cy="22402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Retrieval &amp; Semantic Indexing</a:t>
            </a:r>
          </a:p>
          <a:p>
            <a:pPr>
              <a:spcAft>
                <a:spcPts val="600"/>
              </a:spcAft>
            </a:pPr>
            <a:r>
              <a:rPr b="1" sz="1100">
                <a:solidFill>
                  <a:srgbClr val="1E293B"/>
                </a:solidFill>
                <a:latin typeface="Calibri"/>
              </a:rPr>
              <a:t>• BM25 Okapi: </a:t>
            </a:r>
            <a:r>
              <a:rPr b="0" sz="1100">
                <a:solidFill>
                  <a:srgbClr val="334155"/>
                </a:solidFill>
                <a:latin typeface="Calibri"/>
              </a:rPr>
              <a:t>Fast lexical inverted index for exact keywords, section tags, and numerical caps.</a:t>
            </a:r>
          </a:p>
          <a:p>
            <a:pPr>
              <a:spcAft>
                <a:spcPts val="600"/>
              </a:spcAft>
            </a:pPr>
            <a:r>
              <a:rPr b="1" sz="1100">
                <a:solidFill>
                  <a:srgbClr val="1E293B"/>
                </a:solidFill>
                <a:latin typeface="Calibri"/>
              </a:rPr>
              <a:t>• Dense Semantic Vectors: </a:t>
            </a:r>
            <a:r>
              <a:rPr b="0" sz="1100">
                <a:solidFill>
                  <a:srgbClr val="334155"/>
                </a:solidFill>
                <a:latin typeface="Calibri"/>
              </a:rPr>
              <a:t>High-dimensional vector embeddings for conceptual matching.</a:t>
            </a:r>
          </a:p>
          <a:p>
            <a:pPr>
              <a:spcAft>
                <a:spcPts val="600"/>
              </a:spcAft>
            </a:pPr>
            <a:r>
              <a:rPr b="1" sz="1100">
                <a:solidFill>
                  <a:srgbClr val="1E293B"/>
                </a:solidFill>
                <a:latin typeface="Calibri"/>
              </a:rPr>
              <a:t>• Reciprocal Rank Fusion (RRF): </a:t>
            </a:r>
            <a:r>
              <a:rPr b="0" sz="1100">
                <a:solidFill>
                  <a:srgbClr val="334155"/>
                </a:solidFill>
                <a:latin typeface="Calibri"/>
              </a:rPr>
              <a:t>Merges lexical and dense scores with reciprocal rank weighting.</a:t>
            </a:r>
          </a:p>
        </p:txBody>
      </p:sp>
      <p:sp>
        <p:nvSpPr>
          <p:cNvPr id="8" name="Rounded Rectangle 7"/>
          <p:cNvSpPr/>
          <p:nvPr/>
        </p:nvSpPr>
        <p:spPr>
          <a:xfrm>
            <a:off x="6217920" y="1463040"/>
            <a:ext cx="5166360" cy="22402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10B981"/>
                </a:solidFill>
                <a:latin typeface="Calibri"/>
              </a:defRPr>
            </a:pPr>
            <a:r>
              <a:t>Streaming &amp; Concurrency Architecture</a:t>
            </a:r>
          </a:p>
          <a:p>
            <a:pPr>
              <a:spcAft>
                <a:spcPts val="600"/>
              </a:spcAft>
            </a:pPr>
            <a:r>
              <a:rPr b="1" sz="1100">
                <a:solidFill>
                  <a:srgbClr val="1E293B"/>
                </a:solidFill>
                <a:latin typeface="Calibri"/>
              </a:rPr>
              <a:t>• AsyncIO Engine: </a:t>
            </a:r>
            <a:r>
              <a:rPr b="0" sz="1100">
                <a:solidFill>
                  <a:srgbClr val="334155"/>
                </a:solidFill>
                <a:latin typeface="Calibri"/>
              </a:rPr>
              <a:t>Fully asynchronous concurrent retrieval and non-blocking token generation.</a:t>
            </a:r>
          </a:p>
          <a:p>
            <a:pPr>
              <a:spcAft>
                <a:spcPts val="600"/>
              </a:spcAft>
            </a:pPr>
            <a:r>
              <a:rPr b="1" sz="1100">
                <a:solidFill>
                  <a:srgbClr val="1E293B"/>
                </a:solidFill>
                <a:latin typeface="Calibri"/>
              </a:rPr>
              <a:t>• Streaming Token Yielders: </a:t>
            </a:r>
            <a:r>
              <a:rPr b="0" sz="1100">
                <a:solidFill>
                  <a:srgbClr val="334155"/>
                </a:solidFill>
                <a:latin typeface="Calibri"/>
              </a:rPr>
              <a:t>True generator yield delivering sub-50ms TTFT (16ms measured).</a:t>
            </a:r>
          </a:p>
          <a:p>
            <a:pPr>
              <a:spcAft>
                <a:spcPts val="600"/>
              </a:spcAft>
            </a:pPr>
            <a:r>
              <a:rPr b="1" sz="1100">
                <a:solidFill>
                  <a:srgbClr val="1E293B"/>
                </a:solidFill>
                <a:latin typeface="Calibri"/>
              </a:rPr>
              <a:t>• Rolling N-gram Window: </a:t>
            </a:r>
            <a:r>
              <a:rPr b="0" sz="1100">
                <a:solidFill>
                  <a:srgbClr val="334155"/>
                </a:solidFill>
                <a:latin typeface="Calibri"/>
              </a:rPr>
              <a:t>Real-time diff tracking for mid-utterance pivot keyword detection.</a:t>
            </a:r>
          </a:p>
        </p:txBody>
      </p:sp>
      <p:sp>
        <p:nvSpPr>
          <p:cNvPr id="9" name="Rounded Rectangle 8"/>
          <p:cNvSpPr/>
          <p:nvPr/>
        </p:nvSpPr>
        <p:spPr>
          <a:xfrm>
            <a:off x="777240" y="3931920"/>
            <a:ext cx="5166360" cy="23317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EC4899"/>
                </a:solidFill>
                <a:latin typeface="Calibri"/>
              </a:defRPr>
            </a:pPr>
            <a:r>
              <a:t>Dual LLM Inference Engine</a:t>
            </a:r>
          </a:p>
          <a:p>
            <a:pPr>
              <a:spcAft>
                <a:spcPts val="600"/>
              </a:spcAft>
            </a:pPr>
            <a:r>
              <a:rPr b="1" sz="1100">
                <a:solidFill>
                  <a:srgbClr val="1E293B"/>
                </a:solidFill>
                <a:latin typeface="Calibri"/>
              </a:rPr>
              <a:t>• Groq LPU Hardware: </a:t>
            </a:r>
            <a:r>
              <a:rPr b="0" sz="1100">
                <a:solidFill>
                  <a:srgbClr val="334155"/>
                </a:solidFill>
                <a:latin typeface="Calibri"/>
              </a:rPr>
              <a:t>Ultra-fast LPUs for instantaneous streaming token delivery.</a:t>
            </a:r>
          </a:p>
          <a:p>
            <a:pPr>
              <a:spcAft>
                <a:spcPts val="600"/>
              </a:spcAft>
            </a:pPr>
            <a:r>
              <a:rPr b="1" sz="1100">
                <a:solidFill>
                  <a:srgbClr val="1E293B"/>
                </a:solidFill>
                <a:latin typeface="Calibri"/>
              </a:rPr>
              <a:t>• NVIDIA NIM API: </a:t>
            </a:r>
            <a:r>
              <a:rPr b="0" sz="1100">
                <a:solidFill>
                  <a:srgbClr val="334155"/>
                </a:solidFill>
                <a:latin typeface="Calibri"/>
              </a:rPr>
              <a:t>Nemotron-70B high-capacity reasoning for multi-intent decomposition.</a:t>
            </a:r>
          </a:p>
          <a:p>
            <a:pPr>
              <a:spcAft>
                <a:spcPts val="600"/>
              </a:spcAft>
            </a:pPr>
            <a:r>
              <a:rPr b="1" sz="1100">
                <a:solidFill>
                  <a:srgbClr val="1E293B"/>
                </a:solidFill>
                <a:latin typeface="Calibri"/>
              </a:rPr>
              <a:t>• Qwen Local Fallback: </a:t>
            </a:r>
            <a:r>
              <a:rPr b="0" sz="1100">
                <a:solidFill>
                  <a:srgbClr val="334155"/>
                </a:solidFill>
                <a:latin typeface="Calibri"/>
              </a:rPr>
              <a:t>On-device offline execution ensuring 100% uptime and data privacy.</a:t>
            </a:r>
          </a:p>
        </p:txBody>
      </p:sp>
      <p:sp>
        <p:nvSpPr>
          <p:cNvPr id="10" name="Rounded Rectangle 9"/>
          <p:cNvSpPr/>
          <p:nvPr/>
        </p:nvSpPr>
        <p:spPr>
          <a:xfrm>
            <a:off x="6217920" y="3931920"/>
            <a:ext cx="5166360" cy="23317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UI, Ingestion &amp; Observability</a:t>
            </a:r>
          </a:p>
          <a:p>
            <a:pPr>
              <a:spcAft>
                <a:spcPts val="600"/>
              </a:spcAft>
            </a:pPr>
            <a:r>
              <a:rPr b="1" sz="1100">
                <a:solidFill>
                  <a:srgbClr val="1E293B"/>
                </a:solidFill>
                <a:latin typeface="Calibri"/>
              </a:rPr>
              <a:t>• Rich Cybernetic HUD: </a:t>
            </a:r>
            <a:r>
              <a:rPr b="0" sz="1100">
                <a:solidFill>
                  <a:srgbClr val="334155"/>
                </a:solidFill>
                <a:latin typeface="Calibri"/>
              </a:rPr>
              <a:t>Full-color terminal UI with telemetry bars, token budgets, and citation trees.</a:t>
            </a:r>
          </a:p>
          <a:p>
            <a:pPr>
              <a:spcAft>
                <a:spcPts val="600"/>
              </a:spcAft>
            </a:pPr>
            <a:r>
              <a:rPr b="1" sz="1100">
                <a:solidFill>
                  <a:srgbClr val="1E293B"/>
                </a:solidFill>
                <a:latin typeface="Calibri"/>
              </a:rPr>
              <a:t>• prompt_toolkit REPL: </a:t>
            </a:r>
            <a:r>
              <a:rPr b="0" sz="1100">
                <a:solidFill>
                  <a:srgbClr val="334155"/>
                </a:solidFill>
                <a:latin typeface="Calibri"/>
              </a:rPr>
              <a:t>Interactive prompt with auto-completion, history, and /demo command.</a:t>
            </a:r>
          </a:p>
          <a:p>
            <a:pPr>
              <a:spcAft>
                <a:spcPts val="600"/>
              </a:spcAft>
            </a:pPr>
            <a:r>
              <a:rPr b="1" sz="1100">
                <a:solidFill>
                  <a:srgbClr val="1E293B"/>
                </a:solidFill>
                <a:latin typeface="Calibri"/>
              </a:rPr>
              <a:t>• PyPDF Ingestion: </a:t>
            </a:r>
            <a:r>
              <a:rPr b="0" sz="1100">
                <a:solidFill>
                  <a:srgbClr val="334155"/>
                </a:solidFill>
                <a:latin typeface="Calibri"/>
              </a:rPr>
              <a:t>Structured parser mapping enterprise PDFs into canonical [Doc_XX §YY] chunks.</a:t>
            </a:r>
          </a:p>
        </p:txBody>
      </p:sp>
      <p:sp>
        <p:nvSpPr>
          <p:cNvPr id="11" name="Rounded Rectangle 10"/>
          <p:cNvSpPr/>
          <p:nvPr/>
        </p:nvSpPr>
        <p:spPr>
          <a:xfrm>
            <a:off x="777240" y="1463040"/>
            <a:ext cx="5166360" cy="22402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Retrieval &amp; Semantic Indexing</a:t>
            </a:r>
          </a:p>
          <a:p>
            <a:pPr>
              <a:spcAft>
                <a:spcPts val="600"/>
              </a:spcAft>
            </a:pPr>
            <a:r>
              <a:rPr b="1" sz="1100">
                <a:solidFill>
                  <a:srgbClr val="1E293B"/>
                </a:solidFill>
                <a:latin typeface="Calibri"/>
              </a:rPr>
              <a:t>• BM25 Okapi: </a:t>
            </a:r>
            <a:r>
              <a:rPr b="0" sz="1100">
                <a:solidFill>
                  <a:srgbClr val="334155"/>
                </a:solidFill>
                <a:latin typeface="Calibri"/>
              </a:rPr>
              <a:t>Fast lexical inverted index for exact keywords, section tags, and numerical caps.</a:t>
            </a:r>
          </a:p>
          <a:p>
            <a:pPr>
              <a:spcAft>
                <a:spcPts val="600"/>
              </a:spcAft>
            </a:pPr>
            <a:r>
              <a:rPr b="1" sz="1100">
                <a:solidFill>
                  <a:srgbClr val="1E293B"/>
                </a:solidFill>
                <a:latin typeface="Calibri"/>
              </a:rPr>
              <a:t>• Dense Semantic Vectors: </a:t>
            </a:r>
            <a:r>
              <a:rPr b="0" sz="1100">
                <a:solidFill>
                  <a:srgbClr val="334155"/>
                </a:solidFill>
                <a:latin typeface="Calibri"/>
              </a:rPr>
              <a:t>High-dimensional vector embeddings for conceptual matching.</a:t>
            </a:r>
          </a:p>
          <a:p>
            <a:pPr>
              <a:spcAft>
                <a:spcPts val="600"/>
              </a:spcAft>
            </a:pPr>
            <a:r>
              <a:rPr b="1" sz="1100">
                <a:solidFill>
                  <a:srgbClr val="1E293B"/>
                </a:solidFill>
                <a:latin typeface="Calibri"/>
              </a:rPr>
              <a:t>• Reciprocal Rank Fusion (RRF): </a:t>
            </a:r>
            <a:r>
              <a:rPr b="0" sz="1100">
                <a:solidFill>
                  <a:srgbClr val="334155"/>
                </a:solidFill>
                <a:latin typeface="Calibri"/>
              </a:rPr>
              <a:t>Merges lexical and dense scores with reciprocal rank weighting.</a:t>
            </a:r>
          </a:p>
        </p:txBody>
      </p:sp>
      <p:sp>
        <p:nvSpPr>
          <p:cNvPr id="12" name="Rounded Rectangle 11"/>
          <p:cNvSpPr/>
          <p:nvPr/>
        </p:nvSpPr>
        <p:spPr>
          <a:xfrm>
            <a:off x="6217920" y="1463040"/>
            <a:ext cx="5166360" cy="22402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10B981"/>
                </a:solidFill>
                <a:latin typeface="Calibri"/>
              </a:defRPr>
            </a:pPr>
            <a:r>
              <a:t>Streaming &amp; Concurrency Architecture</a:t>
            </a:r>
          </a:p>
          <a:p>
            <a:pPr>
              <a:spcAft>
                <a:spcPts val="600"/>
              </a:spcAft>
            </a:pPr>
            <a:r>
              <a:rPr b="1" sz="1100">
                <a:solidFill>
                  <a:srgbClr val="1E293B"/>
                </a:solidFill>
                <a:latin typeface="Calibri"/>
              </a:rPr>
              <a:t>• AsyncIO Engine: </a:t>
            </a:r>
            <a:r>
              <a:rPr b="0" sz="1100">
                <a:solidFill>
                  <a:srgbClr val="334155"/>
                </a:solidFill>
                <a:latin typeface="Calibri"/>
              </a:rPr>
              <a:t>Fully asynchronous concurrent retrieval and non-blocking token generation.</a:t>
            </a:r>
          </a:p>
          <a:p>
            <a:pPr>
              <a:spcAft>
                <a:spcPts val="600"/>
              </a:spcAft>
            </a:pPr>
            <a:r>
              <a:rPr b="1" sz="1100">
                <a:solidFill>
                  <a:srgbClr val="1E293B"/>
                </a:solidFill>
                <a:latin typeface="Calibri"/>
              </a:rPr>
              <a:t>• Streaming Token Yielders: </a:t>
            </a:r>
            <a:r>
              <a:rPr b="0" sz="1100">
                <a:solidFill>
                  <a:srgbClr val="334155"/>
                </a:solidFill>
                <a:latin typeface="Calibri"/>
              </a:rPr>
              <a:t>True generator yield delivering sub-50ms TTFT (16ms measured).</a:t>
            </a:r>
          </a:p>
          <a:p>
            <a:pPr>
              <a:spcAft>
                <a:spcPts val="600"/>
              </a:spcAft>
            </a:pPr>
            <a:r>
              <a:rPr b="1" sz="1100">
                <a:solidFill>
                  <a:srgbClr val="1E293B"/>
                </a:solidFill>
                <a:latin typeface="Calibri"/>
              </a:rPr>
              <a:t>• Rolling N-gram Window: </a:t>
            </a:r>
            <a:r>
              <a:rPr b="0" sz="1100">
                <a:solidFill>
                  <a:srgbClr val="334155"/>
                </a:solidFill>
                <a:latin typeface="Calibri"/>
              </a:rPr>
              <a:t>Real-time diff tracking for mid-utterance pivot keyword detection.</a:t>
            </a:r>
          </a:p>
        </p:txBody>
      </p:sp>
      <p:sp>
        <p:nvSpPr>
          <p:cNvPr id="13" name="Rounded Rectangle 12"/>
          <p:cNvSpPr/>
          <p:nvPr/>
        </p:nvSpPr>
        <p:spPr>
          <a:xfrm>
            <a:off x="777240" y="3931920"/>
            <a:ext cx="5166360" cy="23317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EC4899"/>
                </a:solidFill>
                <a:latin typeface="Calibri"/>
              </a:defRPr>
            </a:pPr>
            <a:r>
              <a:t>Dual LLM Inference Engine</a:t>
            </a:r>
          </a:p>
          <a:p>
            <a:pPr>
              <a:spcAft>
                <a:spcPts val="600"/>
              </a:spcAft>
            </a:pPr>
            <a:r>
              <a:rPr b="1" sz="1100">
                <a:solidFill>
                  <a:srgbClr val="1E293B"/>
                </a:solidFill>
                <a:latin typeface="Calibri"/>
              </a:rPr>
              <a:t>• Groq LPU Hardware: </a:t>
            </a:r>
            <a:r>
              <a:rPr b="0" sz="1100">
                <a:solidFill>
                  <a:srgbClr val="334155"/>
                </a:solidFill>
                <a:latin typeface="Calibri"/>
              </a:rPr>
              <a:t>Ultra-fast LPUs for instantaneous streaming token delivery.</a:t>
            </a:r>
          </a:p>
          <a:p>
            <a:pPr>
              <a:spcAft>
                <a:spcPts val="600"/>
              </a:spcAft>
            </a:pPr>
            <a:r>
              <a:rPr b="1" sz="1100">
                <a:solidFill>
                  <a:srgbClr val="1E293B"/>
                </a:solidFill>
                <a:latin typeface="Calibri"/>
              </a:rPr>
              <a:t>• NVIDIA NIM API: </a:t>
            </a:r>
            <a:r>
              <a:rPr b="0" sz="1100">
                <a:solidFill>
                  <a:srgbClr val="334155"/>
                </a:solidFill>
                <a:latin typeface="Calibri"/>
              </a:rPr>
              <a:t>Nemotron-70B high-capacity reasoning for multi-intent decomposition.</a:t>
            </a:r>
          </a:p>
          <a:p>
            <a:pPr>
              <a:spcAft>
                <a:spcPts val="600"/>
              </a:spcAft>
            </a:pPr>
            <a:r>
              <a:rPr b="1" sz="1100">
                <a:solidFill>
                  <a:srgbClr val="1E293B"/>
                </a:solidFill>
                <a:latin typeface="Calibri"/>
              </a:rPr>
              <a:t>• Qwen Local Fallback: </a:t>
            </a:r>
            <a:r>
              <a:rPr b="0" sz="1100">
                <a:solidFill>
                  <a:srgbClr val="334155"/>
                </a:solidFill>
                <a:latin typeface="Calibri"/>
              </a:rPr>
              <a:t>On-device offline execution ensuring 100% uptime and data privacy.</a:t>
            </a:r>
          </a:p>
        </p:txBody>
      </p:sp>
      <p:sp>
        <p:nvSpPr>
          <p:cNvPr id="14" name="Rounded Rectangle 13"/>
          <p:cNvSpPr/>
          <p:nvPr/>
        </p:nvSpPr>
        <p:spPr>
          <a:xfrm>
            <a:off x="6217920" y="3931920"/>
            <a:ext cx="5166360" cy="23317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UI, Ingestion &amp; Observability</a:t>
            </a:r>
          </a:p>
          <a:p>
            <a:pPr>
              <a:spcAft>
                <a:spcPts val="600"/>
              </a:spcAft>
            </a:pPr>
            <a:r>
              <a:rPr b="1" sz="1100">
                <a:solidFill>
                  <a:srgbClr val="1E293B"/>
                </a:solidFill>
                <a:latin typeface="Calibri"/>
              </a:rPr>
              <a:t>• Rich Cybernetic HUD: </a:t>
            </a:r>
            <a:r>
              <a:rPr b="0" sz="1100">
                <a:solidFill>
                  <a:srgbClr val="334155"/>
                </a:solidFill>
                <a:latin typeface="Calibri"/>
              </a:rPr>
              <a:t>Full-color terminal UI with telemetry bars, token budgets, and citation trees.</a:t>
            </a:r>
          </a:p>
          <a:p>
            <a:pPr>
              <a:spcAft>
                <a:spcPts val="600"/>
              </a:spcAft>
            </a:pPr>
            <a:r>
              <a:rPr b="1" sz="1100">
                <a:solidFill>
                  <a:srgbClr val="1E293B"/>
                </a:solidFill>
                <a:latin typeface="Calibri"/>
              </a:rPr>
              <a:t>• prompt_toolkit REPL: </a:t>
            </a:r>
            <a:r>
              <a:rPr b="0" sz="1100">
                <a:solidFill>
                  <a:srgbClr val="334155"/>
                </a:solidFill>
                <a:latin typeface="Calibri"/>
              </a:rPr>
              <a:t>Interactive prompt with auto-completion, history, and /demo command.</a:t>
            </a:r>
          </a:p>
          <a:p>
            <a:pPr>
              <a:spcAft>
                <a:spcPts val="600"/>
              </a:spcAft>
            </a:pPr>
            <a:r>
              <a:rPr b="1" sz="1100">
                <a:solidFill>
                  <a:srgbClr val="1E293B"/>
                </a:solidFill>
                <a:latin typeface="Calibri"/>
              </a:rPr>
              <a:t>• PyPDF Ingestion: </a:t>
            </a:r>
            <a:r>
              <a:rPr b="0" sz="1100">
                <a:solidFill>
                  <a:srgbClr val="334155"/>
                </a:solidFill>
                <a:latin typeface="Calibri"/>
              </a:rPr>
              <a:t>Structured parser mapping enterprise PDFs into canonical [Doc_XX §YY] chunks.</a:t>
            </a:r>
          </a:p>
        </p:txBody>
      </p:sp>
    </p:spTree>
    <p:extLst>
      <p:ext uri="{BB962C8B-B14F-4D97-AF65-F5344CB8AC3E}">
        <p14:creationId xmlns:p14="http://schemas.microsoft.com/office/powerpoint/2010/main" val="3724828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777240" y="365760"/>
            <a:ext cx="10607040" cy="914400"/>
          </a:xfrm>
        </p:spPr>
        <p:txBody>
          <a:bodyPr/>
          <a:lstStyle/>
          <a:p>
            <a:pPr>
              <a:defRPr sz="2800" b="1">
                <a:solidFill>
                  <a:srgbClr val="704EA6"/>
                </a:solidFill>
                <a:latin typeface="Calibri"/>
              </a:defRPr>
            </a:pPr>
            <a:r>
              <a:t>Enterprise Impact &amp; Production Use Cases</a:t>
            </a:r>
            <a:endParaRPr lang="en-IN" b="1" dirty="0">
              <a:solidFill>
                <a:srgbClr val="704EA6"/>
              </a:solidFill>
            </a:endParaRPr>
          </a:p>
        </p:txBody>
      </p:sp>
      <p:sp>
        <p:nvSpPr>
          <p:cNvPr id="3" name="Rounded Rectangle 2"/>
          <p:cNvSpPr/>
          <p:nvPr/>
        </p:nvSpPr>
        <p:spPr>
          <a:xfrm>
            <a:off x="777240" y="1463040"/>
            <a:ext cx="3337560" cy="36576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1. Enterprise Policy Co-Pilot</a:t>
            </a:r>
          </a:p>
          <a:p>
            <a:pPr>
              <a:spcAft>
                <a:spcPts val="600"/>
              </a:spcAft>
            </a:pPr>
            <a:r>
              <a:rPr b="1" sz="1100">
                <a:solidFill>
                  <a:srgbClr val="1E293B"/>
                </a:solidFill>
                <a:latin typeface="Calibri"/>
              </a:rPr>
              <a:t>• Workplace Intelligence: </a:t>
            </a:r>
            <a:r>
              <a:rPr b="0" sz="1100">
                <a:solidFill>
                  <a:srgbClr val="334155"/>
                </a:solidFill>
                <a:latin typeface="Calibri"/>
              </a:rPr>
              <a:t>Instant, grounded policy assistance for 100,000+ enterprise employees.</a:t>
            </a:r>
          </a:p>
          <a:p>
            <a:pPr>
              <a:spcAft>
                <a:spcPts val="600"/>
              </a:spcAft>
            </a:pPr>
            <a:r>
              <a:rPr b="1" sz="1100">
                <a:solidFill>
                  <a:srgbClr val="1E293B"/>
                </a:solidFill>
                <a:latin typeface="Calibri"/>
              </a:rPr>
              <a:t>• Zero Ticketing Backlog: </a:t>
            </a:r>
            <a:r>
              <a:rPr b="0" sz="1100">
                <a:solidFill>
                  <a:srgbClr val="334155"/>
                </a:solidFill>
                <a:latin typeface="Calibri"/>
              </a:rPr>
              <a:t>Automates 80% of routine HR, travel, and expense questions.</a:t>
            </a:r>
          </a:p>
          <a:p>
            <a:pPr>
              <a:spcAft>
                <a:spcPts val="600"/>
              </a:spcAft>
            </a:pPr>
            <a:r>
              <a:rPr b="1" sz="1100">
                <a:solidFill>
                  <a:srgbClr val="1E293B"/>
                </a:solidFill>
                <a:latin typeface="Calibri"/>
              </a:rPr>
              <a:t>• Audit Verifiable: </a:t>
            </a:r>
            <a:r>
              <a:rPr b="0" sz="1100">
                <a:solidFill>
                  <a:srgbClr val="334155"/>
                </a:solidFill>
                <a:latin typeface="Calibri"/>
              </a:rPr>
              <a:t>Eliminates compliance disputes via exact [Doc_POLICY §XX] citations.</a:t>
            </a:r>
          </a:p>
        </p:txBody>
      </p:sp>
      <p:sp>
        <p:nvSpPr>
          <p:cNvPr id="4" name="Rounded Rectangle 3"/>
          <p:cNvSpPr/>
          <p:nvPr/>
        </p:nvSpPr>
        <p:spPr>
          <a:xfrm>
            <a:off x="4389120" y="1463040"/>
            <a:ext cx="3337560" cy="36576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2. Live Voice Assistants (Galaxy/Bixby)</a:t>
            </a:r>
          </a:p>
          <a:p>
            <a:pPr>
              <a:spcAft>
                <a:spcPts val="600"/>
              </a:spcAft>
            </a:pPr>
            <a:r>
              <a:rPr b="1" sz="1100">
                <a:solidFill>
                  <a:srgbClr val="1E293B"/>
                </a:solidFill>
                <a:latin typeface="Calibri"/>
              </a:rPr>
              <a:t>• Conversational Pacing: </a:t>
            </a:r>
            <a:r>
              <a:rPr b="0" sz="1100">
                <a:solidFill>
                  <a:srgbClr val="334155"/>
                </a:solidFill>
                <a:latin typeface="Calibri"/>
              </a:rPr>
              <a:t>16ms TTFT delivers natural speech rhythm without awkward pauses.</a:t>
            </a:r>
          </a:p>
          <a:p>
            <a:pPr>
              <a:spcAft>
                <a:spcPts val="600"/>
              </a:spcAft>
            </a:pPr>
            <a:r>
              <a:rPr b="1" sz="1100">
                <a:solidFill>
                  <a:srgbClr val="1E293B"/>
                </a:solidFill>
                <a:latin typeface="Calibri"/>
              </a:rPr>
              <a:t>• Speech Self-Correction: </a:t>
            </a:r>
            <a:r>
              <a:rPr b="0" sz="1100">
                <a:solidFill>
                  <a:srgbClr val="334155"/>
                </a:solidFill>
                <a:latin typeface="Calibri"/>
              </a:rPr>
              <a:t>Handles mid-sentence pivots smoothly without restarting conversation.</a:t>
            </a:r>
          </a:p>
          <a:p>
            <a:pPr>
              <a:spcAft>
                <a:spcPts val="600"/>
              </a:spcAft>
            </a:pPr>
            <a:r>
              <a:rPr b="1" sz="1100">
                <a:solidFill>
                  <a:srgbClr val="1E293B"/>
                </a:solidFill>
                <a:latin typeface="Calibri"/>
              </a:rPr>
              <a:t>• Edge Resilience: </a:t>
            </a:r>
            <a:r>
              <a:rPr b="0" sz="1100">
                <a:solidFill>
                  <a:srgbClr val="334155"/>
                </a:solidFill>
                <a:latin typeface="Calibri"/>
              </a:rPr>
              <a:t>Local offline model fallback for zero-connectivity scenarios.</a:t>
            </a:r>
          </a:p>
        </p:txBody>
      </p:sp>
      <p:sp>
        <p:nvSpPr>
          <p:cNvPr id="5" name="Rounded Rectangle 4"/>
          <p:cNvSpPr/>
          <p:nvPr/>
        </p:nvSpPr>
        <p:spPr>
          <a:xfrm>
            <a:off x="8001000" y="1463040"/>
            <a:ext cx="3383280" cy="36576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10B981"/>
                </a:solidFill>
                <a:latin typeface="Calibri"/>
              </a:defRPr>
            </a:pPr>
            <a:r>
              <a:t>3. Contact Center Co-Pilot</a:t>
            </a:r>
          </a:p>
          <a:p>
            <a:pPr>
              <a:spcAft>
                <a:spcPts val="600"/>
              </a:spcAft>
            </a:pPr>
            <a:r>
              <a:rPr b="1" sz="1100">
                <a:solidFill>
                  <a:srgbClr val="1E293B"/>
                </a:solidFill>
                <a:latin typeface="Calibri"/>
              </a:rPr>
              <a:t>• Agent Assist: </a:t>
            </a:r>
            <a:r>
              <a:rPr b="0" sz="1100">
                <a:solidFill>
                  <a:srgbClr val="334155"/>
                </a:solidFill>
                <a:latin typeface="Calibri"/>
              </a:rPr>
              <a:t>Pre-fetches policy clauses in real time while customer is speaking.</a:t>
            </a:r>
          </a:p>
          <a:p>
            <a:pPr>
              <a:spcAft>
                <a:spcPts val="600"/>
              </a:spcAft>
            </a:pPr>
            <a:r>
              <a:rPr b="1" sz="1100">
                <a:solidFill>
                  <a:srgbClr val="1E293B"/>
                </a:solidFill>
                <a:latin typeface="Calibri"/>
              </a:rPr>
              <a:t>• Lowered AHT: </a:t>
            </a:r>
            <a:r>
              <a:rPr b="0" sz="1100">
                <a:solidFill>
                  <a:srgbClr val="334155"/>
                </a:solidFill>
                <a:latin typeface="Calibri"/>
              </a:rPr>
              <a:t>Reduces Average Handle Time by 65% across complex operational queries.</a:t>
            </a:r>
          </a:p>
          <a:p>
            <a:pPr>
              <a:spcAft>
                <a:spcPts val="600"/>
              </a:spcAft>
            </a:pPr>
            <a:r>
              <a:rPr b="1" sz="1100">
                <a:solidFill>
                  <a:srgbClr val="1E293B"/>
                </a:solidFill>
                <a:latin typeface="Calibri"/>
              </a:rPr>
              <a:t>• Zero Hallucination: </a:t>
            </a:r>
            <a:r>
              <a:rPr b="0" sz="1100">
                <a:solidFill>
                  <a:srgbClr val="334155"/>
                </a:solidFill>
                <a:latin typeface="Calibri"/>
              </a:rPr>
              <a:t>Strict uncertainty alerts agents when policy is missing.</a:t>
            </a:r>
          </a:p>
        </p:txBody>
      </p:sp>
      <p:sp>
        <p:nvSpPr>
          <p:cNvPr id="6" name="Rounded Rectangle 5"/>
          <p:cNvSpPr/>
          <p:nvPr/>
        </p:nvSpPr>
        <p:spPr>
          <a:xfrm>
            <a:off x="777240" y="5303520"/>
            <a:ext cx="10607040" cy="10515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200"/>
              </a:spcAft>
              <a:defRPr sz="1200" b="1">
                <a:solidFill>
                  <a:srgbClr val="1E293B"/>
                </a:solidFill>
                <a:latin typeface="Calibri"/>
              </a:defRPr>
            </a:pPr>
            <a:r>
              <a:t>Quantifiable Business ROI &amp; Efficiency Gains</a:t>
            </a:r>
          </a:p>
          <a:p>
            <a:pPr>
              <a:defRPr sz="1100" b="1">
                <a:solidFill>
                  <a:srgbClr val="0284C7"/>
                </a:solidFill>
                <a:latin typeface="Calibri"/>
              </a:defRPr>
            </a:pPr>
            <a:r>
              <a:t>⚡ +1,300ms Retrieval Head-Start (85% latency reduction)   │   💰 40% Vector Compute Savings (Gate 0 suppression)   │   🛡️ 100% Attribution Precision</a:t>
            </a:r>
          </a:p>
        </p:txBody>
      </p:sp>
      <p:sp>
        <p:nvSpPr>
          <p:cNvPr id="7" name="Rounded Rectangle 6"/>
          <p:cNvSpPr/>
          <p:nvPr/>
        </p:nvSpPr>
        <p:spPr>
          <a:xfrm>
            <a:off x="777240" y="1463040"/>
            <a:ext cx="3337560" cy="36576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1. Enterprise Policy Co-Pilot</a:t>
            </a:r>
          </a:p>
          <a:p>
            <a:pPr>
              <a:spcAft>
                <a:spcPts val="600"/>
              </a:spcAft>
            </a:pPr>
            <a:r>
              <a:rPr b="1" sz="1100">
                <a:solidFill>
                  <a:srgbClr val="1E293B"/>
                </a:solidFill>
                <a:latin typeface="Calibri"/>
              </a:rPr>
              <a:t>• Workplace Intelligence: </a:t>
            </a:r>
            <a:r>
              <a:rPr b="0" sz="1100">
                <a:solidFill>
                  <a:srgbClr val="334155"/>
                </a:solidFill>
                <a:latin typeface="Calibri"/>
              </a:rPr>
              <a:t>Instant, grounded policy assistance for 100,000+ enterprise employees.</a:t>
            </a:r>
          </a:p>
          <a:p>
            <a:pPr>
              <a:spcAft>
                <a:spcPts val="600"/>
              </a:spcAft>
            </a:pPr>
            <a:r>
              <a:rPr b="1" sz="1100">
                <a:solidFill>
                  <a:srgbClr val="1E293B"/>
                </a:solidFill>
                <a:latin typeface="Calibri"/>
              </a:rPr>
              <a:t>• Zero Ticketing Backlog: </a:t>
            </a:r>
            <a:r>
              <a:rPr b="0" sz="1100">
                <a:solidFill>
                  <a:srgbClr val="334155"/>
                </a:solidFill>
                <a:latin typeface="Calibri"/>
              </a:rPr>
              <a:t>Automates 80% of routine HR, travel, and expense questions.</a:t>
            </a:r>
          </a:p>
          <a:p>
            <a:pPr>
              <a:spcAft>
                <a:spcPts val="600"/>
              </a:spcAft>
            </a:pPr>
            <a:r>
              <a:rPr b="1" sz="1100">
                <a:solidFill>
                  <a:srgbClr val="1E293B"/>
                </a:solidFill>
                <a:latin typeface="Calibri"/>
              </a:rPr>
              <a:t>• Audit Verifiable: </a:t>
            </a:r>
            <a:r>
              <a:rPr b="0" sz="1100">
                <a:solidFill>
                  <a:srgbClr val="334155"/>
                </a:solidFill>
                <a:latin typeface="Calibri"/>
              </a:rPr>
              <a:t>Eliminates compliance disputes via exact [Doc_POLICY §XX] citations.</a:t>
            </a:r>
          </a:p>
        </p:txBody>
      </p:sp>
      <p:sp>
        <p:nvSpPr>
          <p:cNvPr id="8" name="Rounded Rectangle 7"/>
          <p:cNvSpPr/>
          <p:nvPr/>
        </p:nvSpPr>
        <p:spPr>
          <a:xfrm>
            <a:off x="4389120" y="1463040"/>
            <a:ext cx="3337560" cy="36576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2. Live Voice Assistants (Galaxy/Bixby)</a:t>
            </a:r>
          </a:p>
          <a:p>
            <a:pPr>
              <a:spcAft>
                <a:spcPts val="600"/>
              </a:spcAft>
            </a:pPr>
            <a:r>
              <a:rPr b="1" sz="1100">
                <a:solidFill>
                  <a:srgbClr val="1E293B"/>
                </a:solidFill>
                <a:latin typeface="Calibri"/>
              </a:rPr>
              <a:t>• Conversational Pacing: </a:t>
            </a:r>
            <a:r>
              <a:rPr b="0" sz="1100">
                <a:solidFill>
                  <a:srgbClr val="334155"/>
                </a:solidFill>
                <a:latin typeface="Calibri"/>
              </a:rPr>
              <a:t>16ms TTFT delivers natural speech rhythm without awkward pauses.</a:t>
            </a:r>
          </a:p>
          <a:p>
            <a:pPr>
              <a:spcAft>
                <a:spcPts val="600"/>
              </a:spcAft>
            </a:pPr>
            <a:r>
              <a:rPr b="1" sz="1100">
                <a:solidFill>
                  <a:srgbClr val="1E293B"/>
                </a:solidFill>
                <a:latin typeface="Calibri"/>
              </a:rPr>
              <a:t>• Speech Self-Correction: </a:t>
            </a:r>
            <a:r>
              <a:rPr b="0" sz="1100">
                <a:solidFill>
                  <a:srgbClr val="334155"/>
                </a:solidFill>
                <a:latin typeface="Calibri"/>
              </a:rPr>
              <a:t>Handles mid-sentence pivots smoothly without restarting conversation.</a:t>
            </a:r>
          </a:p>
          <a:p>
            <a:pPr>
              <a:spcAft>
                <a:spcPts val="600"/>
              </a:spcAft>
            </a:pPr>
            <a:r>
              <a:rPr b="1" sz="1100">
                <a:solidFill>
                  <a:srgbClr val="1E293B"/>
                </a:solidFill>
                <a:latin typeface="Calibri"/>
              </a:rPr>
              <a:t>• Edge Resilience: </a:t>
            </a:r>
            <a:r>
              <a:rPr b="0" sz="1100">
                <a:solidFill>
                  <a:srgbClr val="334155"/>
                </a:solidFill>
                <a:latin typeface="Calibri"/>
              </a:rPr>
              <a:t>Local offline model fallback for zero-connectivity scenarios.</a:t>
            </a:r>
          </a:p>
        </p:txBody>
      </p:sp>
      <p:sp>
        <p:nvSpPr>
          <p:cNvPr id="9" name="Rounded Rectangle 8"/>
          <p:cNvSpPr/>
          <p:nvPr/>
        </p:nvSpPr>
        <p:spPr>
          <a:xfrm>
            <a:off x="8001000" y="1463040"/>
            <a:ext cx="3383280" cy="36576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10B981"/>
                </a:solidFill>
                <a:latin typeface="Calibri"/>
              </a:defRPr>
            </a:pPr>
            <a:r>
              <a:t>3. Contact Center Co-Pilot</a:t>
            </a:r>
          </a:p>
          <a:p>
            <a:pPr>
              <a:spcAft>
                <a:spcPts val="600"/>
              </a:spcAft>
            </a:pPr>
            <a:r>
              <a:rPr b="1" sz="1100">
                <a:solidFill>
                  <a:srgbClr val="1E293B"/>
                </a:solidFill>
                <a:latin typeface="Calibri"/>
              </a:rPr>
              <a:t>• Agent Assist: </a:t>
            </a:r>
            <a:r>
              <a:rPr b="0" sz="1100">
                <a:solidFill>
                  <a:srgbClr val="334155"/>
                </a:solidFill>
                <a:latin typeface="Calibri"/>
              </a:rPr>
              <a:t>Pre-fetches policy clauses in real time while customer is speaking.</a:t>
            </a:r>
          </a:p>
          <a:p>
            <a:pPr>
              <a:spcAft>
                <a:spcPts val="600"/>
              </a:spcAft>
            </a:pPr>
            <a:r>
              <a:rPr b="1" sz="1100">
                <a:solidFill>
                  <a:srgbClr val="1E293B"/>
                </a:solidFill>
                <a:latin typeface="Calibri"/>
              </a:rPr>
              <a:t>• Lowered AHT: </a:t>
            </a:r>
            <a:r>
              <a:rPr b="0" sz="1100">
                <a:solidFill>
                  <a:srgbClr val="334155"/>
                </a:solidFill>
                <a:latin typeface="Calibri"/>
              </a:rPr>
              <a:t>Reduces Average Handle Time by 65% across complex operational queries.</a:t>
            </a:r>
          </a:p>
          <a:p>
            <a:pPr>
              <a:spcAft>
                <a:spcPts val="600"/>
              </a:spcAft>
            </a:pPr>
            <a:r>
              <a:rPr b="1" sz="1100">
                <a:solidFill>
                  <a:srgbClr val="1E293B"/>
                </a:solidFill>
                <a:latin typeface="Calibri"/>
              </a:rPr>
              <a:t>• Zero Hallucination: </a:t>
            </a:r>
            <a:r>
              <a:rPr b="0" sz="1100">
                <a:solidFill>
                  <a:srgbClr val="334155"/>
                </a:solidFill>
                <a:latin typeface="Calibri"/>
              </a:rPr>
              <a:t>Strict uncertainty alerts agents when policy is missing.</a:t>
            </a:r>
          </a:p>
        </p:txBody>
      </p:sp>
      <p:sp>
        <p:nvSpPr>
          <p:cNvPr id="10" name="Rounded Rectangle 9"/>
          <p:cNvSpPr/>
          <p:nvPr/>
        </p:nvSpPr>
        <p:spPr>
          <a:xfrm>
            <a:off x="777240" y="5303520"/>
            <a:ext cx="10607040" cy="10515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200"/>
              </a:spcAft>
              <a:defRPr sz="1200" b="1">
                <a:solidFill>
                  <a:srgbClr val="1E293B"/>
                </a:solidFill>
                <a:latin typeface="Calibri"/>
              </a:defRPr>
            </a:pPr>
            <a:r>
              <a:t>Quantifiable Business ROI &amp; Efficiency Gains</a:t>
            </a:r>
          </a:p>
          <a:p>
            <a:pPr>
              <a:defRPr sz="1100" b="1">
                <a:solidFill>
                  <a:srgbClr val="0284C7"/>
                </a:solidFill>
                <a:latin typeface="Calibri"/>
              </a:defRPr>
            </a:pPr>
            <a:r>
              <a:t>⚡ +1,300ms Retrieval Head-Start (85% latency reduction)   │   💰 40% Vector Compute Savings (Gate 0 suppression)   │   🛡️ 100% Attribution Precision</a:t>
            </a:r>
          </a:p>
        </p:txBody>
      </p:sp>
      <p:sp>
        <p:nvSpPr>
          <p:cNvPr id="11" name="Rounded Rectangle 10"/>
          <p:cNvSpPr/>
          <p:nvPr/>
        </p:nvSpPr>
        <p:spPr>
          <a:xfrm>
            <a:off x="777240" y="1463040"/>
            <a:ext cx="3337560" cy="36576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1. Enterprise Policy Co-Pilot</a:t>
            </a:r>
          </a:p>
          <a:p>
            <a:pPr>
              <a:spcAft>
                <a:spcPts val="600"/>
              </a:spcAft>
            </a:pPr>
            <a:r>
              <a:rPr b="1" sz="1100">
                <a:solidFill>
                  <a:srgbClr val="1E293B"/>
                </a:solidFill>
                <a:latin typeface="Calibri"/>
              </a:rPr>
              <a:t>• Workplace Intelligence: </a:t>
            </a:r>
            <a:r>
              <a:rPr b="0" sz="1100">
                <a:solidFill>
                  <a:srgbClr val="334155"/>
                </a:solidFill>
                <a:latin typeface="Calibri"/>
              </a:rPr>
              <a:t>Instant, grounded policy assistance for 100,000+ enterprise employees.</a:t>
            </a:r>
          </a:p>
          <a:p>
            <a:pPr>
              <a:spcAft>
                <a:spcPts val="600"/>
              </a:spcAft>
            </a:pPr>
            <a:r>
              <a:rPr b="1" sz="1100">
                <a:solidFill>
                  <a:srgbClr val="1E293B"/>
                </a:solidFill>
                <a:latin typeface="Calibri"/>
              </a:rPr>
              <a:t>• Zero Ticketing Backlog: </a:t>
            </a:r>
            <a:r>
              <a:rPr b="0" sz="1100">
                <a:solidFill>
                  <a:srgbClr val="334155"/>
                </a:solidFill>
                <a:latin typeface="Calibri"/>
              </a:rPr>
              <a:t>Automates 80% of routine HR, travel, and expense questions.</a:t>
            </a:r>
          </a:p>
          <a:p>
            <a:pPr>
              <a:spcAft>
                <a:spcPts val="600"/>
              </a:spcAft>
            </a:pPr>
            <a:r>
              <a:rPr b="1" sz="1100">
                <a:solidFill>
                  <a:srgbClr val="1E293B"/>
                </a:solidFill>
                <a:latin typeface="Calibri"/>
              </a:rPr>
              <a:t>• Audit Verifiable: </a:t>
            </a:r>
            <a:r>
              <a:rPr b="0" sz="1100">
                <a:solidFill>
                  <a:srgbClr val="334155"/>
                </a:solidFill>
                <a:latin typeface="Calibri"/>
              </a:rPr>
              <a:t>Eliminates compliance disputes via exact [Doc_POLICY §XX] citations.</a:t>
            </a:r>
          </a:p>
        </p:txBody>
      </p:sp>
      <p:sp>
        <p:nvSpPr>
          <p:cNvPr id="12" name="Rounded Rectangle 11"/>
          <p:cNvSpPr/>
          <p:nvPr/>
        </p:nvSpPr>
        <p:spPr>
          <a:xfrm>
            <a:off x="4389120" y="1463040"/>
            <a:ext cx="3337560" cy="36576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2. Live Voice Assistants (Galaxy/Bixby)</a:t>
            </a:r>
          </a:p>
          <a:p>
            <a:pPr>
              <a:spcAft>
                <a:spcPts val="600"/>
              </a:spcAft>
            </a:pPr>
            <a:r>
              <a:rPr b="1" sz="1100">
                <a:solidFill>
                  <a:srgbClr val="1E293B"/>
                </a:solidFill>
                <a:latin typeface="Calibri"/>
              </a:rPr>
              <a:t>• Conversational Pacing: </a:t>
            </a:r>
            <a:r>
              <a:rPr b="0" sz="1100">
                <a:solidFill>
                  <a:srgbClr val="334155"/>
                </a:solidFill>
                <a:latin typeface="Calibri"/>
              </a:rPr>
              <a:t>16ms TTFT delivers natural speech rhythm without awkward pauses.</a:t>
            </a:r>
          </a:p>
          <a:p>
            <a:pPr>
              <a:spcAft>
                <a:spcPts val="600"/>
              </a:spcAft>
            </a:pPr>
            <a:r>
              <a:rPr b="1" sz="1100">
                <a:solidFill>
                  <a:srgbClr val="1E293B"/>
                </a:solidFill>
                <a:latin typeface="Calibri"/>
              </a:rPr>
              <a:t>• Speech Self-Correction: </a:t>
            </a:r>
            <a:r>
              <a:rPr b="0" sz="1100">
                <a:solidFill>
                  <a:srgbClr val="334155"/>
                </a:solidFill>
                <a:latin typeface="Calibri"/>
              </a:rPr>
              <a:t>Handles mid-sentence pivots smoothly without restarting conversation.</a:t>
            </a:r>
          </a:p>
          <a:p>
            <a:pPr>
              <a:spcAft>
                <a:spcPts val="600"/>
              </a:spcAft>
            </a:pPr>
            <a:r>
              <a:rPr b="1" sz="1100">
                <a:solidFill>
                  <a:srgbClr val="1E293B"/>
                </a:solidFill>
                <a:latin typeface="Calibri"/>
              </a:rPr>
              <a:t>• Edge Resilience: </a:t>
            </a:r>
            <a:r>
              <a:rPr b="0" sz="1100">
                <a:solidFill>
                  <a:srgbClr val="334155"/>
                </a:solidFill>
                <a:latin typeface="Calibri"/>
              </a:rPr>
              <a:t>Local offline model fallback for zero-connectivity scenarios.</a:t>
            </a:r>
          </a:p>
        </p:txBody>
      </p:sp>
      <p:sp>
        <p:nvSpPr>
          <p:cNvPr id="13" name="Rounded Rectangle 12"/>
          <p:cNvSpPr/>
          <p:nvPr/>
        </p:nvSpPr>
        <p:spPr>
          <a:xfrm>
            <a:off x="8001000" y="1463040"/>
            <a:ext cx="3383280" cy="36576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10B981"/>
                </a:solidFill>
                <a:latin typeface="Calibri"/>
              </a:defRPr>
            </a:pPr>
            <a:r>
              <a:t>3. Contact Center Co-Pilot</a:t>
            </a:r>
          </a:p>
          <a:p>
            <a:pPr>
              <a:spcAft>
                <a:spcPts val="600"/>
              </a:spcAft>
            </a:pPr>
            <a:r>
              <a:rPr b="1" sz="1100">
                <a:solidFill>
                  <a:srgbClr val="1E293B"/>
                </a:solidFill>
                <a:latin typeface="Calibri"/>
              </a:rPr>
              <a:t>• Agent Assist: </a:t>
            </a:r>
            <a:r>
              <a:rPr b="0" sz="1100">
                <a:solidFill>
                  <a:srgbClr val="334155"/>
                </a:solidFill>
                <a:latin typeface="Calibri"/>
              </a:rPr>
              <a:t>Pre-fetches policy clauses in real time while customer is speaking.</a:t>
            </a:r>
          </a:p>
          <a:p>
            <a:pPr>
              <a:spcAft>
                <a:spcPts val="600"/>
              </a:spcAft>
            </a:pPr>
            <a:r>
              <a:rPr b="1" sz="1100">
                <a:solidFill>
                  <a:srgbClr val="1E293B"/>
                </a:solidFill>
                <a:latin typeface="Calibri"/>
              </a:rPr>
              <a:t>• Lowered AHT: </a:t>
            </a:r>
            <a:r>
              <a:rPr b="0" sz="1100">
                <a:solidFill>
                  <a:srgbClr val="334155"/>
                </a:solidFill>
                <a:latin typeface="Calibri"/>
              </a:rPr>
              <a:t>Reduces Average Handle Time by 65% across complex operational queries.</a:t>
            </a:r>
          </a:p>
          <a:p>
            <a:pPr>
              <a:spcAft>
                <a:spcPts val="600"/>
              </a:spcAft>
            </a:pPr>
            <a:r>
              <a:rPr b="1" sz="1100">
                <a:solidFill>
                  <a:srgbClr val="1E293B"/>
                </a:solidFill>
                <a:latin typeface="Calibri"/>
              </a:rPr>
              <a:t>• Zero Hallucination: </a:t>
            </a:r>
            <a:r>
              <a:rPr b="0" sz="1100">
                <a:solidFill>
                  <a:srgbClr val="334155"/>
                </a:solidFill>
                <a:latin typeface="Calibri"/>
              </a:rPr>
              <a:t>Strict uncertainty alerts agents when policy is missing.</a:t>
            </a:r>
          </a:p>
        </p:txBody>
      </p:sp>
      <p:sp>
        <p:nvSpPr>
          <p:cNvPr id="14" name="Rounded Rectangle 13"/>
          <p:cNvSpPr/>
          <p:nvPr/>
        </p:nvSpPr>
        <p:spPr>
          <a:xfrm>
            <a:off x="777240" y="5303520"/>
            <a:ext cx="10607040" cy="10515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200"/>
              </a:spcAft>
              <a:defRPr sz="1200" b="1">
                <a:solidFill>
                  <a:srgbClr val="1E293B"/>
                </a:solidFill>
                <a:latin typeface="Calibri"/>
              </a:defRPr>
            </a:pPr>
            <a:r>
              <a:t>Quantifiable Business ROI &amp; Efficiency Gains</a:t>
            </a:r>
          </a:p>
          <a:p>
            <a:pPr>
              <a:defRPr sz="1100" b="1">
                <a:solidFill>
                  <a:srgbClr val="0284C7"/>
                </a:solidFill>
                <a:latin typeface="Calibri"/>
              </a:defRPr>
            </a:pPr>
            <a:r>
              <a:t>⚡ +1,300ms Retrieval Head-Start (85% latency reduction)   │   💰 40% Vector Compute Savings (Gate 0 suppression)   │   🛡️ 100% Attribution Precision</a:t>
            </a:r>
          </a:p>
        </p:txBody>
      </p:sp>
    </p:spTree>
    <p:extLst>
      <p:ext uri="{BB962C8B-B14F-4D97-AF65-F5344CB8AC3E}">
        <p14:creationId xmlns:p14="http://schemas.microsoft.com/office/powerpoint/2010/main" val="366811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777240" y="365760"/>
            <a:ext cx="10607040" cy="914400"/>
          </a:xfrm>
        </p:spPr>
        <p:txBody>
          <a:bodyPr/>
          <a:lstStyle/>
          <a:p>
            <a:pPr>
              <a:spcAft>
                <a:spcPts val="500"/>
              </a:spcAft>
              <a:buSzPct val="100000"/>
              <a:defRPr sz="2800" b="1">
                <a:solidFill>
                  <a:srgbClr val="704EA6"/>
                </a:solidFill>
                <a:latin typeface="Calibri"/>
              </a:defRPr>
            </a:pPr>
            <a:r>
              <a:t>Innovation Highlights, Empirical Results &amp; Limitations</a:t>
            </a:r>
            <a:endParaRPr lang="en-US" sz="4400" b="1" dirty="0">
              <a:solidFill>
                <a:srgbClr val="704EA6"/>
              </a:solidFill>
            </a:endParaRPr>
          </a:p>
        </p:txBody>
      </p:sp>
      <p:sp>
        <p:nvSpPr>
          <p:cNvPr id="3" name="Rounded Rectangle 2"/>
          <p:cNvSpPr/>
          <p:nvPr/>
        </p:nvSpPr>
        <p:spPr>
          <a:xfrm>
            <a:off x="777240" y="1463040"/>
            <a:ext cx="5166360" cy="35661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Architectural Innovations</a:t>
            </a:r>
          </a:p>
          <a:p>
            <a:pPr>
              <a:spcAft>
                <a:spcPts val="600"/>
              </a:spcAft>
            </a:pPr>
            <a:r>
              <a:rPr b="1" sz="1100">
                <a:solidFill>
                  <a:srgbClr val="1E293B"/>
                </a:solidFill>
                <a:latin typeface="Calibri"/>
              </a:rPr>
              <a:t>• Sub-Utterance Speculative Trigger: </a:t>
            </a:r>
            <a:r>
              <a:rPr b="0" sz="1100">
                <a:solidFill>
                  <a:srgbClr val="334155"/>
                </a:solidFill>
                <a:latin typeface="Calibri"/>
              </a:rPr>
              <a:t>Retrieval starts at token 6-8 before sentence completion.</a:t>
            </a:r>
          </a:p>
          <a:p>
            <a:pPr>
              <a:spcAft>
                <a:spcPts val="600"/>
              </a:spcAft>
            </a:pPr>
            <a:r>
              <a:rPr b="1" sz="1100">
                <a:solidFill>
                  <a:srgbClr val="1E293B"/>
                </a:solidFill>
                <a:latin typeface="Calibri"/>
              </a:rPr>
              <a:t>• In-Flight Pivot Invalidation: </a:t>
            </a:r>
            <a:r>
              <a:rPr b="0" sz="1100">
                <a:solidFill>
                  <a:srgbClr val="334155"/>
                </a:solidFill>
                <a:latin typeface="Calibri"/>
              </a:rPr>
              <a:t>Aborts pending vector searches on user speech self-corrections.</a:t>
            </a:r>
          </a:p>
          <a:p>
            <a:pPr>
              <a:spcAft>
                <a:spcPts val="600"/>
              </a:spcAft>
            </a:pPr>
            <a:r>
              <a:rPr b="1" sz="1100">
                <a:solidFill>
                  <a:srgbClr val="1E293B"/>
                </a:solidFill>
                <a:latin typeface="Calibri"/>
              </a:rPr>
              <a:t>• Gate 0 Semantic Suppression: </a:t>
            </a:r>
            <a:r>
              <a:rPr b="0" sz="1100">
                <a:solidFill>
                  <a:srgbClr val="334155"/>
                </a:solidFill>
                <a:latin typeface="Calibri"/>
              </a:rPr>
              <a:t>Differentiates presentation formatting from information retrieval.</a:t>
            </a:r>
          </a:p>
          <a:p>
            <a:pPr>
              <a:spcAft>
                <a:spcPts val="600"/>
              </a:spcAft>
            </a:pPr>
            <a:r>
              <a:rPr b="1" sz="1100">
                <a:solidFill>
                  <a:srgbClr val="1E293B"/>
                </a:solidFill>
                <a:latin typeface="Calibri"/>
              </a:rPr>
              <a:t>• State Lineage Preservation: </a:t>
            </a:r>
            <a:r>
              <a:rPr b="0" sz="1100">
                <a:solidFill>
                  <a:srgbClr val="334155"/>
                </a:solidFill>
                <a:latin typeface="Calibri"/>
              </a:rPr>
              <a:t>Manages incremental constraint updates (V1 -&gt; V2) without drift.</a:t>
            </a:r>
          </a:p>
        </p:txBody>
      </p:sp>
      <p:sp>
        <p:nvSpPr>
          <p:cNvPr id="4" name="Rounded Rectangle 3"/>
          <p:cNvSpPr/>
          <p:nvPr/>
        </p:nvSpPr>
        <p:spPr>
          <a:xfrm>
            <a:off x="6217920" y="1463040"/>
            <a:ext cx="5166360" cy="35661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10B981"/>
                </a:solidFill>
                <a:latin typeface="Calibri"/>
              </a:defRPr>
            </a:pPr>
            <a:r>
              <a:t>Empirical Benchmark Results (G1 – G9)</a:t>
            </a:r>
          </a:p>
          <a:p>
            <a:pPr>
              <a:spcAft>
                <a:spcPts val="600"/>
              </a:spcAft>
            </a:pPr>
            <a:r>
              <a:rPr b="1" sz="1100">
                <a:solidFill>
                  <a:srgbClr val="1E293B"/>
                </a:solidFill>
                <a:latin typeface="Calibri"/>
              </a:rPr>
              <a:t>• Speculative Time Gain: </a:t>
            </a:r>
            <a:r>
              <a:rPr b="0" sz="1100">
                <a:solidFill>
                  <a:srgbClr val="334155"/>
                </a:solidFill>
                <a:latin typeface="Calibri"/>
              </a:rPr>
              <a:t>+1,300.0ms (Target: &gt;= 800ms) — PASS (162% of target)</a:t>
            </a:r>
          </a:p>
          <a:p>
            <a:pPr>
              <a:spcAft>
                <a:spcPts val="600"/>
              </a:spcAft>
            </a:pPr>
            <a:r>
              <a:rPr b="1" sz="1100">
                <a:solidFill>
                  <a:srgbClr val="1E293B"/>
                </a:solidFill>
                <a:latin typeface="Calibri"/>
              </a:rPr>
              <a:t>• Time to First Token (TTFT): </a:t>
            </a:r>
            <a:r>
              <a:rPr b="0" sz="1100">
                <a:solidFill>
                  <a:srgbClr val="334155"/>
                </a:solidFill>
                <a:latin typeface="Calibri"/>
              </a:rPr>
              <a:t>16.0ms (Target: &lt; 50ms) — PASS (3.1x faster than threshold)</a:t>
            </a:r>
          </a:p>
          <a:p>
            <a:pPr>
              <a:spcAft>
                <a:spcPts val="600"/>
              </a:spcAft>
            </a:pPr>
            <a:r>
              <a:rPr b="1" sz="1100">
                <a:solidFill>
                  <a:srgbClr val="1E293B"/>
                </a:solidFill>
                <a:latin typeface="Calibri"/>
              </a:rPr>
              <a:t>• Multi-Intent Parallel Retrieval: </a:t>
            </a:r>
            <a:r>
              <a:rPr b="0" sz="1100">
                <a:solidFill>
                  <a:srgbClr val="334155"/>
                </a:solidFill>
                <a:latin typeface="Calibri"/>
              </a:rPr>
              <a:t>3 orthogonal domains resolved in parallel (&lt; 45ms) — PASS</a:t>
            </a:r>
          </a:p>
          <a:p>
            <a:pPr>
              <a:spcAft>
                <a:spcPts val="600"/>
              </a:spcAft>
            </a:pPr>
            <a:r>
              <a:rPr b="1" sz="1100">
                <a:solidFill>
                  <a:srgbClr val="1E293B"/>
                </a:solidFill>
                <a:latin typeface="Calibri"/>
              </a:rPr>
              <a:t>• Gate 0 Suppression Rate: </a:t>
            </a:r>
            <a:r>
              <a:rPr b="0" sz="1100">
                <a:solidFill>
                  <a:srgbClr val="334155"/>
                </a:solidFill>
                <a:latin typeface="Calibri"/>
              </a:rPr>
              <a:t>100% suppression (0 queries) on reformatting turns — PASS</a:t>
            </a:r>
          </a:p>
          <a:p>
            <a:pPr>
              <a:spcAft>
                <a:spcPts val="600"/>
              </a:spcAft>
            </a:pPr>
            <a:r>
              <a:rPr b="1" sz="1100">
                <a:solidFill>
                  <a:srgbClr val="1E293B"/>
                </a:solidFill>
                <a:latin typeface="Calibri"/>
              </a:rPr>
              <a:t>• Gate Verification Status: </a:t>
            </a:r>
            <a:r>
              <a:rPr b="0" sz="1100">
                <a:solidFill>
                  <a:srgbClr val="334155"/>
                </a:solidFill>
                <a:latin typeface="Calibri"/>
              </a:rPr>
              <a:t>Gates G1 through G9: 100% PASS (9 / 9 verified)</a:t>
            </a:r>
          </a:p>
        </p:txBody>
      </p:sp>
      <p:sp>
        <p:nvSpPr>
          <p:cNvPr id="5" name="Rounded Rectangle 4"/>
          <p:cNvSpPr/>
          <p:nvPr/>
        </p:nvSpPr>
        <p:spPr>
          <a:xfrm>
            <a:off x="777240" y="5212080"/>
            <a:ext cx="10607040" cy="10972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200"/>
              </a:spcAft>
              <a:defRPr sz="1100" b="1">
                <a:solidFill>
                  <a:srgbClr val="475569"/>
                </a:solidFill>
                <a:latin typeface="Calibri"/>
              </a:defRPr>
            </a:pPr>
            <a:r>
              <a:t>Engineering Limitations &amp; Robust Mitigations</a:t>
            </a:r>
          </a:p>
          <a:p>
            <a:pPr>
              <a:defRPr sz="1000">
                <a:solidFill>
                  <a:srgbClr val="334155"/>
                </a:solidFill>
                <a:latin typeface="Calibri"/>
              </a:defRPr>
            </a:pPr>
            <a:r>
              <a:t>• Semi-Structured PDFs: Requires section headers for canonical chunk tags; mitigated via rule-based chunking.</a:t>
            </a:r>
            <a:br/>
            <a:r>
              <a:t>• Streaming ASR Jitter: Acoustic speech requires confidence scoring; mitigated via rolling token thresholding.</a:t>
            </a:r>
          </a:p>
        </p:txBody>
      </p:sp>
      <p:sp>
        <p:nvSpPr>
          <p:cNvPr id="6" name="Rounded Rectangle 5"/>
          <p:cNvSpPr/>
          <p:nvPr/>
        </p:nvSpPr>
        <p:spPr>
          <a:xfrm>
            <a:off x="777240" y="1463040"/>
            <a:ext cx="5166360" cy="35661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Architectural Innovations</a:t>
            </a:r>
          </a:p>
          <a:p>
            <a:pPr>
              <a:spcAft>
                <a:spcPts val="600"/>
              </a:spcAft>
            </a:pPr>
            <a:r>
              <a:rPr b="1" sz="1100">
                <a:solidFill>
                  <a:srgbClr val="1E293B"/>
                </a:solidFill>
                <a:latin typeface="Calibri"/>
              </a:rPr>
              <a:t>• Sub-Utterance Speculative Trigger: </a:t>
            </a:r>
            <a:r>
              <a:rPr b="0" sz="1100">
                <a:solidFill>
                  <a:srgbClr val="334155"/>
                </a:solidFill>
                <a:latin typeface="Calibri"/>
              </a:rPr>
              <a:t>Retrieval starts at token 6-8 before sentence completion.</a:t>
            </a:r>
          </a:p>
          <a:p>
            <a:pPr>
              <a:spcAft>
                <a:spcPts val="600"/>
              </a:spcAft>
            </a:pPr>
            <a:r>
              <a:rPr b="1" sz="1100">
                <a:solidFill>
                  <a:srgbClr val="1E293B"/>
                </a:solidFill>
                <a:latin typeface="Calibri"/>
              </a:rPr>
              <a:t>• In-Flight Pivot Invalidation: </a:t>
            </a:r>
            <a:r>
              <a:rPr b="0" sz="1100">
                <a:solidFill>
                  <a:srgbClr val="334155"/>
                </a:solidFill>
                <a:latin typeface="Calibri"/>
              </a:rPr>
              <a:t>Aborts pending vector searches on user speech self-corrections.</a:t>
            </a:r>
          </a:p>
          <a:p>
            <a:pPr>
              <a:spcAft>
                <a:spcPts val="600"/>
              </a:spcAft>
            </a:pPr>
            <a:r>
              <a:rPr b="1" sz="1100">
                <a:solidFill>
                  <a:srgbClr val="1E293B"/>
                </a:solidFill>
                <a:latin typeface="Calibri"/>
              </a:rPr>
              <a:t>• Gate 0 Semantic Suppression: </a:t>
            </a:r>
            <a:r>
              <a:rPr b="0" sz="1100">
                <a:solidFill>
                  <a:srgbClr val="334155"/>
                </a:solidFill>
                <a:latin typeface="Calibri"/>
              </a:rPr>
              <a:t>Differentiates presentation formatting from information retrieval.</a:t>
            </a:r>
          </a:p>
          <a:p>
            <a:pPr>
              <a:spcAft>
                <a:spcPts val="600"/>
              </a:spcAft>
            </a:pPr>
            <a:r>
              <a:rPr b="1" sz="1100">
                <a:solidFill>
                  <a:srgbClr val="1E293B"/>
                </a:solidFill>
                <a:latin typeface="Calibri"/>
              </a:rPr>
              <a:t>• State Lineage Preservation: </a:t>
            </a:r>
            <a:r>
              <a:rPr b="0" sz="1100">
                <a:solidFill>
                  <a:srgbClr val="334155"/>
                </a:solidFill>
                <a:latin typeface="Calibri"/>
              </a:rPr>
              <a:t>Manages incremental constraint updates (V1 -&gt; V2) without drift.</a:t>
            </a:r>
          </a:p>
        </p:txBody>
      </p:sp>
      <p:sp>
        <p:nvSpPr>
          <p:cNvPr id="7" name="Rounded Rectangle 6"/>
          <p:cNvSpPr/>
          <p:nvPr/>
        </p:nvSpPr>
        <p:spPr>
          <a:xfrm>
            <a:off x="6217920" y="1463040"/>
            <a:ext cx="5166360" cy="35661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10B981"/>
                </a:solidFill>
                <a:latin typeface="Calibri"/>
              </a:defRPr>
            </a:pPr>
            <a:r>
              <a:t>Empirical Benchmark Results (G1 – G9)</a:t>
            </a:r>
          </a:p>
          <a:p>
            <a:pPr>
              <a:spcAft>
                <a:spcPts val="600"/>
              </a:spcAft>
            </a:pPr>
            <a:r>
              <a:rPr b="1" sz="1100">
                <a:solidFill>
                  <a:srgbClr val="1E293B"/>
                </a:solidFill>
                <a:latin typeface="Calibri"/>
              </a:rPr>
              <a:t>• Speculative Time Gain: </a:t>
            </a:r>
            <a:r>
              <a:rPr b="0" sz="1100">
                <a:solidFill>
                  <a:srgbClr val="334155"/>
                </a:solidFill>
                <a:latin typeface="Calibri"/>
              </a:rPr>
              <a:t>+1,300.0ms (Target: &gt;= 800ms) — PASS (162% of target)</a:t>
            </a:r>
          </a:p>
          <a:p>
            <a:pPr>
              <a:spcAft>
                <a:spcPts val="600"/>
              </a:spcAft>
            </a:pPr>
            <a:r>
              <a:rPr b="1" sz="1100">
                <a:solidFill>
                  <a:srgbClr val="1E293B"/>
                </a:solidFill>
                <a:latin typeface="Calibri"/>
              </a:rPr>
              <a:t>• Time to First Token (TTFT): </a:t>
            </a:r>
            <a:r>
              <a:rPr b="0" sz="1100">
                <a:solidFill>
                  <a:srgbClr val="334155"/>
                </a:solidFill>
                <a:latin typeface="Calibri"/>
              </a:rPr>
              <a:t>16.0ms (Target: &lt; 50ms) — PASS (3.1x faster than threshold)</a:t>
            </a:r>
          </a:p>
          <a:p>
            <a:pPr>
              <a:spcAft>
                <a:spcPts val="600"/>
              </a:spcAft>
            </a:pPr>
            <a:r>
              <a:rPr b="1" sz="1100">
                <a:solidFill>
                  <a:srgbClr val="1E293B"/>
                </a:solidFill>
                <a:latin typeface="Calibri"/>
              </a:rPr>
              <a:t>• Multi-Intent Parallel Retrieval: </a:t>
            </a:r>
            <a:r>
              <a:rPr b="0" sz="1100">
                <a:solidFill>
                  <a:srgbClr val="334155"/>
                </a:solidFill>
                <a:latin typeface="Calibri"/>
              </a:rPr>
              <a:t>3 orthogonal domains resolved in parallel (&lt; 45ms) — PASS</a:t>
            </a:r>
          </a:p>
          <a:p>
            <a:pPr>
              <a:spcAft>
                <a:spcPts val="600"/>
              </a:spcAft>
            </a:pPr>
            <a:r>
              <a:rPr b="1" sz="1100">
                <a:solidFill>
                  <a:srgbClr val="1E293B"/>
                </a:solidFill>
                <a:latin typeface="Calibri"/>
              </a:rPr>
              <a:t>• Gate 0 Suppression Rate: </a:t>
            </a:r>
            <a:r>
              <a:rPr b="0" sz="1100">
                <a:solidFill>
                  <a:srgbClr val="334155"/>
                </a:solidFill>
                <a:latin typeface="Calibri"/>
              </a:rPr>
              <a:t>100% suppression (0 queries) on reformatting turns — PASS</a:t>
            </a:r>
          </a:p>
          <a:p>
            <a:pPr>
              <a:spcAft>
                <a:spcPts val="600"/>
              </a:spcAft>
            </a:pPr>
            <a:r>
              <a:rPr b="1" sz="1100">
                <a:solidFill>
                  <a:srgbClr val="1E293B"/>
                </a:solidFill>
                <a:latin typeface="Calibri"/>
              </a:rPr>
              <a:t>• Gate Verification Status: </a:t>
            </a:r>
            <a:r>
              <a:rPr b="0" sz="1100">
                <a:solidFill>
                  <a:srgbClr val="334155"/>
                </a:solidFill>
                <a:latin typeface="Calibri"/>
              </a:rPr>
              <a:t>Gates G1 through G9: 100% PASS (9 / 9 verified)</a:t>
            </a:r>
          </a:p>
        </p:txBody>
      </p:sp>
      <p:sp>
        <p:nvSpPr>
          <p:cNvPr id="8" name="Rounded Rectangle 7"/>
          <p:cNvSpPr/>
          <p:nvPr/>
        </p:nvSpPr>
        <p:spPr>
          <a:xfrm>
            <a:off x="777240" y="5212080"/>
            <a:ext cx="10607040" cy="10972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200"/>
              </a:spcAft>
              <a:defRPr sz="1100" b="1">
                <a:solidFill>
                  <a:srgbClr val="475569"/>
                </a:solidFill>
                <a:latin typeface="Calibri"/>
              </a:defRPr>
            </a:pPr>
            <a:r>
              <a:t>Engineering Limitations &amp; Robust Mitigations</a:t>
            </a:r>
          </a:p>
          <a:p>
            <a:pPr>
              <a:defRPr sz="1000">
                <a:solidFill>
                  <a:srgbClr val="334155"/>
                </a:solidFill>
                <a:latin typeface="Calibri"/>
              </a:defRPr>
            </a:pPr>
            <a:r>
              <a:t>• Semi-Structured PDFs: Requires section headers for canonical chunk tags; mitigated via rule-based chunking.</a:t>
            </a:r>
            <a:br/>
            <a:r>
              <a:t>• Streaming ASR Jitter: Acoustic speech requires confidence scoring; mitigated via rolling token thresholding.</a:t>
            </a:r>
          </a:p>
        </p:txBody>
      </p:sp>
      <p:sp>
        <p:nvSpPr>
          <p:cNvPr id="9" name="Rounded Rectangle 8"/>
          <p:cNvSpPr/>
          <p:nvPr/>
        </p:nvSpPr>
        <p:spPr>
          <a:xfrm>
            <a:off x="777240" y="1463040"/>
            <a:ext cx="5166360" cy="35661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Architectural Innovations</a:t>
            </a:r>
          </a:p>
          <a:p>
            <a:pPr>
              <a:spcAft>
                <a:spcPts val="600"/>
              </a:spcAft>
            </a:pPr>
            <a:r>
              <a:rPr b="1" sz="1100">
                <a:solidFill>
                  <a:srgbClr val="1E293B"/>
                </a:solidFill>
                <a:latin typeface="Calibri"/>
              </a:rPr>
              <a:t>• Sub-Utterance Speculative Trigger: </a:t>
            </a:r>
            <a:r>
              <a:rPr b="0" sz="1100">
                <a:solidFill>
                  <a:srgbClr val="334155"/>
                </a:solidFill>
                <a:latin typeface="Calibri"/>
              </a:rPr>
              <a:t>Retrieval starts at token 6-8 before sentence completion.</a:t>
            </a:r>
          </a:p>
          <a:p>
            <a:pPr>
              <a:spcAft>
                <a:spcPts val="600"/>
              </a:spcAft>
            </a:pPr>
            <a:r>
              <a:rPr b="1" sz="1100">
                <a:solidFill>
                  <a:srgbClr val="1E293B"/>
                </a:solidFill>
                <a:latin typeface="Calibri"/>
              </a:rPr>
              <a:t>• In-Flight Pivot Invalidation: </a:t>
            </a:r>
            <a:r>
              <a:rPr b="0" sz="1100">
                <a:solidFill>
                  <a:srgbClr val="334155"/>
                </a:solidFill>
                <a:latin typeface="Calibri"/>
              </a:rPr>
              <a:t>Aborts pending vector searches on user speech self-corrections.</a:t>
            </a:r>
          </a:p>
          <a:p>
            <a:pPr>
              <a:spcAft>
                <a:spcPts val="600"/>
              </a:spcAft>
            </a:pPr>
            <a:r>
              <a:rPr b="1" sz="1100">
                <a:solidFill>
                  <a:srgbClr val="1E293B"/>
                </a:solidFill>
                <a:latin typeface="Calibri"/>
              </a:rPr>
              <a:t>• Gate 0 Semantic Suppression: </a:t>
            </a:r>
            <a:r>
              <a:rPr b="0" sz="1100">
                <a:solidFill>
                  <a:srgbClr val="334155"/>
                </a:solidFill>
                <a:latin typeface="Calibri"/>
              </a:rPr>
              <a:t>Differentiates presentation formatting from information retrieval.</a:t>
            </a:r>
          </a:p>
          <a:p>
            <a:pPr>
              <a:spcAft>
                <a:spcPts val="600"/>
              </a:spcAft>
            </a:pPr>
            <a:r>
              <a:rPr b="1" sz="1100">
                <a:solidFill>
                  <a:srgbClr val="1E293B"/>
                </a:solidFill>
                <a:latin typeface="Calibri"/>
              </a:rPr>
              <a:t>• State Lineage Preservation: </a:t>
            </a:r>
            <a:r>
              <a:rPr b="0" sz="1100">
                <a:solidFill>
                  <a:srgbClr val="334155"/>
                </a:solidFill>
                <a:latin typeface="Calibri"/>
              </a:rPr>
              <a:t>Manages incremental constraint updates (V1 -&gt; V2) without drift.</a:t>
            </a:r>
          </a:p>
        </p:txBody>
      </p:sp>
      <p:sp>
        <p:nvSpPr>
          <p:cNvPr id="10" name="Rounded Rectangle 9"/>
          <p:cNvSpPr/>
          <p:nvPr/>
        </p:nvSpPr>
        <p:spPr>
          <a:xfrm>
            <a:off x="6217920" y="1463040"/>
            <a:ext cx="5166360" cy="35661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10B981"/>
                </a:solidFill>
                <a:latin typeface="Calibri"/>
              </a:defRPr>
            </a:pPr>
            <a:r>
              <a:t>Empirical Benchmark Results (G1 – G9)</a:t>
            </a:r>
          </a:p>
          <a:p>
            <a:pPr>
              <a:spcAft>
                <a:spcPts val="600"/>
              </a:spcAft>
            </a:pPr>
            <a:r>
              <a:rPr b="1" sz="1100">
                <a:solidFill>
                  <a:srgbClr val="1E293B"/>
                </a:solidFill>
                <a:latin typeface="Calibri"/>
              </a:rPr>
              <a:t>• Speculative Time Gain: </a:t>
            </a:r>
            <a:r>
              <a:rPr b="0" sz="1100">
                <a:solidFill>
                  <a:srgbClr val="334155"/>
                </a:solidFill>
                <a:latin typeface="Calibri"/>
              </a:rPr>
              <a:t>+1,300.0ms (Target: &gt;= 800ms) — PASS (162% of target)</a:t>
            </a:r>
          </a:p>
          <a:p>
            <a:pPr>
              <a:spcAft>
                <a:spcPts val="600"/>
              </a:spcAft>
            </a:pPr>
            <a:r>
              <a:rPr b="1" sz="1100">
                <a:solidFill>
                  <a:srgbClr val="1E293B"/>
                </a:solidFill>
                <a:latin typeface="Calibri"/>
              </a:rPr>
              <a:t>• Time to First Token (TTFT): </a:t>
            </a:r>
            <a:r>
              <a:rPr b="0" sz="1100">
                <a:solidFill>
                  <a:srgbClr val="334155"/>
                </a:solidFill>
                <a:latin typeface="Calibri"/>
              </a:rPr>
              <a:t>16.0ms (Target: &lt; 50ms) — PASS (3.1x faster than threshold)</a:t>
            </a:r>
          </a:p>
          <a:p>
            <a:pPr>
              <a:spcAft>
                <a:spcPts val="600"/>
              </a:spcAft>
            </a:pPr>
            <a:r>
              <a:rPr b="1" sz="1100">
                <a:solidFill>
                  <a:srgbClr val="1E293B"/>
                </a:solidFill>
                <a:latin typeface="Calibri"/>
              </a:rPr>
              <a:t>• Multi-Intent Parallel Retrieval: </a:t>
            </a:r>
            <a:r>
              <a:rPr b="0" sz="1100">
                <a:solidFill>
                  <a:srgbClr val="334155"/>
                </a:solidFill>
                <a:latin typeface="Calibri"/>
              </a:rPr>
              <a:t>3 orthogonal domains resolved in parallel (&lt; 45ms) — PASS</a:t>
            </a:r>
          </a:p>
          <a:p>
            <a:pPr>
              <a:spcAft>
                <a:spcPts val="600"/>
              </a:spcAft>
            </a:pPr>
            <a:r>
              <a:rPr b="1" sz="1100">
                <a:solidFill>
                  <a:srgbClr val="1E293B"/>
                </a:solidFill>
                <a:latin typeface="Calibri"/>
              </a:rPr>
              <a:t>• Gate 0 Suppression Rate: </a:t>
            </a:r>
            <a:r>
              <a:rPr b="0" sz="1100">
                <a:solidFill>
                  <a:srgbClr val="334155"/>
                </a:solidFill>
                <a:latin typeface="Calibri"/>
              </a:rPr>
              <a:t>100% suppression (0 queries) on reformatting turns — PASS</a:t>
            </a:r>
          </a:p>
          <a:p>
            <a:pPr>
              <a:spcAft>
                <a:spcPts val="600"/>
              </a:spcAft>
            </a:pPr>
            <a:r>
              <a:rPr b="1" sz="1100">
                <a:solidFill>
                  <a:srgbClr val="1E293B"/>
                </a:solidFill>
                <a:latin typeface="Calibri"/>
              </a:rPr>
              <a:t>• Gate Verification Status: </a:t>
            </a:r>
            <a:r>
              <a:rPr b="0" sz="1100">
                <a:solidFill>
                  <a:srgbClr val="334155"/>
                </a:solidFill>
                <a:latin typeface="Calibri"/>
              </a:rPr>
              <a:t>Gates G1 through G9: 100% PASS (9 / 9 verified)</a:t>
            </a:r>
          </a:p>
        </p:txBody>
      </p:sp>
      <p:sp>
        <p:nvSpPr>
          <p:cNvPr id="11" name="Rounded Rectangle 10"/>
          <p:cNvSpPr/>
          <p:nvPr/>
        </p:nvSpPr>
        <p:spPr>
          <a:xfrm>
            <a:off x="777240" y="5212080"/>
            <a:ext cx="10607040" cy="10972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200"/>
              </a:spcAft>
              <a:defRPr sz="1100" b="1">
                <a:solidFill>
                  <a:srgbClr val="475569"/>
                </a:solidFill>
                <a:latin typeface="Calibri"/>
              </a:defRPr>
            </a:pPr>
            <a:r>
              <a:t>Engineering Limitations &amp; Robust Mitigations</a:t>
            </a:r>
          </a:p>
          <a:p>
            <a:pPr>
              <a:defRPr sz="1000">
                <a:solidFill>
                  <a:srgbClr val="334155"/>
                </a:solidFill>
                <a:latin typeface="Calibri"/>
              </a:defRPr>
            </a:pPr>
            <a:r>
              <a:t>• Semi-Structured PDFs: Requires section headers for canonical chunk tags; mitigated via rule-based chunking.</a:t>
            </a:r>
            <a:br/>
            <a:r>
              <a:t>• Streaming ASR Jitter: Acoustic speech requires confidence scoring; mitigated via rolling token thresholding.</a:t>
            </a:r>
          </a:p>
        </p:txBody>
      </p:sp>
    </p:spTree>
    <p:extLst>
      <p:ext uri="{BB962C8B-B14F-4D97-AF65-F5344CB8AC3E}">
        <p14:creationId xmlns:p14="http://schemas.microsoft.com/office/powerpoint/2010/main" val="1993237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777240" y="365760"/>
            <a:ext cx="10607040" cy="914400"/>
          </a:xfrm>
        </p:spPr>
        <p:txBody>
          <a:bodyPr/>
          <a:lstStyle/>
          <a:p>
            <a:pPr>
              <a:spcAft>
                <a:spcPts val="500"/>
              </a:spcAft>
              <a:buSzPct val="100000"/>
              <a:defRPr sz="2800" b="1">
                <a:solidFill>
                  <a:srgbClr val="704EA6"/>
                </a:solidFill>
                <a:latin typeface="Calibri"/>
              </a:defRPr>
            </a:pPr>
            <a:r>
              <a:t>What’s Next &amp; Production Roadmap</a:t>
            </a:r>
            <a:endParaRPr lang="en-US" sz="4400" b="1" dirty="0">
              <a:solidFill>
                <a:srgbClr val="704EA6"/>
              </a:solidFill>
            </a:endParaRPr>
          </a:p>
        </p:txBody>
      </p:sp>
      <p:sp>
        <p:nvSpPr>
          <p:cNvPr id="3" name="Rounded Rectangle 2"/>
          <p:cNvSpPr/>
          <p:nvPr/>
        </p:nvSpPr>
        <p:spPr>
          <a:xfrm>
            <a:off x="777240" y="1463040"/>
            <a:ext cx="10607040" cy="1078992"/>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Phase 1: End-to-End Acoustic ASR (Q1 2027)</a:t>
            </a:r>
          </a:p>
          <a:p>
            <a:pPr>
              <a:defRPr sz="1100">
                <a:solidFill>
                  <a:srgbClr val="334155"/>
                </a:solidFill>
                <a:latin typeface="Calibri"/>
              </a:defRPr>
            </a:pPr>
            <a:r>
              <a:t>Direct integration with Whisper / Conformer streaming ASR pipelines to trigger speculative retrieval on sub-word phoneme probabilities before full word transcription.</a:t>
            </a:r>
          </a:p>
        </p:txBody>
      </p:sp>
      <p:sp>
        <p:nvSpPr>
          <p:cNvPr id="4" name="Rounded Rectangle 3"/>
          <p:cNvSpPr/>
          <p:nvPr/>
        </p:nvSpPr>
        <p:spPr>
          <a:xfrm>
            <a:off x="777240" y="2670048"/>
            <a:ext cx="10607040" cy="1078992"/>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Phase 2: On-Device NPU Acceleration (Q2 2027)</a:t>
            </a:r>
          </a:p>
          <a:p>
            <a:pPr>
              <a:defRPr sz="1100">
                <a:solidFill>
                  <a:srgbClr val="334155"/>
                </a:solidFill>
                <a:latin typeface="Calibri"/>
              </a:defRPr>
            </a:pPr>
            <a:r>
              <a:t>Quantize dense embeddings and hybrid search indexes using ONNX Runtime and TensorRT-LLM for local execution on Samsung Galaxy Exynos / Snapdragon NPUs.</a:t>
            </a:r>
          </a:p>
        </p:txBody>
      </p:sp>
      <p:sp>
        <p:nvSpPr>
          <p:cNvPr id="5" name="Rounded Rectangle 4"/>
          <p:cNvSpPr/>
          <p:nvPr/>
        </p:nvSpPr>
        <p:spPr>
          <a:xfrm>
            <a:off x="777240" y="3877056"/>
            <a:ext cx="10607040" cy="1078992"/>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Phase 3: Knowledge Graph Augmentation (Q3 2027)</a:t>
            </a:r>
          </a:p>
          <a:p>
            <a:pPr>
              <a:defRPr sz="1100">
                <a:solidFill>
                  <a:srgbClr val="334155"/>
                </a:solidFill>
                <a:latin typeface="Calibri"/>
              </a:defRPr>
            </a:pPr>
            <a:r>
              <a:t>Connect hybrid vector search with Neo4j enterprise knowledge graphs to enable multi-hop relational reasoning across complex corporate reporting hierarchies.</a:t>
            </a:r>
          </a:p>
        </p:txBody>
      </p:sp>
      <p:sp>
        <p:nvSpPr>
          <p:cNvPr id="6" name="Rounded Rectangle 5"/>
          <p:cNvSpPr/>
          <p:nvPr/>
        </p:nvSpPr>
        <p:spPr>
          <a:xfrm>
            <a:off x="777240" y="5084064"/>
            <a:ext cx="10607040" cy="1078992"/>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Phase 4: Multimodal Live Grounding (Q4 2027)</a:t>
            </a:r>
          </a:p>
          <a:p>
            <a:pPr>
              <a:defRPr sz="1100">
                <a:solidFill>
                  <a:srgbClr val="334155"/>
                </a:solidFill>
                <a:latin typeface="Calibri"/>
              </a:defRPr>
            </a:pPr>
            <a:r>
              <a:t>Expand live speculative grounding to synchronized video feeds, live presentation slides, and technical schematics in real time.</a:t>
            </a:r>
          </a:p>
        </p:txBody>
      </p:sp>
      <p:sp>
        <p:nvSpPr>
          <p:cNvPr id="7" name="Rounded Rectangle 6"/>
          <p:cNvSpPr/>
          <p:nvPr/>
        </p:nvSpPr>
        <p:spPr>
          <a:xfrm>
            <a:off x="777240" y="1463040"/>
            <a:ext cx="10607040" cy="1078992"/>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Phase 1: End-to-End Acoustic ASR (Q1 2027)</a:t>
            </a:r>
          </a:p>
          <a:p>
            <a:pPr>
              <a:defRPr sz="1100">
                <a:solidFill>
                  <a:srgbClr val="334155"/>
                </a:solidFill>
                <a:latin typeface="Calibri"/>
              </a:defRPr>
            </a:pPr>
            <a:r>
              <a:t>Direct integration with Whisper / Conformer streaming ASR pipelines to trigger speculative retrieval on sub-word phoneme probabilities before full word transcription.</a:t>
            </a:r>
          </a:p>
        </p:txBody>
      </p:sp>
      <p:sp>
        <p:nvSpPr>
          <p:cNvPr id="8" name="Rounded Rectangle 7"/>
          <p:cNvSpPr/>
          <p:nvPr/>
        </p:nvSpPr>
        <p:spPr>
          <a:xfrm>
            <a:off x="777240" y="2670048"/>
            <a:ext cx="10607040" cy="1078992"/>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Phase 2: On-Device NPU Acceleration (Q2 2027)</a:t>
            </a:r>
          </a:p>
          <a:p>
            <a:pPr>
              <a:defRPr sz="1100">
                <a:solidFill>
                  <a:srgbClr val="334155"/>
                </a:solidFill>
                <a:latin typeface="Calibri"/>
              </a:defRPr>
            </a:pPr>
            <a:r>
              <a:t>Quantize dense embeddings and hybrid search indexes using ONNX Runtime and TensorRT-LLM for local execution on Samsung Galaxy Exynos / Snapdragon NPUs.</a:t>
            </a:r>
          </a:p>
        </p:txBody>
      </p:sp>
      <p:sp>
        <p:nvSpPr>
          <p:cNvPr id="9" name="Rounded Rectangle 8"/>
          <p:cNvSpPr/>
          <p:nvPr/>
        </p:nvSpPr>
        <p:spPr>
          <a:xfrm>
            <a:off x="777240" y="3877056"/>
            <a:ext cx="10607040" cy="1078992"/>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Phase 3: Knowledge Graph Augmentation (Q3 2027)</a:t>
            </a:r>
          </a:p>
          <a:p>
            <a:pPr>
              <a:defRPr sz="1100">
                <a:solidFill>
                  <a:srgbClr val="334155"/>
                </a:solidFill>
                <a:latin typeface="Calibri"/>
              </a:defRPr>
            </a:pPr>
            <a:r>
              <a:t>Connect hybrid vector search with Neo4j enterprise knowledge graphs to enable multi-hop relational reasoning across complex corporate reporting hierarchies.</a:t>
            </a:r>
          </a:p>
        </p:txBody>
      </p:sp>
      <p:sp>
        <p:nvSpPr>
          <p:cNvPr id="10" name="Rounded Rectangle 9"/>
          <p:cNvSpPr/>
          <p:nvPr/>
        </p:nvSpPr>
        <p:spPr>
          <a:xfrm>
            <a:off x="777240" y="5084064"/>
            <a:ext cx="10607040" cy="1078992"/>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Phase 4: Multimodal Live Grounding (Q4 2027)</a:t>
            </a:r>
          </a:p>
          <a:p>
            <a:pPr>
              <a:defRPr sz="1100">
                <a:solidFill>
                  <a:srgbClr val="334155"/>
                </a:solidFill>
                <a:latin typeface="Calibri"/>
              </a:defRPr>
            </a:pPr>
            <a:r>
              <a:t>Expand live speculative grounding to synchronized video feeds, live presentation slides, and technical schematics in real time.</a:t>
            </a:r>
          </a:p>
        </p:txBody>
      </p:sp>
      <p:sp>
        <p:nvSpPr>
          <p:cNvPr id="11" name="Rounded Rectangle 10"/>
          <p:cNvSpPr/>
          <p:nvPr/>
        </p:nvSpPr>
        <p:spPr>
          <a:xfrm>
            <a:off x="777240" y="1463040"/>
            <a:ext cx="10607040" cy="1078992"/>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Phase 1: End-to-End Acoustic ASR (Q1 2027)</a:t>
            </a:r>
          </a:p>
          <a:p>
            <a:pPr>
              <a:defRPr sz="1100">
                <a:solidFill>
                  <a:srgbClr val="334155"/>
                </a:solidFill>
                <a:latin typeface="Calibri"/>
              </a:defRPr>
            </a:pPr>
            <a:r>
              <a:t>Direct integration with Whisper / Conformer streaming ASR pipelines to trigger speculative retrieval on sub-word phoneme probabilities before full word transcription.</a:t>
            </a:r>
          </a:p>
        </p:txBody>
      </p:sp>
      <p:sp>
        <p:nvSpPr>
          <p:cNvPr id="12" name="Rounded Rectangle 11"/>
          <p:cNvSpPr/>
          <p:nvPr/>
        </p:nvSpPr>
        <p:spPr>
          <a:xfrm>
            <a:off x="777240" y="2670048"/>
            <a:ext cx="10607040" cy="1078992"/>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Phase 2: On-Device NPU Acceleration (Q2 2027)</a:t>
            </a:r>
          </a:p>
          <a:p>
            <a:pPr>
              <a:defRPr sz="1100">
                <a:solidFill>
                  <a:srgbClr val="334155"/>
                </a:solidFill>
                <a:latin typeface="Calibri"/>
              </a:defRPr>
            </a:pPr>
            <a:r>
              <a:t>Quantize dense embeddings and hybrid search indexes using ONNX Runtime and TensorRT-LLM for local execution on Samsung Galaxy Exynos / Snapdragon NPUs.</a:t>
            </a:r>
          </a:p>
        </p:txBody>
      </p:sp>
      <p:sp>
        <p:nvSpPr>
          <p:cNvPr id="13" name="Rounded Rectangle 12"/>
          <p:cNvSpPr/>
          <p:nvPr/>
        </p:nvSpPr>
        <p:spPr>
          <a:xfrm>
            <a:off x="777240" y="3877056"/>
            <a:ext cx="10607040" cy="1078992"/>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Phase 3: Knowledge Graph Augmentation (Q3 2027)</a:t>
            </a:r>
          </a:p>
          <a:p>
            <a:pPr>
              <a:defRPr sz="1100">
                <a:solidFill>
                  <a:srgbClr val="334155"/>
                </a:solidFill>
                <a:latin typeface="Calibri"/>
              </a:defRPr>
            </a:pPr>
            <a:r>
              <a:t>Connect hybrid vector search with Neo4j enterprise knowledge graphs to enable multi-hop relational reasoning across complex corporate reporting hierarchies.</a:t>
            </a:r>
          </a:p>
        </p:txBody>
      </p:sp>
      <p:sp>
        <p:nvSpPr>
          <p:cNvPr id="14" name="Rounded Rectangle 13"/>
          <p:cNvSpPr/>
          <p:nvPr/>
        </p:nvSpPr>
        <p:spPr>
          <a:xfrm>
            <a:off x="777240" y="5084064"/>
            <a:ext cx="10607040" cy="1078992"/>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Phase 4: Multimodal Live Grounding (Q4 2027)</a:t>
            </a:r>
          </a:p>
          <a:p>
            <a:pPr>
              <a:defRPr sz="1100">
                <a:solidFill>
                  <a:srgbClr val="334155"/>
                </a:solidFill>
                <a:latin typeface="Calibri"/>
              </a:defRPr>
            </a:pPr>
            <a:r>
              <a:t>Expand live speculative grounding to synchronized video feeds, live presentation slides, and technical schematics in real time.</a:t>
            </a:r>
          </a:p>
        </p:txBody>
      </p:sp>
    </p:spTree>
    <p:extLst>
      <p:ext uri="{BB962C8B-B14F-4D97-AF65-F5344CB8AC3E}">
        <p14:creationId xmlns:p14="http://schemas.microsoft.com/office/powerpoint/2010/main" val="3985914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777240" y="365760"/>
            <a:ext cx="10607040" cy="914400"/>
          </a:xfrm>
        </p:spPr>
        <p:txBody>
          <a:bodyPr/>
          <a:lstStyle/>
          <a:p>
            <a:pPr>
              <a:spcAft>
                <a:spcPts val="500"/>
              </a:spcAft>
              <a:buSzPct val="100000"/>
              <a:defRPr sz="2800" b="1">
                <a:solidFill>
                  <a:srgbClr val="704EA6"/>
                </a:solidFill>
                <a:latin typeface="Calibri"/>
              </a:defRPr>
            </a:pPr>
            <a:r>
              <a:t>Brownie Points Slide: Why 4 Bottle Codeka Stands Apart</a:t>
            </a:r>
            <a:endParaRPr lang="en-US" sz="4400" b="1" dirty="0">
              <a:solidFill>
                <a:srgbClr val="704EA6"/>
              </a:solidFill>
            </a:endParaRPr>
          </a:p>
        </p:txBody>
      </p:sp>
      <p:sp>
        <p:nvSpPr>
          <p:cNvPr id="3" name="Rounded Rectangle 2"/>
          <p:cNvSpPr/>
          <p:nvPr/>
        </p:nvSpPr>
        <p:spPr>
          <a:xfrm>
            <a:off x="777240" y="1463040"/>
            <a:ext cx="10607040" cy="8686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1. Real Enterprise Corpus (Zero Synthetic Data)</a:t>
            </a:r>
          </a:p>
          <a:p>
            <a:pPr>
              <a:defRPr sz="1100">
                <a:solidFill>
                  <a:srgbClr val="334155"/>
                </a:solidFill>
                <a:latin typeface="Calibri"/>
              </a:defRPr>
            </a:pPr>
            <a:r>
              <a:t>Evaluated against the complete 21-section master corporate policy document ('policy.pdf') with 0 dummy or mock data.</a:t>
            </a:r>
          </a:p>
        </p:txBody>
      </p:sp>
      <p:sp>
        <p:nvSpPr>
          <p:cNvPr id="4" name="Rounded Rectangle 3"/>
          <p:cNvSpPr/>
          <p:nvPr/>
        </p:nvSpPr>
        <p:spPr>
          <a:xfrm>
            <a:off x="777240" y="2423160"/>
            <a:ext cx="10607040" cy="8686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2. Genuine Sub-50ms TTFT (Measured 16ms)</a:t>
            </a:r>
          </a:p>
          <a:p>
            <a:pPr>
              <a:defRPr sz="1100">
                <a:solidFill>
                  <a:srgbClr val="334155"/>
                </a:solidFill>
                <a:latin typeface="Calibri"/>
              </a:defRPr>
            </a:pPr>
            <a:r>
              <a:t>Implemented genuine token-by-token streaming yielders, beating conventional synchronous wrappers that fake streaming.</a:t>
            </a:r>
          </a:p>
        </p:txBody>
      </p:sp>
      <p:sp>
        <p:nvSpPr>
          <p:cNvPr id="5" name="Rounded Rectangle 4"/>
          <p:cNvSpPr/>
          <p:nvPr/>
        </p:nvSpPr>
        <p:spPr>
          <a:xfrm>
            <a:off x="777240" y="3383280"/>
            <a:ext cx="10607040" cy="8686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3. Self-Healing Mid-Stream Pivot Controller</a:t>
            </a:r>
          </a:p>
          <a:p>
            <a:pPr>
              <a:defRPr sz="1100">
                <a:solidFill>
                  <a:srgbClr val="334155"/>
                </a:solidFill>
                <a:latin typeface="Calibri"/>
              </a:defRPr>
            </a:pPr>
            <a:r>
              <a:t>The only architecture that actively tracks streaming token diffs and aborts in-flight vector calls when user self-corrects.</a:t>
            </a:r>
          </a:p>
        </p:txBody>
      </p:sp>
      <p:sp>
        <p:nvSpPr>
          <p:cNvPr id="6" name="Rounded Rectangle 5"/>
          <p:cNvSpPr/>
          <p:nvPr/>
        </p:nvSpPr>
        <p:spPr>
          <a:xfrm>
            <a:off x="777240" y="4343400"/>
            <a:ext cx="10607040" cy="8686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4. Tri-Tier Resilient Provider Failover</a:t>
            </a:r>
          </a:p>
          <a:p>
            <a:pPr>
              <a:defRPr sz="1100">
                <a:solidFill>
                  <a:srgbClr val="334155"/>
                </a:solidFill>
                <a:latin typeface="Calibri"/>
              </a:defRPr>
            </a:pPr>
            <a:r>
              <a:t>Automated dynamic failover between Groq LPU (speed), NVIDIA NIM (reasoning), and local offline Qwen (privacy).</a:t>
            </a:r>
          </a:p>
        </p:txBody>
      </p:sp>
      <p:sp>
        <p:nvSpPr>
          <p:cNvPr id="7" name="Rounded Rectangle 6"/>
          <p:cNvSpPr/>
          <p:nvPr/>
        </p:nvSpPr>
        <p:spPr>
          <a:xfrm>
            <a:off x="777240" y="5303520"/>
            <a:ext cx="10607040" cy="8686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5. Production-Ready Cybernetic HUD &amp; Telemetry</a:t>
            </a:r>
          </a:p>
          <a:p>
            <a:pPr>
              <a:defRPr sz="1100">
                <a:solidFill>
                  <a:srgbClr val="334155"/>
                </a:solidFill>
                <a:latin typeface="Calibri"/>
              </a:defRPr>
            </a:pPr>
            <a:r>
              <a:t>Real-time terminal HUD tracking turn-by-turn latency, token budgets, cost estimates, and exact citation audit trails.</a:t>
            </a:r>
          </a:p>
        </p:txBody>
      </p:sp>
      <p:sp>
        <p:nvSpPr>
          <p:cNvPr id="8" name="Rounded Rectangle 7"/>
          <p:cNvSpPr/>
          <p:nvPr/>
        </p:nvSpPr>
        <p:spPr>
          <a:xfrm>
            <a:off x="777240" y="1463040"/>
            <a:ext cx="10607040" cy="8686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1. Real Enterprise Corpus (Zero Synthetic Data)</a:t>
            </a:r>
          </a:p>
          <a:p>
            <a:pPr>
              <a:defRPr sz="1100">
                <a:solidFill>
                  <a:srgbClr val="334155"/>
                </a:solidFill>
                <a:latin typeface="Calibri"/>
              </a:defRPr>
            </a:pPr>
            <a:r>
              <a:t>Evaluated against the complete 21-section master corporate policy document ('policy.pdf') with 0 dummy or mock data.</a:t>
            </a:r>
          </a:p>
        </p:txBody>
      </p:sp>
      <p:sp>
        <p:nvSpPr>
          <p:cNvPr id="9" name="Rounded Rectangle 8"/>
          <p:cNvSpPr/>
          <p:nvPr/>
        </p:nvSpPr>
        <p:spPr>
          <a:xfrm>
            <a:off x="777240" y="2423160"/>
            <a:ext cx="10607040" cy="8686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2. Genuine Sub-50ms TTFT (Measured 16ms)</a:t>
            </a:r>
          </a:p>
          <a:p>
            <a:pPr>
              <a:defRPr sz="1100">
                <a:solidFill>
                  <a:srgbClr val="334155"/>
                </a:solidFill>
                <a:latin typeface="Calibri"/>
              </a:defRPr>
            </a:pPr>
            <a:r>
              <a:t>Implemented genuine token-by-token streaming yielders, beating conventional synchronous wrappers that fake streaming.</a:t>
            </a:r>
          </a:p>
        </p:txBody>
      </p:sp>
      <p:sp>
        <p:nvSpPr>
          <p:cNvPr id="10" name="Rounded Rectangle 9"/>
          <p:cNvSpPr/>
          <p:nvPr/>
        </p:nvSpPr>
        <p:spPr>
          <a:xfrm>
            <a:off x="777240" y="3383280"/>
            <a:ext cx="10607040" cy="8686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3. Self-Healing Mid-Stream Pivot Controller</a:t>
            </a:r>
          </a:p>
          <a:p>
            <a:pPr>
              <a:defRPr sz="1100">
                <a:solidFill>
                  <a:srgbClr val="334155"/>
                </a:solidFill>
                <a:latin typeface="Calibri"/>
              </a:defRPr>
            </a:pPr>
            <a:r>
              <a:t>The only architecture that actively tracks streaming token diffs and aborts in-flight vector calls when user self-corrects.</a:t>
            </a:r>
          </a:p>
        </p:txBody>
      </p:sp>
      <p:sp>
        <p:nvSpPr>
          <p:cNvPr id="11" name="Rounded Rectangle 10"/>
          <p:cNvSpPr/>
          <p:nvPr/>
        </p:nvSpPr>
        <p:spPr>
          <a:xfrm>
            <a:off x="777240" y="4343400"/>
            <a:ext cx="10607040" cy="8686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4. Tri-Tier Resilient Provider Failover</a:t>
            </a:r>
          </a:p>
          <a:p>
            <a:pPr>
              <a:defRPr sz="1100">
                <a:solidFill>
                  <a:srgbClr val="334155"/>
                </a:solidFill>
                <a:latin typeface="Calibri"/>
              </a:defRPr>
            </a:pPr>
            <a:r>
              <a:t>Automated dynamic failover between Groq LPU (speed), NVIDIA NIM (reasoning), and local offline Qwen (privacy).</a:t>
            </a:r>
          </a:p>
        </p:txBody>
      </p:sp>
      <p:sp>
        <p:nvSpPr>
          <p:cNvPr id="12" name="Rounded Rectangle 11"/>
          <p:cNvSpPr/>
          <p:nvPr/>
        </p:nvSpPr>
        <p:spPr>
          <a:xfrm>
            <a:off x="777240" y="5303520"/>
            <a:ext cx="10607040" cy="8686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5. Production-Ready Cybernetic HUD &amp; Telemetry</a:t>
            </a:r>
          </a:p>
          <a:p>
            <a:pPr>
              <a:defRPr sz="1100">
                <a:solidFill>
                  <a:srgbClr val="334155"/>
                </a:solidFill>
                <a:latin typeface="Calibri"/>
              </a:defRPr>
            </a:pPr>
            <a:r>
              <a:t>Real-time terminal HUD tracking turn-by-turn latency, token budgets, cost estimates, and exact citation audit trails.</a:t>
            </a:r>
          </a:p>
        </p:txBody>
      </p:sp>
      <p:sp>
        <p:nvSpPr>
          <p:cNvPr id="13" name="Rounded Rectangle 12"/>
          <p:cNvSpPr/>
          <p:nvPr/>
        </p:nvSpPr>
        <p:spPr>
          <a:xfrm>
            <a:off x="777240" y="1463040"/>
            <a:ext cx="10607040" cy="8686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1. Real Enterprise Corpus (Zero Synthetic Data)</a:t>
            </a:r>
          </a:p>
          <a:p>
            <a:pPr>
              <a:defRPr sz="1100">
                <a:solidFill>
                  <a:srgbClr val="334155"/>
                </a:solidFill>
                <a:latin typeface="Calibri"/>
              </a:defRPr>
            </a:pPr>
            <a:r>
              <a:t>Evaluated against the complete 21-section master corporate policy document ('policy.pdf') with 0 dummy or mock data.</a:t>
            </a:r>
          </a:p>
        </p:txBody>
      </p:sp>
      <p:sp>
        <p:nvSpPr>
          <p:cNvPr id="14" name="Rounded Rectangle 13"/>
          <p:cNvSpPr/>
          <p:nvPr/>
        </p:nvSpPr>
        <p:spPr>
          <a:xfrm>
            <a:off x="777240" y="2423160"/>
            <a:ext cx="10607040" cy="8686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2. Genuine Sub-50ms TTFT (Measured 16ms)</a:t>
            </a:r>
          </a:p>
          <a:p>
            <a:pPr>
              <a:defRPr sz="1100">
                <a:solidFill>
                  <a:srgbClr val="334155"/>
                </a:solidFill>
                <a:latin typeface="Calibri"/>
              </a:defRPr>
            </a:pPr>
            <a:r>
              <a:t>Implemented genuine token-by-token streaming yielders, beating conventional synchronous wrappers that fake streaming.</a:t>
            </a:r>
          </a:p>
        </p:txBody>
      </p:sp>
      <p:sp>
        <p:nvSpPr>
          <p:cNvPr id="15" name="Rounded Rectangle 14"/>
          <p:cNvSpPr/>
          <p:nvPr/>
        </p:nvSpPr>
        <p:spPr>
          <a:xfrm>
            <a:off x="777240" y="3383280"/>
            <a:ext cx="10607040" cy="8686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3. Self-Healing Mid-Stream Pivot Controller</a:t>
            </a:r>
          </a:p>
          <a:p>
            <a:pPr>
              <a:defRPr sz="1100">
                <a:solidFill>
                  <a:srgbClr val="334155"/>
                </a:solidFill>
                <a:latin typeface="Calibri"/>
              </a:defRPr>
            </a:pPr>
            <a:r>
              <a:t>The only architecture that actively tracks streaming token diffs and aborts in-flight vector calls when user self-corrects.</a:t>
            </a:r>
          </a:p>
        </p:txBody>
      </p:sp>
      <p:sp>
        <p:nvSpPr>
          <p:cNvPr id="16" name="Rounded Rectangle 15"/>
          <p:cNvSpPr/>
          <p:nvPr/>
        </p:nvSpPr>
        <p:spPr>
          <a:xfrm>
            <a:off x="777240" y="4343400"/>
            <a:ext cx="10607040" cy="8686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4. Tri-Tier Resilient Provider Failover</a:t>
            </a:r>
          </a:p>
          <a:p>
            <a:pPr>
              <a:defRPr sz="1100">
                <a:solidFill>
                  <a:srgbClr val="334155"/>
                </a:solidFill>
                <a:latin typeface="Calibri"/>
              </a:defRPr>
            </a:pPr>
            <a:r>
              <a:t>Automated dynamic failover between Groq LPU (speed), NVIDIA NIM (reasoning), and local offline Qwen (privacy).</a:t>
            </a:r>
          </a:p>
        </p:txBody>
      </p:sp>
      <p:sp>
        <p:nvSpPr>
          <p:cNvPr id="17" name="Rounded Rectangle 16"/>
          <p:cNvSpPr/>
          <p:nvPr/>
        </p:nvSpPr>
        <p:spPr>
          <a:xfrm>
            <a:off x="777240" y="5303520"/>
            <a:ext cx="10607040" cy="8686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284C7"/>
                </a:solidFill>
                <a:latin typeface="Calibri"/>
              </a:defRPr>
            </a:pPr>
            <a:r>
              <a:t>5. Production-Ready Cybernetic HUD &amp; Telemetry</a:t>
            </a:r>
          </a:p>
          <a:p>
            <a:pPr>
              <a:defRPr sz="1100">
                <a:solidFill>
                  <a:srgbClr val="334155"/>
                </a:solidFill>
                <a:latin typeface="Calibri"/>
              </a:defRPr>
            </a:pPr>
            <a:r>
              <a:t>Real-time terminal HUD tracking turn-by-turn latency, token budgets, cost estimates, and exact citation audit trails.</a:t>
            </a:r>
          </a:p>
        </p:txBody>
      </p:sp>
    </p:spTree>
    <p:extLst>
      <p:ext uri="{BB962C8B-B14F-4D97-AF65-F5344CB8AC3E}">
        <p14:creationId xmlns:p14="http://schemas.microsoft.com/office/powerpoint/2010/main" val="2095517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4E28A-8ABF-4E15-B9E1-B0F49C0EE29F}"/>
              </a:ext>
            </a:extLst>
          </p:cNvPr>
          <p:cNvSpPr>
            <a:spLocks noGrp="1"/>
          </p:cNvSpPr>
          <p:nvPr>
            <p:ph type="title"/>
          </p:nvPr>
        </p:nvSpPr>
        <p:spPr>
          <a:xfrm>
            <a:off x="777240" y="365760"/>
            <a:ext cx="10607040" cy="914400"/>
          </a:xfrm>
        </p:spPr>
        <p:txBody>
          <a:bodyPr/>
          <a:lstStyle/>
          <a:p>
            <a:pPr>
              <a:defRPr sz="2800" b="1">
                <a:solidFill>
                  <a:srgbClr val="704EA6"/>
                </a:solidFill>
                <a:latin typeface="Calibri"/>
              </a:defRPr>
            </a:pPr>
            <a:r>
              <a:t>Checklist — Updated on Public GitHub</a:t>
            </a:r>
          </a:p>
        </p:txBody>
      </p:sp>
      <p:sp>
        <p:nvSpPr>
          <p:cNvPr id="3" name="Rounded Rectangle 2"/>
          <p:cNvSpPr/>
          <p:nvPr/>
        </p:nvSpPr>
        <p:spPr>
          <a:xfrm>
            <a:off x="777240" y="1463040"/>
            <a:ext cx="1060704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10B981"/>
                </a:solidFill>
                <a:latin typeface="Calibri"/>
              </a:defRPr>
            </a:pPr>
            <a:r>
              <a:t>Submission Compliance &amp; Deliverables Verification</a:t>
            </a:r>
          </a:p>
          <a:p>
            <a:pPr>
              <a:spcAft>
                <a:spcPts val="200"/>
              </a:spcAft>
            </a:pPr>
            <a:r>
              <a:rPr b="1" sz="1200">
                <a:solidFill>
                  <a:srgbClr val="1E293B"/>
                </a:solidFill>
                <a:latin typeface="Calibri"/>
              </a:rPr>
              <a:t>✔ Working prototype code — public or shared GitHub repo: </a:t>
            </a:r>
            <a:r>
              <a:rPr b="1" sz="1200">
                <a:solidFill>
                  <a:srgbClr val="10B981"/>
                </a:solidFill>
                <a:latin typeface="Calibri"/>
              </a:rPr>
              <a:t>YES (Y)</a:t>
            </a:r>
          </a:p>
          <a:p>
            <a:pPr>
              <a:spcAft>
                <a:spcPts val="800"/>
              </a:spcAft>
            </a:pPr>
            <a:r>
              <a:rPr sz="1050">
                <a:solidFill>
                  <a:srgbClr val="334155"/>
                </a:solidFill>
                <a:latin typeface="Calibri"/>
              </a:rPr>
              <a:t>   Repository URL: https://github.com/abhinav29102005/ultron
   Full source code with modular streaming RAG, session management, and test suites.</a:t>
            </a:r>
          </a:p>
          <a:p>
            <a:pPr>
              <a:spcAft>
                <a:spcPts val="200"/>
              </a:spcAft>
            </a:pPr>
            <a:r>
              <a:rPr b="1" sz="1200">
                <a:solidFill>
                  <a:srgbClr val="1E293B"/>
                </a:solidFill>
                <a:latin typeface="Calibri"/>
              </a:rPr>
              <a:t>✔ README with reproducible setup instructions: </a:t>
            </a:r>
            <a:r>
              <a:rPr b="1" sz="1200">
                <a:solidFill>
                  <a:srgbClr val="10B981"/>
                </a:solidFill>
                <a:latin typeface="Calibri"/>
              </a:rPr>
              <a:t>YES (Y)</a:t>
            </a:r>
          </a:p>
          <a:p>
            <a:pPr>
              <a:spcAft>
                <a:spcPts val="800"/>
              </a:spcAft>
            </a:pPr>
            <a:r>
              <a:rPr sz="1050">
                <a:solidFill>
                  <a:srgbClr val="334155"/>
                </a:solidFill>
                <a:latin typeface="Calibri"/>
              </a:rPr>
              <a:t>   Detailed step-by-step setup, Python 3.11+ environment configuration, API key setup wizard, and benchmark runner.</a:t>
            </a:r>
          </a:p>
          <a:p>
            <a:pPr>
              <a:spcAft>
                <a:spcPts val="200"/>
              </a:spcAft>
            </a:pPr>
            <a:r>
              <a:rPr b="1" sz="1200">
                <a:solidFill>
                  <a:srgbClr val="1E293B"/>
                </a:solidFill>
                <a:latin typeface="Calibri"/>
              </a:rPr>
              <a:t>✔ Demo video, max 5 minutes (YouTube or Drive link): </a:t>
            </a:r>
            <a:r>
              <a:rPr b="1" sz="1200">
                <a:solidFill>
                  <a:srgbClr val="10B981"/>
                </a:solidFill>
                <a:latin typeface="Calibri"/>
              </a:rPr>
              <a:t>YES (Y)</a:t>
            </a:r>
          </a:p>
          <a:p>
            <a:pPr>
              <a:spcAft>
                <a:spcPts val="800"/>
              </a:spcAft>
            </a:pPr>
            <a:r>
              <a:rPr sz="1050">
                <a:solidFill>
                  <a:srgbClr val="334155"/>
                </a:solidFill>
                <a:latin typeface="Calibri"/>
              </a:rPr>
              <a:t>   Full 9-scene video walkthrough recorded using Ultron's built-in /demo harness with real-time Telemetry HUD.</a:t>
            </a:r>
          </a:p>
          <a:p>
            <a:pPr>
              <a:spcAft>
                <a:spcPts val="200"/>
              </a:spcAft>
            </a:pPr>
            <a:r>
              <a:rPr b="1" sz="1200">
                <a:solidFill>
                  <a:srgbClr val="1E293B"/>
                </a:solidFill>
                <a:latin typeface="Calibri"/>
              </a:rPr>
              <a:t>✔ Presentation file (PPT or PDF): </a:t>
            </a:r>
            <a:r>
              <a:rPr b="1" sz="1200">
                <a:solidFill>
                  <a:srgbClr val="10B981"/>
                </a:solidFill>
                <a:latin typeface="Calibri"/>
              </a:rPr>
              <a:t>YES (Y)</a:t>
            </a:r>
          </a:p>
          <a:p>
            <a:pPr>
              <a:spcAft>
                <a:spcPts val="800"/>
              </a:spcAft>
            </a:pPr>
            <a:r>
              <a:rPr sz="1050">
                <a:solidFill>
                  <a:srgbClr val="334155"/>
                </a:solidFill>
                <a:latin typeface="Calibri"/>
              </a:rPr>
              <a:t>   Completed official template (CollegeName_TeamName_Submission.pptx / Thapar_4_Bottle_Codeka_Submission.pptx).</a:t>
            </a:r>
          </a:p>
        </p:txBody>
      </p:sp>
      <p:sp>
        <p:nvSpPr>
          <p:cNvPr id="4" name="Rounded Rectangle 3"/>
          <p:cNvSpPr/>
          <p:nvPr/>
        </p:nvSpPr>
        <p:spPr>
          <a:xfrm>
            <a:off x="777240" y="1463040"/>
            <a:ext cx="1060704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10B981"/>
                </a:solidFill>
                <a:latin typeface="Calibri"/>
              </a:defRPr>
            </a:pPr>
            <a:r>
              <a:t>Submission Compliance &amp; Deliverables Verification</a:t>
            </a:r>
          </a:p>
          <a:p>
            <a:pPr>
              <a:spcAft>
                <a:spcPts val="200"/>
              </a:spcAft>
            </a:pPr>
            <a:r>
              <a:rPr b="1" sz="1200">
                <a:solidFill>
                  <a:srgbClr val="1E293B"/>
                </a:solidFill>
                <a:latin typeface="Calibri"/>
              </a:rPr>
              <a:t>✔ Working prototype code — public or shared GitHub repo: </a:t>
            </a:r>
            <a:r>
              <a:rPr b="1" sz="1200">
                <a:solidFill>
                  <a:srgbClr val="10B981"/>
                </a:solidFill>
                <a:latin typeface="Calibri"/>
              </a:rPr>
              <a:t>YES (Y)</a:t>
            </a:r>
          </a:p>
          <a:p>
            <a:pPr>
              <a:spcAft>
                <a:spcPts val="800"/>
              </a:spcAft>
            </a:pPr>
            <a:r>
              <a:rPr sz="1050">
                <a:solidFill>
                  <a:srgbClr val="334155"/>
                </a:solidFill>
                <a:latin typeface="Calibri"/>
              </a:rPr>
              <a:t>   Repository URL: https://github.com/abhinav29102005/ultron
   Full source code with modular streaming RAG, session management, and test suites.</a:t>
            </a:r>
          </a:p>
          <a:p>
            <a:pPr>
              <a:spcAft>
                <a:spcPts val="200"/>
              </a:spcAft>
            </a:pPr>
            <a:r>
              <a:rPr b="1" sz="1200">
                <a:solidFill>
                  <a:srgbClr val="1E293B"/>
                </a:solidFill>
                <a:latin typeface="Calibri"/>
              </a:rPr>
              <a:t>✔ README with reproducible setup instructions: </a:t>
            </a:r>
            <a:r>
              <a:rPr b="1" sz="1200">
                <a:solidFill>
                  <a:srgbClr val="10B981"/>
                </a:solidFill>
                <a:latin typeface="Calibri"/>
              </a:rPr>
              <a:t>YES (Y)</a:t>
            </a:r>
          </a:p>
          <a:p>
            <a:pPr>
              <a:spcAft>
                <a:spcPts val="800"/>
              </a:spcAft>
            </a:pPr>
            <a:r>
              <a:rPr sz="1050">
                <a:solidFill>
                  <a:srgbClr val="334155"/>
                </a:solidFill>
                <a:latin typeface="Calibri"/>
              </a:rPr>
              <a:t>   Detailed step-by-step setup, Python 3.11+ environment configuration, API key setup wizard, and benchmark runner.</a:t>
            </a:r>
          </a:p>
          <a:p>
            <a:pPr>
              <a:spcAft>
                <a:spcPts val="200"/>
              </a:spcAft>
            </a:pPr>
            <a:r>
              <a:rPr b="1" sz="1200">
                <a:solidFill>
                  <a:srgbClr val="1E293B"/>
                </a:solidFill>
                <a:latin typeface="Calibri"/>
              </a:rPr>
              <a:t>✔ Demo video, max 5 minutes (YouTube or Drive link): </a:t>
            </a:r>
            <a:r>
              <a:rPr b="1" sz="1200">
                <a:solidFill>
                  <a:srgbClr val="10B981"/>
                </a:solidFill>
                <a:latin typeface="Calibri"/>
              </a:rPr>
              <a:t>YES (Y)</a:t>
            </a:r>
          </a:p>
          <a:p>
            <a:pPr>
              <a:spcAft>
                <a:spcPts val="800"/>
              </a:spcAft>
            </a:pPr>
            <a:r>
              <a:rPr sz="1050">
                <a:solidFill>
                  <a:srgbClr val="334155"/>
                </a:solidFill>
                <a:latin typeface="Calibri"/>
              </a:rPr>
              <a:t>   Full 9-scene video walkthrough recorded using Ultron's built-in /demo harness with real-time Telemetry HUD.</a:t>
            </a:r>
          </a:p>
          <a:p>
            <a:pPr>
              <a:spcAft>
                <a:spcPts val="200"/>
              </a:spcAft>
            </a:pPr>
            <a:r>
              <a:rPr b="1" sz="1200">
                <a:solidFill>
                  <a:srgbClr val="1E293B"/>
                </a:solidFill>
                <a:latin typeface="Calibri"/>
              </a:rPr>
              <a:t>✔ Presentation file (PPT or PDF): </a:t>
            </a:r>
            <a:r>
              <a:rPr b="1" sz="1200">
                <a:solidFill>
                  <a:srgbClr val="10B981"/>
                </a:solidFill>
                <a:latin typeface="Calibri"/>
              </a:rPr>
              <a:t>YES (Y)</a:t>
            </a:r>
          </a:p>
          <a:p>
            <a:pPr>
              <a:spcAft>
                <a:spcPts val="800"/>
              </a:spcAft>
            </a:pPr>
            <a:r>
              <a:rPr sz="1050">
                <a:solidFill>
                  <a:srgbClr val="334155"/>
                </a:solidFill>
                <a:latin typeface="Calibri"/>
              </a:rPr>
              <a:t>   Completed official template (CollegeName_TeamName_Submission.pptx / Thapar_4_Bottle_Codeka_Submission.pptx).</a:t>
            </a:r>
          </a:p>
        </p:txBody>
      </p:sp>
      <p:sp>
        <p:nvSpPr>
          <p:cNvPr id="5" name="Rounded Rectangle 4"/>
          <p:cNvSpPr/>
          <p:nvPr/>
        </p:nvSpPr>
        <p:spPr>
          <a:xfrm>
            <a:off x="777240" y="1463040"/>
            <a:ext cx="10607040"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10B981"/>
                </a:solidFill>
                <a:latin typeface="Calibri"/>
              </a:defRPr>
            </a:pPr>
            <a:r>
              <a:t>Submission Compliance &amp; Deliverables Verification</a:t>
            </a:r>
          </a:p>
          <a:p>
            <a:pPr>
              <a:spcAft>
                <a:spcPts val="200"/>
              </a:spcAft>
            </a:pPr>
            <a:r>
              <a:rPr b="1" sz="1200">
                <a:solidFill>
                  <a:srgbClr val="1E293B"/>
                </a:solidFill>
                <a:latin typeface="Calibri"/>
              </a:rPr>
              <a:t>✔ Working prototype code — public or shared GitHub repo: </a:t>
            </a:r>
            <a:r>
              <a:rPr b="1" sz="1200">
                <a:solidFill>
                  <a:srgbClr val="10B981"/>
                </a:solidFill>
                <a:latin typeface="Calibri"/>
              </a:rPr>
              <a:t>YES (Y)</a:t>
            </a:r>
          </a:p>
          <a:p>
            <a:pPr>
              <a:spcAft>
                <a:spcPts val="800"/>
              </a:spcAft>
            </a:pPr>
            <a:r>
              <a:rPr sz="1050">
                <a:solidFill>
                  <a:srgbClr val="334155"/>
                </a:solidFill>
                <a:latin typeface="Calibri"/>
              </a:rPr>
              <a:t>   Repository URL: https://github.com/abhinav29102005/ultron
   Full source code with modular streaming RAG, session management, and test suites.</a:t>
            </a:r>
          </a:p>
          <a:p>
            <a:pPr>
              <a:spcAft>
                <a:spcPts val="200"/>
              </a:spcAft>
            </a:pPr>
            <a:r>
              <a:rPr b="1" sz="1200">
                <a:solidFill>
                  <a:srgbClr val="1E293B"/>
                </a:solidFill>
                <a:latin typeface="Calibri"/>
              </a:rPr>
              <a:t>✔ README with reproducible setup instructions: </a:t>
            </a:r>
            <a:r>
              <a:rPr b="1" sz="1200">
                <a:solidFill>
                  <a:srgbClr val="10B981"/>
                </a:solidFill>
                <a:latin typeface="Calibri"/>
              </a:rPr>
              <a:t>YES (Y)</a:t>
            </a:r>
          </a:p>
          <a:p>
            <a:pPr>
              <a:spcAft>
                <a:spcPts val="800"/>
              </a:spcAft>
            </a:pPr>
            <a:r>
              <a:rPr sz="1050">
                <a:solidFill>
                  <a:srgbClr val="334155"/>
                </a:solidFill>
                <a:latin typeface="Calibri"/>
              </a:rPr>
              <a:t>   Detailed step-by-step setup, Python 3.11+ environment configuration, API key setup wizard, and benchmark runner.</a:t>
            </a:r>
          </a:p>
          <a:p>
            <a:pPr>
              <a:spcAft>
                <a:spcPts val="200"/>
              </a:spcAft>
            </a:pPr>
            <a:r>
              <a:rPr b="1" sz="1200">
                <a:solidFill>
                  <a:srgbClr val="1E293B"/>
                </a:solidFill>
                <a:latin typeface="Calibri"/>
              </a:rPr>
              <a:t>✔ Demo video, max 5 minutes (YouTube or Drive link): </a:t>
            </a:r>
            <a:r>
              <a:rPr b="1" sz="1200">
                <a:solidFill>
                  <a:srgbClr val="10B981"/>
                </a:solidFill>
                <a:latin typeface="Calibri"/>
              </a:rPr>
              <a:t>YES (Y)</a:t>
            </a:r>
          </a:p>
          <a:p>
            <a:pPr>
              <a:spcAft>
                <a:spcPts val="800"/>
              </a:spcAft>
            </a:pPr>
            <a:r>
              <a:rPr sz="1050">
                <a:solidFill>
                  <a:srgbClr val="334155"/>
                </a:solidFill>
                <a:latin typeface="Calibri"/>
              </a:rPr>
              <a:t>   Full 9-scene video walkthrough recorded using Ultron's built-in /demo harness with real-time Telemetry HUD.</a:t>
            </a:r>
          </a:p>
          <a:p>
            <a:pPr>
              <a:spcAft>
                <a:spcPts val="200"/>
              </a:spcAft>
            </a:pPr>
            <a:r>
              <a:rPr b="1" sz="1200">
                <a:solidFill>
                  <a:srgbClr val="1E293B"/>
                </a:solidFill>
                <a:latin typeface="Calibri"/>
              </a:rPr>
              <a:t>✔ Presentation file (PPT or PDF): </a:t>
            </a:r>
            <a:r>
              <a:rPr b="1" sz="1200">
                <a:solidFill>
                  <a:srgbClr val="10B981"/>
                </a:solidFill>
                <a:latin typeface="Calibri"/>
              </a:rPr>
              <a:t>YES (Y)</a:t>
            </a:r>
          </a:p>
          <a:p>
            <a:pPr>
              <a:spcAft>
                <a:spcPts val="800"/>
              </a:spcAft>
            </a:pPr>
            <a:r>
              <a:rPr sz="1050">
                <a:solidFill>
                  <a:srgbClr val="334155"/>
                </a:solidFill>
                <a:latin typeface="Calibri"/>
              </a:rPr>
              <a:t>   Completed official template (CollegeName_TeamName_Submission.pptx / Thapar_4_Bottle_Codeka_Submission.pptx).</a:t>
            </a:r>
          </a:p>
        </p:txBody>
      </p:sp>
    </p:spTree>
    <p:extLst>
      <p:ext uri="{BB962C8B-B14F-4D97-AF65-F5344CB8AC3E}">
        <p14:creationId xmlns:p14="http://schemas.microsoft.com/office/powerpoint/2010/main" val="180699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46181" y="3730214"/>
            <a:ext cx="6766560" cy="868680"/>
          </a:xfrm>
          <a:prstGeom prst="rect">
            <a:avLst/>
          </a:prstGeom>
          <a:noFill/>
          <a:ln/>
        </p:spPr>
        <p:txBody>
          <a:bodyPr wrap="square" lIns="0" tIns="0" rIns="0" bIns="0" rtlCol="0" anchor="ctr"/>
          <a:lstStyle/>
          <a:p>
            <a:pPr marL="0" indent="0">
              <a:buNone/>
            </a:pPr>
            <a:r>
              <a:rPr lang="en-US" sz="4600" b="1" dirty="0">
                <a:solidFill>
                  <a:srgbClr val="14142B"/>
                </a:solidFill>
                <a:latin typeface="Arial" pitchFamily="34" charset="0"/>
                <a:ea typeface="Arial" pitchFamily="34" charset="-122"/>
                <a:cs typeface="Arial" pitchFamily="34" charset="-120"/>
              </a:rPr>
              <a:t>Thank you</a:t>
            </a:r>
            <a:endParaRPr lang="en-US" sz="4600" dirty="0"/>
          </a:p>
        </p:txBody>
      </p:sp>
      <p:sp>
        <p:nvSpPr>
          <p:cNvPr id="28" name="Text 25"/>
          <p:cNvSpPr txBox="1"/>
          <p:nvPr/>
        </p:nvSpPr>
        <p:spPr>
          <a:xfrm>
            <a:off x="777240" y="5897880"/>
            <a:ext cx="10607040" cy="292608"/>
          </a:xfrm>
          <a:prstGeom prst="rect">
            <a:avLst/>
          </a:prstGeom>
          <a:noFill/>
          <a:ln/>
        </p:spPr>
        <p:txBody>
          <a:bodyPr wrap="square" lIns="0" tIns="0" rIns="0" bIns="0" rtlCol="0" anchor="ctr"/>
          <a:lstStyle/>
          <a:p>
            <a:pPr marL="0" indent="0">
              <a:buNone/>
            </a:pPr>
            <a:r>
              <a:rPr lang="en-US" sz="1100" dirty="0">
                <a:solidFill>
                  <a:srgbClr val="63637E"/>
                </a:solidFill>
                <a:latin typeface="Calibri" pitchFamily="34" charset="0"/>
                <a:ea typeface="Calibri" pitchFamily="34" charset="-122"/>
                <a:cs typeface="Calibri" pitchFamily="34" charset="-120"/>
              </a:rPr>
              <a:t>Organised by the Language AI Team and the PRISM Team, Samsung R&amp;D Institute India</a:t>
            </a:r>
            <a:endParaRPr lang="en-US" sz="1100" dirty="0"/>
          </a:p>
        </p:txBody>
      </p:sp>
      <p:sp>
        <p:nvSpPr>
          <p:cNvPr id="29" name="Rounded Rectangle 28"/>
          <p:cNvSpPr/>
          <p:nvPr/>
        </p:nvSpPr>
        <p:spPr>
          <a:xfrm>
            <a:off x="777240" y="1463040"/>
            <a:ext cx="10607040" cy="41148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Team: 4 Bottle Codeka</a:t>
            </a:r>
          </a:p>
          <a:p>
            <a:pPr>
              <a:spcAft>
                <a:spcPts val="1400"/>
              </a:spcAft>
              <a:defRPr sz="1400" b="1">
                <a:solidFill>
                  <a:srgbClr val="1E293B"/>
                </a:solidFill>
                <a:latin typeface="Calibri"/>
              </a:defRPr>
            </a:pPr>
            <a:r>
              <a:t>Thapar Institute of Engineering &amp; Technology, Patiala</a:t>
            </a:r>
          </a:p>
          <a:p>
            <a:pPr>
              <a:spcAft>
                <a:spcPts val="400"/>
              </a:spcAft>
            </a:pPr>
            <a:r>
              <a:rPr b="1" sz="1200">
                <a:solidFill>
                  <a:srgbClr val="1E293B"/>
                </a:solidFill>
                <a:latin typeface="Calibri"/>
              </a:rPr>
              <a:t>• Abhinav Kumar Singh (Team Leader): </a:t>
            </a:r>
            <a:r>
              <a:rPr sz="1200">
                <a:solidFill>
                  <a:srgbClr val="334155"/>
                </a:solidFill>
                <a:latin typeface="Calibri"/>
              </a:rPr>
              <a:t>asingh2910.official@gmail.com | +91-6398779479</a:t>
            </a:r>
          </a:p>
          <a:p>
            <a:pPr>
              <a:spcAft>
                <a:spcPts val="400"/>
              </a:spcAft>
            </a:pPr>
            <a:r>
              <a:rPr b="1" sz="1200">
                <a:solidFill>
                  <a:srgbClr val="1E293B"/>
                </a:solidFill>
                <a:latin typeface="Calibri"/>
              </a:rPr>
              <a:t>• Sukhansh Mittal: </a:t>
            </a:r>
            <a:r>
              <a:rPr sz="1200">
                <a:solidFill>
                  <a:srgbClr val="334155"/>
                </a:solidFill>
                <a:latin typeface="Calibri"/>
              </a:rPr>
              <a:t>smittal_be24@thapar.edu | +91-9877366331</a:t>
            </a:r>
          </a:p>
          <a:p>
            <a:pPr>
              <a:spcAft>
                <a:spcPts val="400"/>
              </a:spcAft>
            </a:pPr>
            <a:r>
              <a:rPr b="1" sz="1200">
                <a:solidFill>
                  <a:srgbClr val="1E293B"/>
                </a:solidFill>
                <a:latin typeface="Calibri"/>
              </a:rPr>
              <a:t>• Lakkshya Jha: </a:t>
            </a:r>
            <a:r>
              <a:rPr sz="1200">
                <a:solidFill>
                  <a:srgbClr val="334155"/>
                </a:solidFill>
                <a:latin typeface="Calibri"/>
              </a:rPr>
              <a:t>ljha_be24@thapar.edu | +91-9574875069</a:t>
            </a:r>
          </a:p>
          <a:p>
            <a:pPr>
              <a:spcAft>
                <a:spcPts val="400"/>
              </a:spcAft>
            </a:pPr>
            <a:r>
              <a:rPr b="1" sz="1200">
                <a:solidFill>
                  <a:srgbClr val="1E293B"/>
                </a:solidFill>
                <a:latin typeface="Calibri"/>
              </a:rPr>
              <a:t>• Vikramaditya Singh: </a:t>
            </a:r>
            <a:r>
              <a:rPr sz="1200">
                <a:solidFill>
                  <a:srgbClr val="334155"/>
                </a:solidFill>
                <a:latin typeface="Calibri"/>
              </a:rPr>
              <a:t>vsingh1_be24@thapar.edu | +91-6239134155</a:t>
            </a:r>
          </a:p>
          <a:p>
            <a:pPr>
              <a:spcBef>
                <a:spcPts val="1200"/>
              </a:spcBef>
            </a:pPr>
            <a:r>
              <a:rPr b="1" sz="1300">
                <a:solidFill>
                  <a:srgbClr val="0284C7"/>
                </a:solidFill>
                <a:latin typeface="Calibri"/>
              </a:rPr>
              <a:t>🔗 GitHub Repository: </a:t>
            </a:r>
            <a:r>
              <a:rPr b="1" sz="1300">
                <a:solidFill>
                  <a:srgbClr val="1E293B"/>
                </a:solidFill>
                <a:latin typeface="Calibri"/>
              </a:rPr>
              <a:t>https://github.com/abhinav29102005/ultron</a:t>
            </a:r>
          </a:p>
        </p:txBody>
      </p:sp>
      <p:sp>
        <p:nvSpPr>
          <p:cNvPr id="30" name="Rounded Rectangle 29"/>
          <p:cNvSpPr/>
          <p:nvPr/>
        </p:nvSpPr>
        <p:spPr>
          <a:xfrm>
            <a:off x="777240" y="1463040"/>
            <a:ext cx="10607040" cy="41148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Team: 4 Bottle Codeka</a:t>
            </a:r>
          </a:p>
          <a:p>
            <a:pPr>
              <a:spcAft>
                <a:spcPts val="1400"/>
              </a:spcAft>
              <a:defRPr sz="1400" b="1">
                <a:solidFill>
                  <a:srgbClr val="1E293B"/>
                </a:solidFill>
                <a:latin typeface="Calibri"/>
              </a:defRPr>
            </a:pPr>
            <a:r>
              <a:t>Thapar Institute of Engineering &amp; Technology, Patiala</a:t>
            </a:r>
          </a:p>
          <a:p>
            <a:pPr>
              <a:spcAft>
                <a:spcPts val="400"/>
              </a:spcAft>
            </a:pPr>
            <a:r>
              <a:rPr b="1" sz="1200">
                <a:solidFill>
                  <a:srgbClr val="1E293B"/>
                </a:solidFill>
                <a:latin typeface="Calibri"/>
              </a:rPr>
              <a:t>• Abhinav Kumar Singh (Team Leader): </a:t>
            </a:r>
            <a:r>
              <a:rPr sz="1200">
                <a:solidFill>
                  <a:srgbClr val="334155"/>
                </a:solidFill>
                <a:latin typeface="Calibri"/>
              </a:rPr>
              <a:t>asingh2910.official@gmail.com | +91-6398779479</a:t>
            </a:r>
          </a:p>
          <a:p>
            <a:pPr>
              <a:spcAft>
                <a:spcPts val="400"/>
              </a:spcAft>
            </a:pPr>
            <a:r>
              <a:rPr b="1" sz="1200">
                <a:solidFill>
                  <a:srgbClr val="1E293B"/>
                </a:solidFill>
                <a:latin typeface="Calibri"/>
              </a:rPr>
              <a:t>• Sukhansh Mittal: </a:t>
            </a:r>
            <a:r>
              <a:rPr sz="1200">
                <a:solidFill>
                  <a:srgbClr val="334155"/>
                </a:solidFill>
                <a:latin typeface="Calibri"/>
              </a:rPr>
              <a:t>smittal_be24@thapar.edu | +91-9877366331</a:t>
            </a:r>
          </a:p>
          <a:p>
            <a:pPr>
              <a:spcAft>
                <a:spcPts val="400"/>
              </a:spcAft>
            </a:pPr>
            <a:r>
              <a:rPr b="1" sz="1200">
                <a:solidFill>
                  <a:srgbClr val="1E293B"/>
                </a:solidFill>
                <a:latin typeface="Calibri"/>
              </a:rPr>
              <a:t>• Lakkshya Jha: </a:t>
            </a:r>
            <a:r>
              <a:rPr sz="1200">
                <a:solidFill>
                  <a:srgbClr val="334155"/>
                </a:solidFill>
                <a:latin typeface="Calibri"/>
              </a:rPr>
              <a:t>ljha_be24@thapar.edu | +91-9574875069</a:t>
            </a:r>
          </a:p>
          <a:p>
            <a:pPr>
              <a:spcAft>
                <a:spcPts val="400"/>
              </a:spcAft>
            </a:pPr>
            <a:r>
              <a:rPr b="1" sz="1200">
                <a:solidFill>
                  <a:srgbClr val="1E293B"/>
                </a:solidFill>
                <a:latin typeface="Calibri"/>
              </a:rPr>
              <a:t>• Vikramaditya Singh: </a:t>
            </a:r>
            <a:r>
              <a:rPr sz="1200">
                <a:solidFill>
                  <a:srgbClr val="334155"/>
                </a:solidFill>
                <a:latin typeface="Calibri"/>
              </a:rPr>
              <a:t>vsingh1_be24@thapar.edu | +91-6239134155</a:t>
            </a:r>
          </a:p>
          <a:p>
            <a:pPr>
              <a:spcBef>
                <a:spcPts val="1200"/>
              </a:spcBef>
            </a:pPr>
            <a:r>
              <a:rPr b="1" sz="1300">
                <a:solidFill>
                  <a:srgbClr val="0284C7"/>
                </a:solidFill>
                <a:latin typeface="Calibri"/>
              </a:rPr>
              <a:t>🔗 GitHub Repository: </a:t>
            </a:r>
            <a:r>
              <a:rPr b="1" sz="1300">
                <a:solidFill>
                  <a:srgbClr val="1E293B"/>
                </a:solidFill>
                <a:latin typeface="Calibri"/>
              </a:rPr>
              <a:t>https://github.com/abhinav29102005/ultron</a:t>
            </a:r>
          </a:p>
        </p:txBody>
      </p:sp>
      <p:sp>
        <p:nvSpPr>
          <p:cNvPr id="31" name="Rounded Rectangle 30"/>
          <p:cNvSpPr/>
          <p:nvPr/>
        </p:nvSpPr>
        <p:spPr>
          <a:xfrm>
            <a:off x="777240" y="1463040"/>
            <a:ext cx="10607040" cy="41148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704EA6"/>
                </a:solidFill>
                <a:latin typeface="Calibri"/>
              </a:defRPr>
            </a:pPr>
            <a:r>
              <a:t>Team: 4 Bottle Codeka</a:t>
            </a:r>
          </a:p>
          <a:p>
            <a:pPr>
              <a:spcAft>
                <a:spcPts val="1400"/>
              </a:spcAft>
              <a:defRPr sz="1400" b="1">
                <a:solidFill>
                  <a:srgbClr val="1E293B"/>
                </a:solidFill>
                <a:latin typeface="Calibri"/>
              </a:defRPr>
            </a:pPr>
            <a:r>
              <a:t>Thapar Institute of Engineering &amp; Technology, Patiala</a:t>
            </a:r>
          </a:p>
          <a:p>
            <a:pPr>
              <a:spcAft>
                <a:spcPts val="400"/>
              </a:spcAft>
            </a:pPr>
            <a:r>
              <a:rPr b="1" sz="1200">
                <a:solidFill>
                  <a:srgbClr val="1E293B"/>
                </a:solidFill>
                <a:latin typeface="Calibri"/>
              </a:rPr>
              <a:t>• Abhinav Kumar Singh (Team Leader): </a:t>
            </a:r>
            <a:r>
              <a:rPr sz="1200">
                <a:solidFill>
                  <a:srgbClr val="334155"/>
                </a:solidFill>
                <a:latin typeface="Calibri"/>
              </a:rPr>
              <a:t>asingh2910.official@gmail.com | +91-6398779479</a:t>
            </a:r>
          </a:p>
          <a:p>
            <a:pPr>
              <a:spcAft>
                <a:spcPts val="400"/>
              </a:spcAft>
            </a:pPr>
            <a:r>
              <a:rPr b="1" sz="1200">
                <a:solidFill>
                  <a:srgbClr val="1E293B"/>
                </a:solidFill>
                <a:latin typeface="Calibri"/>
              </a:rPr>
              <a:t>• Sukhansh Mittal: </a:t>
            </a:r>
            <a:r>
              <a:rPr sz="1200">
                <a:solidFill>
                  <a:srgbClr val="334155"/>
                </a:solidFill>
                <a:latin typeface="Calibri"/>
              </a:rPr>
              <a:t>smittal_be24@thapar.edu | +91-9877366331</a:t>
            </a:r>
          </a:p>
          <a:p>
            <a:pPr>
              <a:spcAft>
                <a:spcPts val="400"/>
              </a:spcAft>
            </a:pPr>
            <a:r>
              <a:rPr b="1" sz="1200">
                <a:solidFill>
                  <a:srgbClr val="1E293B"/>
                </a:solidFill>
                <a:latin typeface="Calibri"/>
              </a:rPr>
              <a:t>• Lakkshya Jha: </a:t>
            </a:r>
            <a:r>
              <a:rPr sz="1200">
                <a:solidFill>
                  <a:srgbClr val="334155"/>
                </a:solidFill>
                <a:latin typeface="Calibri"/>
              </a:rPr>
              <a:t>ljha_be24@thapar.edu | +91-9574875069</a:t>
            </a:r>
          </a:p>
          <a:p>
            <a:pPr>
              <a:spcAft>
                <a:spcPts val="400"/>
              </a:spcAft>
            </a:pPr>
            <a:r>
              <a:rPr b="1" sz="1200">
                <a:solidFill>
                  <a:srgbClr val="1E293B"/>
                </a:solidFill>
                <a:latin typeface="Calibri"/>
              </a:rPr>
              <a:t>• Vikramaditya Singh: </a:t>
            </a:r>
            <a:r>
              <a:rPr sz="1200">
                <a:solidFill>
                  <a:srgbClr val="334155"/>
                </a:solidFill>
                <a:latin typeface="Calibri"/>
              </a:rPr>
              <a:t>vsingh1_be24@thapar.edu | +91-6239134155</a:t>
            </a:r>
          </a:p>
          <a:p>
            <a:pPr>
              <a:spcBef>
                <a:spcPts val="1200"/>
              </a:spcBef>
            </a:pPr>
            <a:r>
              <a:rPr b="1" sz="1300">
                <a:solidFill>
                  <a:srgbClr val="0284C7"/>
                </a:solidFill>
                <a:latin typeface="Calibri"/>
              </a:rPr>
              <a:t>🔗 GitHub Repository: </a:t>
            </a:r>
            <a:r>
              <a:rPr b="1" sz="1300">
                <a:solidFill>
                  <a:srgbClr val="1E293B"/>
                </a:solidFill>
                <a:latin typeface="Calibri"/>
              </a:rPr>
              <a:t>https://github.com/abhinav29102005/ultron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65</TotalTime>
  <Words>266</Words>
  <Application>Microsoft Office PowerPoint</Application>
  <PresentationFormat>Widescreen</PresentationFormat>
  <Paragraphs>32</Paragraphs>
  <Slides>12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Theme</vt:lpstr>
      <vt:lpstr>Existing Solutions &amp; Gaps</vt:lpstr>
      <vt:lpstr>Our Solutions &amp; Architecture Diagram</vt:lpstr>
      <vt:lpstr>Demo &amp; Product Walkthrough</vt:lpstr>
      <vt:lpstr>Tools and tech stack used</vt:lpstr>
      <vt:lpstr>Impact &amp; Use case</vt:lpstr>
      <vt:lpstr>Innovation highlights, results and limitations</vt:lpstr>
      <vt:lpstr>What’s next</vt:lpstr>
      <vt:lpstr>Brownie points slide( differentiation)</vt:lpstr>
      <vt:lpstr>Checklist-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Binny Lakra/PRISM /SRI-Bangalore/Professional/Samsung Electronics</dc:creator>
  <cp:lastModifiedBy>Binny Lakra/PRISM /SRI-Bangalore/Professional/Samsung Electronics</cp:lastModifiedBy>
  <cp:revision>6</cp:revision>
  <dcterms:created xsi:type="dcterms:W3CDTF">2026-09-07T12:01:01Z</dcterms:created>
  <dcterms:modified xsi:type="dcterms:W3CDTF">2026-09-08T10:03:30Z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