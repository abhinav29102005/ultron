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93B"/>
                </a:solidFill>
                <a:latin typeface="Calibri"/>
              </a:defRPr>
            </a:pPr>
            <a:r>
              <a:rPr lang="en-US" sz="1200" b="0" i="0" u="none" strike="noStrike">
                <a:solidFill>
                  <a:srgbClr val="1E293B"/>
                </a:solidFill>
                <a:latin typeface="Calibri"/>
              </a:rPr>
              <a:t>First-token latency, ms (indicative, not like-for-like)</a:t>
            </a:r>
          </a:p>
        </c:rich>
      </c:tx>
      <c:overlay val="0"/>
    </c:title>
    <c:autoTitleDeleted val="0"/>
    <c:plotArea>
      <c:layout/>
      <c:barChart>
        <c:barDir val="bar"/>
        <c:grouping val="clustered"/>
        <c:varyColors val="0"/>
        <c:ser>
          <c:idx val="0"/>
          <c:order val="0"/>
          <c:tx>
            <c:strRef>
              <c:f>Sheet1!$B$1</c:f>
              <c:strCache>
                <c:ptCount val="1"/>
                <c:pt idx="0">
                  <c:v>TTFT (ms)</c:v>
                </c:pt>
              </c:strCache>
            </c:strRef>
          </c:tx>
          <c:spPr>
            <a:solidFill>
              <a:srgbClr val="F87171"/>
            </a:solidFill>
            <a:effectLst/>
          </c:spPr>
          <c:invertIfNegative val="0"/>
          <c:dPt>
            <c:idx val="0"/>
            <c:invertIfNegative val="0"/>
            <c:bubble3D val="0"/>
            <c:extLst>
              <c:ext xmlns:c16="http://schemas.microsoft.com/office/drawing/2014/chart" uri="{C3380CC4-5D6E-409C-BE32-E72D297353CC}">
                <c16:uniqueId val="{00000001-FEA2-451E-93DA-8703AB8A1198}"/>
              </c:ext>
            </c:extLst>
          </c:dPt>
          <c:dPt>
            <c:idx val="1"/>
            <c:invertIfNegative val="0"/>
            <c:bubble3D val="0"/>
            <c:spPr>
              <a:solidFill>
                <a:srgbClr val="10B981"/>
              </a:solidFill>
              <a:effectLst/>
            </c:spPr>
            <c:extLst>
              <c:ext xmlns:c16="http://schemas.microsoft.com/office/drawing/2014/chart" uri="{C3380CC4-5D6E-409C-BE32-E72D297353CC}">
                <c16:uniqueId val="{00000003-FEA2-451E-93DA-8703AB8A1198}"/>
              </c:ext>
            </c:extLst>
          </c:dPt>
          <c:dLbls>
            <c:numFmt formatCode="#,##0&quot; ms&quot;"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Traditional RAG (full-turn wait)</c:v>
                </c:pt>
                <c:pt idx="1">
                  <c:v>Ultron (post-trigger)</c:v>
                </c:pt>
              </c:strCache>
            </c:strRef>
          </c:cat>
          <c:val>
            <c:numRef>
              <c:f>Sheet1!$B$2:$B$3</c:f>
              <c:numCache>
                <c:formatCode>General</c:formatCode>
                <c:ptCount val="2"/>
                <c:pt idx="0">
                  <c:v>1800</c:v>
                </c:pt>
                <c:pt idx="1">
                  <c:v>16</c:v>
                </c:pt>
              </c:numCache>
            </c:numRef>
          </c:val>
          <c:extLst>
            <c:ext xmlns:c16="http://schemas.microsoft.com/office/drawing/2014/chart" uri="{C3380CC4-5D6E-409C-BE32-E72D297353CC}">
              <c16:uniqueId val="{00000004-FEA2-451E-93DA-8703AB8A1198}"/>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93B"/>
                </a:solidFill>
                <a:latin typeface="Calibri"/>
              </a:defRPr>
            </a:pPr>
            <a:endParaRPr lang="en-US"/>
          </a:p>
        </c:txPr>
        <c:crossAx val="2094734552"/>
        <c:crosses val="autoZero"/>
        <c:auto val="1"/>
        <c:lblAlgn val="ctr"/>
        <c:lblOffset val="100"/>
        <c:noMultiLvlLbl val="1"/>
      </c:catAx>
      <c:valAx>
        <c:axId val="2094734552"/>
        <c:scaling>
          <c:orientation val="minMax"/>
          <c:max val="24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8227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Pitch: Ultron starts retrieval while the user is still speaking (Theme 4, Streaming Live RAG). Say up front that the demo drives the pipeline with simulated ASR text chunks; live ASR is Phase 1 of the roadmap.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Turn-based RAG waits for the full sentence. Be ready to source the 1,500–2,500ms range or call it indicative. Our numbers (16ms TTFT, +1,300ms head start, 40% compute saved) come from one demo session of 31 chunks on simulated ASR text. TTFT is measured from the speculative trigger, so it is not like-for-like with a whole-turn wait.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~1.8s figure is an indicative turn-based wait, not a benchmark we ran. Walk the pivot flow left to right: Pune, 'wait', abort, Mumbai (V2). Session lineage is demonstrated over 7 turns; don't claim more.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flow: live speech, speculative trigger, hybrid search, dual LLM (Groq + NVIDIA NIM, offline Qwen fallback), cited answer with HUD. Be ready to name the embedding and reranker models, explain the stability score S(t) and its threshold, and state the cost of a wrong speculation (a wasted search).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Nine scenes on simulated ASR text chunks via the /demo harness. Scene 2 numbers are harness measurements. Scene 8: confirm the recording shows the explicit-uncertainty flag before presenting; the slide says it is pending. Citations appear as [Doc_XX §YY].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Retrieval is BM25 Okapi plus dense vectors fused with RRF, then a cross-encoder reranker; name the exact models here. Scikit-learn/NumPy handle matrix operations, and the reranker is a separate cross-encoder model. 16ms TTFT is measured after the trigger fires.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Treat 100,000+ employees, ~80% automation and 65% lower AHT as projections, not measurements. The chart compares a whole-turn wait (1,800ms) with first-token time after the trigger, so say what each bar measures. Role-based access, battery optimisation and offline fallback are planned or not shown in the demo.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Results come from the demo harness on one session (31 chunks) with simulated ASR text. Retrieval across 3 domains sits inside the 40ms end-to-end total, so it cannot exceed it. Limitations: simulated ASR, wasted searches on wrong speculation, ASR jitter, PDF structure, context growth.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Phase 1 replaces simulated text chunks with live streaming ASR, the biggest gap today. Add one success metric per phase verbally (for example, Phase 1: measured TTFT on live audio).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Differentiators: real 21-section policy corpus, streaming yielders, pivot controller, dual-LLM failover with offline fallback, live HUD. TTFT is 16ms after trigger on the demo harness, not end-to-end on live audio. Present the tool as a working prototype.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five items are complete. Before submitting, confirm the installer and the ultron command run cleanly on a fresh machine and that the demo video is the latest recording.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team, GitHub and live site, then thank the Language AI Team and the PRISM Team at Samsung R&amp;D Institute India.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94360"/>
            <a:ext cx="1920240" cy="329184"/>
          </a:xfrm>
          <a:prstGeom prst="roundRect">
            <a:avLst>
              <a:gd name="adj" fmla="val 50000"/>
            </a:avLst>
          </a:prstGeom>
          <a:solidFill>
            <a:srgbClr val="FFFFFF"/>
          </a:solidFill>
          <a:ln w="12700">
            <a:solidFill>
              <a:srgbClr val="CBD5E1"/>
            </a:solidFill>
            <a:prstDash val="solid"/>
          </a:ln>
        </p:spPr>
      </p:sp>
      <p:sp>
        <p:nvSpPr>
          <p:cNvPr id="3" name="Text 1"/>
          <p:cNvSpPr txBox="1"/>
          <p:nvPr/>
        </p:nvSpPr>
        <p:spPr>
          <a:xfrm>
            <a:off x="640080" y="594360"/>
            <a:ext cx="1920240" cy="329184"/>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SAMSUNG PRISM</a:t>
            </a:r>
            <a:endParaRPr lang="en-US" sz="1100" dirty="0"/>
          </a:p>
        </p:txBody>
      </p:sp>
      <p:sp>
        <p:nvSpPr>
          <p:cNvPr id="4" name="Text 2"/>
          <p:cNvSpPr txBox="1"/>
          <p:nvPr/>
        </p:nvSpPr>
        <p:spPr>
          <a:xfrm>
            <a:off x="640080" y="1051560"/>
            <a:ext cx="6400800" cy="822960"/>
          </a:xfrm>
          <a:prstGeom prst="rect">
            <a:avLst/>
          </a:prstGeom>
          <a:noFill/>
          <a:ln/>
        </p:spPr>
        <p:txBody>
          <a:bodyPr wrap="square" lIns="0" tIns="0" rIns="0" bIns="0" rtlCol="0" anchor="t"/>
          <a:lstStyle/>
          <a:p>
            <a:pPr marL="0" indent="0">
              <a:buNone/>
            </a:pPr>
            <a:r>
              <a:rPr lang="en-US" sz="4400" b="1" dirty="0">
                <a:solidFill>
                  <a:srgbClr val="1E293B"/>
                </a:solidFill>
                <a:latin typeface="Calibri" pitchFamily="34" charset="0"/>
                <a:ea typeface="Calibri" pitchFamily="34" charset="-122"/>
                <a:cs typeface="Calibri" pitchFamily="34" charset="-120"/>
              </a:rPr>
              <a:t>Generative AI</a:t>
            </a:r>
            <a:endParaRPr lang="en-US" sz="4400" dirty="0"/>
          </a:p>
        </p:txBody>
      </p:sp>
      <p:sp>
        <p:nvSpPr>
          <p:cNvPr id="5" name="Text 3"/>
          <p:cNvSpPr txBox="1"/>
          <p:nvPr/>
        </p:nvSpPr>
        <p:spPr>
          <a:xfrm>
            <a:off x="640080" y="1783080"/>
            <a:ext cx="6400800" cy="822960"/>
          </a:xfrm>
          <a:prstGeom prst="rect">
            <a:avLst/>
          </a:prstGeom>
          <a:noFill/>
          <a:ln/>
        </p:spPr>
        <p:txBody>
          <a:bodyPr wrap="square" lIns="0" tIns="0" rIns="0" bIns="0" rtlCol="0" anchor="t"/>
          <a:lstStyle/>
          <a:p>
            <a:pPr marL="0" indent="0">
              <a:buNone/>
            </a:pPr>
            <a:r>
              <a:rPr lang="en-US" sz="4400" b="1" dirty="0">
                <a:solidFill>
                  <a:srgbClr val="704EA6"/>
                </a:solidFill>
                <a:latin typeface="Calibri" pitchFamily="34" charset="0"/>
                <a:ea typeface="Calibri" pitchFamily="34" charset="-122"/>
                <a:cs typeface="Calibri" pitchFamily="34" charset="-120"/>
              </a:rPr>
              <a:t>Hackathon</a:t>
            </a:r>
            <a:endParaRPr lang="en-US" sz="4400" dirty="0"/>
          </a:p>
        </p:txBody>
      </p:sp>
      <p:sp>
        <p:nvSpPr>
          <p:cNvPr id="6" name="Text 4"/>
          <p:cNvSpPr txBox="1"/>
          <p:nvPr/>
        </p:nvSpPr>
        <p:spPr>
          <a:xfrm>
            <a:off x="640080" y="2651760"/>
            <a:ext cx="6400800" cy="365760"/>
          </a:xfrm>
          <a:prstGeom prst="rect">
            <a:avLst/>
          </a:prstGeom>
          <a:noFill/>
          <a:ln/>
        </p:spPr>
        <p:txBody>
          <a:bodyPr wrap="square" lIns="0" tIns="0" rIns="0" bIns="0" rtlCol="0" anchor="t"/>
          <a:lstStyle/>
          <a:p>
            <a:pPr marL="0" indent="0">
              <a:buNone/>
            </a:pPr>
            <a:r>
              <a:rPr lang="en-US" sz="1800" b="1" dirty="0">
                <a:solidFill>
                  <a:srgbClr val="1E293B"/>
                </a:solidFill>
                <a:latin typeface="Calibri" pitchFamily="34" charset="0"/>
                <a:ea typeface="Calibri" pitchFamily="34" charset="-122"/>
                <a:cs typeface="Calibri" pitchFamily="34" charset="-120"/>
              </a:rPr>
              <a:t>3rd Edition   </a:t>
            </a:r>
            <a:r>
              <a:rPr lang="en-US" sz="1800" dirty="0">
                <a:solidFill>
                  <a:srgbClr val="64748B"/>
                </a:solidFill>
                <a:latin typeface="Calibri" pitchFamily="34" charset="0"/>
                <a:ea typeface="Calibri" pitchFamily="34" charset="-122"/>
                <a:cs typeface="Calibri" pitchFamily="34" charset="-120"/>
              </a:rPr>
              <a:t>2026 – 27</a:t>
            </a:r>
            <a:endParaRPr lang="en-US" sz="1800" dirty="0"/>
          </a:p>
        </p:txBody>
      </p:sp>
      <p:sp>
        <p:nvSpPr>
          <p:cNvPr id="7" name="Text 5"/>
          <p:cNvSpPr txBox="1"/>
          <p:nvPr/>
        </p:nvSpPr>
        <p:spPr>
          <a:xfrm>
            <a:off x="640080" y="3291840"/>
            <a:ext cx="6949440" cy="3017520"/>
          </a:xfrm>
          <a:prstGeom prst="rect">
            <a:avLst/>
          </a:prstGeom>
          <a:noFill/>
          <a:ln/>
        </p:spPr>
        <p:txBody>
          <a:bodyPr wrap="square" lIns="0" tIns="0" rIns="0" bIns="0" rtlCol="0" anchor="t"/>
          <a:lstStyle/>
          <a:p>
            <a:pPr marL="0" indent="0">
              <a:spcAft>
                <a:spcPts val="600"/>
              </a:spcAft>
              <a:buNone/>
            </a:pPr>
            <a:r>
              <a:rPr lang="en-US" sz="1300" b="1" dirty="0">
                <a:solidFill>
                  <a:srgbClr val="1E293B"/>
                </a:solidFill>
                <a:latin typeface="Calibri" pitchFamily="34" charset="0"/>
                <a:ea typeface="Calibri" pitchFamily="34" charset="-122"/>
                <a:cs typeface="Calibri" pitchFamily="34" charset="-120"/>
              </a:rPr>
              <a:t>Theme ID - </a:t>
            </a:r>
            <a:r>
              <a:rPr lang="en-US" sz="1300" dirty="0">
                <a:solidFill>
                  <a:srgbClr val="334155"/>
                </a:solidFill>
                <a:latin typeface="Calibri" pitchFamily="34" charset="0"/>
                <a:ea typeface="Calibri" pitchFamily="34" charset="-122"/>
                <a:cs typeface="Calibri" pitchFamily="34" charset="-120"/>
              </a:rPr>
              <a:t>Theme 4 (Streaming Live RAG)</a:t>
            </a:r>
            <a:endParaRPr lang="en-US" sz="1300" dirty="0"/>
          </a:p>
          <a:p>
            <a:pPr marL="0" indent="0">
              <a:spcAft>
                <a:spcPts val="600"/>
              </a:spcAft>
              <a:buNone/>
            </a:pPr>
            <a:r>
              <a:rPr lang="en-US" sz="1300" b="1" dirty="0">
                <a:solidFill>
                  <a:srgbClr val="1E293B"/>
                </a:solidFill>
                <a:latin typeface="Calibri" pitchFamily="34" charset="0"/>
                <a:ea typeface="Calibri" pitchFamily="34" charset="-122"/>
                <a:cs typeface="Calibri" pitchFamily="34" charset="-120"/>
              </a:rPr>
              <a:t>Team Name - </a:t>
            </a:r>
            <a:r>
              <a:rPr lang="en-US" sz="1300" dirty="0">
                <a:solidFill>
                  <a:srgbClr val="334155"/>
                </a:solidFill>
                <a:latin typeface="Calibri" pitchFamily="34" charset="0"/>
                <a:ea typeface="Calibri" pitchFamily="34" charset="-122"/>
                <a:cs typeface="Calibri" pitchFamily="34" charset="-120"/>
              </a:rPr>
              <a:t>4 Bottle Codeka</a:t>
            </a:r>
            <a:endParaRPr lang="en-US" sz="1300" dirty="0"/>
          </a:p>
          <a:p>
            <a:pPr marL="0" indent="0">
              <a:spcAft>
                <a:spcPts val="600"/>
              </a:spcAft>
              <a:buNone/>
            </a:pPr>
            <a:r>
              <a:rPr lang="en-US" sz="1300" b="1" dirty="0">
                <a:solidFill>
                  <a:srgbClr val="1E293B"/>
                </a:solidFill>
                <a:latin typeface="Calibri" pitchFamily="34" charset="0"/>
                <a:ea typeface="Calibri" pitchFamily="34" charset="-122"/>
                <a:cs typeface="Calibri" pitchFamily="34" charset="-120"/>
              </a:rPr>
              <a:t>College Name - </a:t>
            </a:r>
            <a:r>
              <a:rPr lang="en-US" sz="1300" dirty="0">
                <a:solidFill>
                  <a:srgbClr val="334155"/>
                </a:solidFill>
                <a:latin typeface="Calibri" pitchFamily="34" charset="0"/>
                <a:ea typeface="Calibri" pitchFamily="34" charset="-122"/>
                <a:cs typeface="Calibri" pitchFamily="34" charset="-120"/>
              </a:rPr>
              <a:t>Thapar Institute of Engineering &amp; Technology, Patiala</a:t>
            </a:r>
            <a:endParaRPr lang="en-US" sz="1300" dirty="0"/>
          </a:p>
          <a:p>
            <a:pPr marL="0" indent="0">
              <a:spcAft>
                <a:spcPts val="600"/>
              </a:spcAft>
              <a:buNone/>
            </a:pPr>
            <a:r>
              <a:rPr lang="en-US" sz="1300" b="1" dirty="0">
                <a:solidFill>
                  <a:srgbClr val="1E293B"/>
                </a:solidFill>
                <a:latin typeface="Calibri" pitchFamily="34" charset="0"/>
                <a:ea typeface="Calibri" pitchFamily="34" charset="-122"/>
                <a:cs typeface="Calibri" pitchFamily="34" charset="-120"/>
              </a:rPr>
              <a:t>Member 1 (Lead) - </a:t>
            </a:r>
            <a:r>
              <a:rPr lang="en-US" sz="1300" dirty="0">
                <a:solidFill>
                  <a:srgbClr val="334155"/>
                </a:solidFill>
                <a:latin typeface="Calibri" pitchFamily="34" charset="0"/>
                <a:ea typeface="Calibri" pitchFamily="34" charset="-122"/>
                <a:cs typeface="Calibri" pitchFamily="34" charset="-120"/>
              </a:rPr>
              <a:t>Abhinav Kumar Singh | asingh2910.official@gmail.com | 6398779479</a:t>
            </a:r>
            <a:endParaRPr lang="en-US" sz="1300" dirty="0"/>
          </a:p>
          <a:p>
            <a:pPr marL="0" indent="0">
              <a:spcAft>
                <a:spcPts val="600"/>
              </a:spcAft>
              <a:buNone/>
            </a:pPr>
            <a:r>
              <a:rPr lang="en-US" sz="1300" b="1" dirty="0">
                <a:solidFill>
                  <a:srgbClr val="1E293B"/>
                </a:solidFill>
                <a:latin typeface="Calibri" pitchFamily="34" charset="0"/>
                <a:ea typeface="Calibri" pitchFamily="34" charset="-122"/>
                <a:cs typeface="Calibri" pitchFamily="34" charset="-120"/>
              </a:rPr>
              <a:t>Member 2 - </a:t>
            </a:r>
            <a:r>
              <a:rPr lang="en-US" sz="1300" dirty="0">
                <a:solidFill>
                  <a:srgbClr val="334155"/>
                </a:solidFill>
                <a:latin typeface="Calibri" pitchFamily="34" charset="0"/>
                <a:ea typeface="Calibri" pitchFamily="34" charset="-122"/>
                <a:cs typeface="Calibri" pitchFamily="34" charset="-120"/>
              </a:rPr>
              <a:t>Sukhansh Mittal | smittal1_be24@thapar.edu | 9877366331</a:t>
            </a:r>
            <a:endParaRPr lang="en-US" sz="1300" dirty="0"/>
          </a:p>
          <a:p>
            <a:pPr marL="0" indent="0">
              <a:spcAft>
                <a:spcPts val="600"/>
              </a:spcAft>
              <a:buNone/>
            </a:pPr>
            <a:r>
              <a:rPr lang="en-US" sz="1300" b="1" dirty="0">
                <a:solidFill>
                  <a:srgbClr val="1E293B"/>
                </a:solidFill>
                <a:latin typeface="Calibri" pitchFamily="34" charset="0"/>
                <a:ea typeface="Calibri" pitchFamily="34" charset="-122"/>
                <a:cs typeface="Calibri" pitchFamily="34" charset="-120"/>
              </a:rPr>
              <a:t>Member 3 - </a:t>
            </a:r>
            <a:r>
              <a:rPr lang="en-US" sz="1300" dirty="0">
                <a:solidFill>
                  <a:srgbClr val="334155"/>
                </a:solidFill>
                <a:latin typeface="Calibri" pitchFamily="34" charset="0"/>
                <a:ea typeface="Calibri" pitchFamily="34" charset="-122"/>
                <a:cs typeface="Calibri" pitchFamily="34" charset="-120"/>
              </a:rPr>
              <a:t>Lakkshya Jha | ljha_be24@thapar.edu | 9574875069</a:t>
            </a:r>
            <a:endParaRPr lang="en-US" sz="1300" dirty="0"/>
          </a:p>
          <a:p>
            <a:pPr marL="0" indent="0">
              <a:spcAft>
                <a:spcPts val="600"/>
              </a:spcAft>
              <a:buNone/>
            </a:pPr>
            <a:r>
              <a:rPr lang="en-US" sz="1300" b="1" dirty="0">
                <a:solidFill>
                  <a:srgbClr val="1E293B"/>
                </a:solidFill>
                <a:latin typeface="Calibri" pitchFamily="34" charset="0"/>
                <a:ea typeface="Calibri" pitchFamily="34" charset="-122"/>
                <a:cs typeface="Calibri" pitchFamily="34" charset="-120"/>
              </a:rPr>
              <a:t>Member 4 - </a:t>
            </a:r>
            <a:r>
              <a:rPr lang="en-US" sz="1300" dirty="0">
                <a:solidFill>
                  <a:srgbClr val="334155"/>
                </a:solidFill>
                <a:latin typeface="Calibri" pitchFamily="34" charset="0"/>
                <a:ea typeface="Calibri" pitchFamily="34" charset="-122"/>
                <a:cs typeface="Calibri" pitchFamily="34" charset="-120"/>
              </a:rPr>
              <a:t>Vikramaditya Singh | vsingh1_be24@thapar.edu | 6239134155</a:t>
            </a:r>
            <a:endParaRPr lang="en-US" sz="1300" dirty="0"/>
          </a:p>
          <a:p>
            <a:pPr marL="0" indent="0">
              <a:spcAft>
                <a:spcPts val="600"/>
              </a:spcAft>
              <a:buNone/>
            </a:pPr>
            <a:r>
              <a:rPr lang="en-US" sz="1300" b="1" dirty="0">
                <a:solidFill>
                  <a:srgbClr val="1E293B"/>
                </a:solidFill>
                <a:latin typeface="Calibri" pitchFamily="34" charset="0"/>
                <a:ea typeface="Calibri" pitchFamily="34" charset="-122"/>
                <a:cs typeface="Calibri" pitchFamily="34" charset="-120"/>
              </a:rPr>
              <a:t>Submission GitHub - </a:t>
            </a:r>
            <a:r>
              <a:rPr lang="en-US" sz="1300" dirty="0">
                <a:solidFill>
                  <a:srgbClr val="334155"/>
                </a:solidFill>
                <a:latin typeface="Calibri" pitchFamily="34" charset="0"/>
                <a:ea typeface="Calibri" pitchFamily="34" charset="-122"/>
                <a:cs typeface="Calibri" pitchFamily="34" charset="-120"/>
              </a:rPr>
              <a:t>https://github.com/abhinav29102005/ultron</a:t>
            </a:r>
            <a:endParaRPr lang="en-US" sz="1300" dirty="0"/>
          </a:p>
          <a:p>
            <a:pPr marL="0" indent="0">
              <a:spcAft>
                <a:spcPts val="600"/>
              </a:spcAft>
              <a:buNone/>
            </a:pPr>
            <a:r>
              <a:rPr lang="en-US" sz="1300" b="1" dirty="0">
                <a:solidFill>
                  <a:srgbClr val="1E293B"/>
                </a:solidFill>
                <a:latin typeface="Calibri" pitchFamily="34" charset="0"/>
                <a:ea typeface="Calibri" pitchFamily="34" charset="-122"/>
                <a:cs typeface="Calibri" pitchFamily="34" charset="-120"/>
              </a:rPr>
              <a:t>Live Website - </a:t>
            </a:r>
            <a:r>
              <a:rPr lang="en-US" sz="1300" b="1" dirty="0">
                <a:solidFill>
                  <a:srgbClr val="704EA6"/>
                </a:solidFill>
                <a:latin typeface="Calibri" pitchFamily="34" charset="0"/>
                <a:ea typeface="Calibri" pitchFamily="34" charset="-122"/>
                <a:cs typeface="Calibri" pitchFamily="34" charset="-120"/>
              </a:rPr>
              <a:t>https://ultron.abhinavkumarsingh.tech/</a:t>
            </a:r>
            <a:endParaRPr lang="en-US" sz="1300" dirty="0"/>
          </a:p>
        </p:txBody>
      </p:sp>
      <p:pic>
        <p:nvPicPr>
          <p:cNvPr id="8" name="Image 0" descr="hero.png"/>
          <p:cNvPicPr>
            <a:picLocks noChangeAspect="1"/>
          </p:cNvPicPr>
          <p:nvPr/>
        </p:nvPicPr>
        <p:blipFill>
          <a:blip r:embed="rId3"/>
          <a:stretch>
            <a:fillRect/>
          </a:stretch>
        </p:blipFill>
        <p:spPr>
          <a:xfrm>
            <a:off x="7863840" y="1280160"/>
            <a:ext cx="3931920" cy="3931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600" b="1" dirty="0">
                <a:solidFill>
                  <a:srgbClr val="704EA6"/>
                </a:solidFill>
                <a:latin typeface="Calibri" pitchFamily="34" charset="0"/>
                <a:ea typeface="Calibri" pitchFamily="34" charset="-122"/>
                <a:cs typeface="Calibri" pitchFamily="34" charset="-120"/>
              </a:rPr>
              <a:t>Problem Statement &amp; Motivation</a:t>
            </a:r>
            <a:endParaRPr lang="en-US" sz="2600" dirty="0"/>
          </a:p>
        </p:txBody>
      </p:sp>
      <p:sp>
        <p:nvSpPr>
          <p:cNvPr id="3" name="Text 1"/>
          <p:cNvSpPr txBox="1"/>
          <p:nvPr/>
        </p:nvSpPr>
        <p:spPr>
          <a:xfrm>
            <a:off x="457200" y="6492240"/>
            <a:ext cx="9144000" cy="228600"/>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Samsung PRISM GenAI Hackathon 2026–27  |  Team 4 Bottle Codeka  |  Theme 4: Streaming Live RAG</a:t>
            </a:r>
            <a:endParaRPr lang="en-US" sz="900" dirty="0"/>
          </a:p>
        </p:txBody>
      </p:sp>
      <p:sp>
        <p:nvSpPr>
          <p:cNvPr id="4" name="Text 2"/>
          <p:cNvSpPr txBox="1"/>
          <p:nvPr/>
        </p:nvSpPr>
        <p:spPr>
          <a:xfrm>
            <a:off x="11274552" y="6492240"/>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457200" y="1051560"/>
            <a:ext cx="5532120" cy="3154680"/>
          </a:xfrm>
          <a:prstGeom prst="roundRect">
            <a:avLst>
              <a:gd name="adj" fmla="val 3478"/>
            </a:avLst>
          </a:prstGeom>
          <a:solidFill>
            <a:srgbClr val="F8FAFC"/>
          </a:solidFill>
          <a:ln w="12700">
            <a:solidFill>
              <a:srgbClr val="CBD5E1"/>
            </a:solidFill>
            <a:prstDash val="solid"/>
          </a:ln>
        </p:spPr>
      </p:sp>
      <p:sp>
        <p:nvSpPr>
          <p:cNvPr id="6" name="Text 4"/>
          <p:cNvSpPr txBox="1"/>
          <p:nvPr/>
        </p:nvSpPr>
        <p:spPr>
          <a:xfrm>
            <a:off x="640080" y="1143000"/>
            <a:ext cx="5212080" cy="32004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The Live Conversational RAG Problem</a:t>
            </a:r>
            <a:endParaRPr lang="en-US" sz="1400" dirty="0"/>
          </a:p>
        </p:txBody>
      </p:sp>
      <p:sp>
        <p:nvSpPr>
          <p:cNvPr id="7" name="Text 5"/>
          <p:cNvSpPr txBox="1"/>
          <p:nvPr/>
        </p:nvSpPr>
        <p:spPr>
          <a:xfrm>
            <a:off x="640080" y="1536192"/>
            <a:ext cx="5166360" cy="26060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Turn-complete bottleneck: </a:t>
            </a:r>
            <a:r>
              <a:rPr lang="en-US" sz="1400" dirty="0">
                <a:solidFill>
                  <a:srgbClr val="334155"/>
                </a:solidFill>
                <a:latin typeface="Calibri" pitchFamily="34" charset="0"/>
                <a:ea typeface="Calibri" pitchFamily="34" charset="-122"/>
                <a:cs typeface="Calibri" pitchFamily="34" charset="-120"/>
              </a:rPr>
              <a:t>RAG waits for the full sentence, adding 1,500–2,500ms TTFT and breaking voice pacing.</a:t>
            </a:r>
            <a:endParaRPr lang="en-US" sz="1200" dirty="0"/>
          </a:p>
          <a:p>
            <a:pPr marL="177800" indent="-1778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Mid-utterance corrections: </a:t>
            </a:r>
            <a:r>
              <a:rPr lang="en-US" sz="1400" dirty="0">
                <a:solidFill>
                  <a:srgbClr val="334155"/>
                </a:solidFill>
                <a:latin typeface="Calibri" pitchFamily="34" charset="0"/>
                <a:ea typeface="Calibri" pitchFamily="34" charset="-122"/>
                <a:cs typeface="Calibri" pitchFamily="34" charset="-120"/>
              </a:rPr>
              <a:t>“Pune… wait, make that Mumbai” – engines commit to the stale entity.</a:t>
            </a:r>
            <a:endParaRPr lang="en-US" sz="1200" dirty="0"/>
          </a:p>
          <a:p>
            <a:pPr marL="177800" indent="-1778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Context discontinuity: </a:t>
            </a:r>
            <a:r>
              <a:rPr lang="en-US" sz="1400" dirty="0">
                <a:solidFill>
                  <a:srgbClr val="334155"/>
                </a:solidFill>
                <a:latin typeface="Calibri" pitchFamily="34" charset="0"/>
                <a:ea typeface="Calibri" pitchFamily="34" charset="-122"/>
                <a:cs typeface="Calibri" pitchFamily="34" charset="-120"/>
              </a:rPr>
              <a:t>Follow-ups like “for 50 people there?” drift without coreference resolution.</a:t>
            </a:r>
            <a:endParaRPr lang="en-US" sz="1200" dirty="0"/>
          </a:p>
          <a:p>
            <a:pPr marL="177800" indent="-1778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Audit failure &amp; hallucination: </a:t>
            </a:r>
            <a:r>
              <a:rPr lang="en-US" sz="1400" dirty="0">
                <a:solidFill>
                  <a:srgbClr val="334155"/>
                </a:solidFill>
                <a:latin typeface="Calibri" pitchFamily="34" charset="0"/>
                <a:ea typeface="Calibri" pitchFamily="34" charset="-122"/>
                <a:cs typeface="Calibri" pitchFamily="34" charset="-120"/>
              </a:rPr>
              <a:t>Document-level tags fail audits; out-of-corpus queries get invented answers.</a:t>
            </a:r>
            <a:endParaRPr lang="en-US" sz="1200" dirty="0"/>
          </a:p>
        </p:txBody>
      </p:sp>
      <p:sp>
        <p:nvSpPr>
          <p:cNvPr id="8" name="Shape 6"/>
          <p:cNvSpPr/>
          <p:nvPr/>
        </p:nvSpPr>
        <p:spPr>
          <a:xfrm>
            <a:off x="6199632" y="1051560"/>
            <a:ext cx="5532120" cy="3154680"/>
          </a:xfrm>
          <a:prstGeom prst="roundRect">
            <a:avLst>
              <a:gd name="adj" fmla="val 3478"/>
            </a:avLst>
          </a:prstGeom>
          <a:solidFill>
            <a:srgbClr val="F8FAFC"/>
          </a:solidFill>
          <a:ln w="12700">
            <a:solidFill>
              <a:srgbClr val="CBD5E1"/>
            </a:solidFill>
            <a:prstDash val="solid"/>
          </a:ln>
        </p:spPr>
      </p:sp>
      <p:sp>
        <p:nvSpPr>
          <p:cNvPr id="9" name="Text 7"/>
          <p:cNvSpPr txBox="1"/>
          <p:nvPr/>
        </p:nvSpPr>
        <p:spPr>
          <a:xfrm>
            <a:off x="6382512" y="1143000"/>
            <a:ext cx="5212080" cy="320040"/>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Ultron’s Paradigm: Event-Driven Live RAG</a:t>
            </a:r>
            <a:endParaRPr lang="en-US" sz="1400" dirty="0"/>
          </a:p>
        </p:txBody>
      </p:sp>
      <p:sp>
        <p:nvSpPr>
          <p:cNvPr id="10" name="Text 8"/>
          <p:cNvSpPr txBox="1"/>
          <p:nvPr/>
        </p:nvSpPr>
        <p:spPr>
          <a:xfrm>
            <a:off x="6382512" y="1536192"/>
            <a:ext cx="5166360" cy="2606040"/>
          </a:xfrm>
          <a:prstGeom prst="rect">
            <a:avLst/>
          </a:prstGeom>
          <a:noFill/>
          <a:ln/>
        </p:spPr>
        <p:txBody>
          <a:bodyPr wrap="square" lIns="0" tIns="0" rIns="0" bIns="0" rtlCol="0" anchor="t"/>
          <a:lstStyle/>
          <a:p>
            <a:pPr marL="177800" indent="-177800">
              <a:spcAft>
                <a:spcPts val="500"/>
              </a:spcAft>
              <a:buSzPct val="100000"/>
              <a:buChar char="•"/>
            </a:pPr>
            <a:r>
              <a:rPr lang="en-US" sz="1350" b="1" dirty="0">
                <a:solidFill>
                  <a:srgbClr val="1E293B"/>
                </a:solidFill>
                <a:latin typeface="Calibri" pitchFamily="34" charset="0"/>
                <a:ea typeface="Calibri" pitchFamily="34" charset="-122"/>
                <a:cs typeface="Calibri" pitchFamily="34" charset="-120"/>
              </a:rPr>
              <a:t>Speculative early trigger: </a:t>
            </a:r>
            <a:r>
              <a:rPr lang="en-US" sz="1350" dirty="0">
                <a:solidFill>
                  <a:srgbClr val="334155"/>
                </a:solidFill>
                <a:latin typeface="Calibri" pitchFamily="34" charset="0"/>
                <a:ea typeface="Calibri" pitchFamily="34" charset="-122"/>
                <a:cs typeface="Calibri" pitchFamily="34" charset="-120"/>
              </a:rPr>
              <a:t> Hybrid retrieval fires at token 6–8: +1,300ms head start (demo).</a:t>
            </a:r>
            <a:endParaRPr lang="en-US" sz="1200" dirty="0"/>
          </a:p>
          <a:p>
            <a:pPr marL="177800" indent="-177800">
              <a:spcAft>
                <a:spcPts val="500"/>
              </a:spcAft>
              <a:buSzPct val="100000"/>
              <a:buChar char="•"/>
            </a:pPr>
            <a:r>
              <a:rPr lang="en-US" sz="1350" b="1" dirty="0">
                <a:solidFill>
                  <a:srgbClr val="1E293B"/>
                </a:solidFill>
                <a:latin typeface="Calibri" pitchFamily="34" charset="0"/>
                <a:ea typeface="Calibri" pitchFamily="34" charset="-122"/>
                <a:cs typeface="Calibri" pitchFamily="34" charset="-120"/>
              </a:rPr>
              <a:t>Intra-stream pivot: </a:t>
            </a:r>
            <a:r>
              <a:rPr lang="en-US" sz="1350" dirty="0">
                <a:solidFill>
                  <a:srgbClr val="334155"/>
                </a:solidFill>
                <a:latin typeface="Calibri" pitchFamily="34" charset="0"/>
                <a:ea typeface="Calibri" pitchFamily="34" charset="-122"/>
                <a:cs typeface="Calibri" pitchFamily="34" charset="-120"/>
              </a:rPr>
              <a:t>Diff tracking cancels stale in-flight searches on “wait / actually”.</a:t>
            </a:r>
            <a:endParaRPr lang="en-US" sz="1200" dirty="0"/>
          </a:p>
          <a:p>
            <a:pPr marL="177800" indent="-177800">
              <a:spcAft>
                <a:spcPts val="500"/>
              </a:spcAft>
              <a:buSzPct val="100000"/>
              <a:buChar char="•"/>
            </a:pPr>
            <a:r>
              <a:rPr lang="en-US" sz="1350" b="1" dirty="0">
                <a:solidFill>
                  <a:srgbClr val="1E293B"/>
                </a:solidFill>
                <a:latin typeface="Calibri" pitchFamily="34" charset="0"/>
                <a:ea typeface="Calibri" pitchFamily="34" charset="-122"/>
                <a:cs typeface="Calibri" pitchFamily="34" charset="-120"/>
              </a:rPr>
              <a:t>Session lineage: </a:t>
            </a:r>
            <a:r>
              <a:rPr lang="en-US" sz="1350" dirty="0">
                <a:solidFill>
                  <a:srgbClr val="334155"/>
                </a:solidFill>
                <a:latin typeface="Calibri" pitchFamily="34" charset="0"/>
                <a:ea typeface="Calibri" pitchFamily="34" charset="-122"/>
                <a:cs typeface="Calibri" pitchFamily="34" charset="-120"/>
              </a:rPr>
              <a:t>Coreference + version tracking (V1 → V2) across turns.</a:t>
            </a:r>
            <a:endParaRPr lang="en-US" sz="1200" dirty="0"/>
          </a:p>
          <a:p>
            <a:pPr marL="177800" indent="-177800">
              <a:spcAft>
                <a:spcPts val="500"/>
              </a:spcAft>
              <a:buSzPct val="100000"/>
              <a:buChar char="•"/>
            </a:pPr>
            <a:r>
              <a:rPr lang="en-US" sz="1350" b="1" dirty="0">
                <a:solidFill>
                  <a:srgbClr val="1E293B"/>
                </a:solidFill>
                <a:latin typeface="Calibri" pitchFamily="34" charset="0"/>
                <a:ea typeface="Calibri" pitchFamily="34" charset="-122"/>
                <a:cs typeface="Calibri" pitchFamily="34" charset="-120"/>
              </a:rPr>
              <a:t>Gate 0 suppression: </a:t>
            </a:r>
            <a:r>
              <a:rPr lang="en-US" sz="1350" dirty="0">
                <a:solidFill>
                  <a:srgbClr val="334155"/>
                </a:solidFill>
                <a:latin typeface="Calibri" pitchFamily="34" charset="0"/>
                <a:ea typeface="Calibri" pitchFamily="34" charset="-122"/>
                <a:cs typeface="Calibri" pitchFamily="34" charset="-120"/>
              </a:rPr>
              <a:t> Pure formatting turns run 0 vector searches (40% saved in one demo session).</a:t>
            </a:r>
            <a:endParaRPr lang="en-US" sz="1200" dirty="0"/>
          </a:p>
          <a:p>
            <a:pPr marL="177800" indent="-177800">
              <a:spcAft>
                <a:spcPts val="500"/>
              </a:spcAft>
              <a:buSzPct val="100000"/>
              <a:buChar char="•"/>
            </a:pPr>
            <a:r>
              <a:rPr lang="en-US" sz="1350" b="1" dirty="0">
                <a:solidFill>
                  <a:srgbClr val="1E293B"/>
                </a:solidFill>
                <a:latin typeface="Calibri" pitchFamily="34" charset="0"/>
                <a:ea typeface="Calibri" pitchFamily="34" charset="-122"/>
                <a:cs typeface="Calibri" pitchFamily="34" charset="-120"/>
              </a:rPr>
              <a:t>Verifiable grounding: </a:t>
            </a:r>
            <a:r>
              <a:rPr lang="en-US" sz="1350" dirty="0">
                <a:solidFill>
                  <a:srgbClr val="334155"/>
                </a:solidFill>
                <a:latin typeface="Calibri" pitchFamily="34" charset="0"/>
                <a:ea typeface="Calibri" pitchFamily="34" charset="-122"/>
                <a:cs typeface="Calibri" pitchFamily="34" charset="-120"/>
              </a:rPr>
              <a:t> Exact chunk-level citations, e.g. [Doc_12 §2].</a:t>
            </a:r>
            <a:endParaRPr lang="en-US" sz="1200" dirty="0"/>
          </a:p>
        </p:txBody>
      </p:sp>
      <p:sp>
        <p:nvSpPr>
          <p:cNvPr id="11" name="Shape 9"/>
          <p:cNvSpPr/>
          <p:nvPr/>
        </p:nvSpPr>
        <p:spPr>
          <a:xfrm>
            <a:off x="457200" y="4389120"/>
            <a:ext cx="11274552" cy="1965960"/>
          </a:xfrm>
          <a:prstGeom prst="roundRect">
            <a:avLst>
              <a:gd name="adj" fmla="val 5581"/>
            </a:avLst>
          </a:prstGeom>
          <a:solidFill>
            <a:srgbClr val="F8FAFC"/>
          </a:solidFill>
          <a:ln w="12700">
            <a:solidFill>
              <a:srgbClr val="CBD5E1"/>
            </a:solidFill>
            <a:prstDash val="solid"/>
          </a:ln>
        </p:spPr>
      </p:sp>
      <p:sp>
        <p:nvSpPr>
          <p:cNvPr id="12" name="Text 10"/>
          <p:cNvSpPr txBox="1"/>
          <p:nvPr/>
        </p:nvSpPr>
        <p:spPr>
          <a:xfrm>
            <a:off x="640080" y="4462272"/>
            <a:ext cx="731520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Traditional vs Ultron RAG (demo: simulated ASR chunks)</a:t>
            </a:r>
            <a:endParaRPr lang="en-US" sz="1400" dirty="0"/>
          </a:p>
        </p:txBody>
      </p:sp>
      <p:sp>
        <p:nvSpPr>
          <p:cNvPr id="13" name="Text 11"/>
          <p:cNvSpPr txBox="1"/>
          <p:nvPr/>
        </p:nvSpPr>
        <p:spPr>
          <a:xfrm>
            <a:off x="640080" y="4956048"/>
            <a:ext cx="1280160" cy="502920"/>
          </a:xfrm>
          <a:prstGeom prst="rect">
            <a:avLst/>
          </a:prstGeom>
          <a:noFill/>
          <a:ln/>
        </p:spPr>
        <p:txBody>
          <a:bodyPr wrap="square" lIns="0" tIns="0" rIns="0" bIns="0"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Traditional</a:t>
            </a:r>
            <a:endParaRPr lang="en-US" sz="1100" dirty="0"/>
          </a:p>
        </p:txBody>
      </p:sp>
      <p:sp>
        <p:nvSpPr>
          <p:cNvPr id="14" name="Shape 12"/>
          <p:cNvSpPr/>
          <p:nvPr/>
        </p:nvSpPr>
        <p:spPr>
          <a:xfrm>
            <a:off x="1920240" y="4956048"/>
            <a:ext cx="2180844" cy="502920"/>
          </a:xfrm>
          <a:prstGeom prst="roundRect">
            <a:avLst>
              <a:gd name="adj" fmla="val 14545"/>
            </a:avLst>
          </a:prstGeom>
          <a:solidFill>
            <a:srgbClr val="FEE2E2"/>
          </a:solidFill>
          <a:ln w="12700">
            <a:solidFill>
              <a:srgbClr val="FCA5A5"/>
            </a:solidFill>
            <a:prstDash val="solid"/>
          </a:ln>
        </p:spPr>
      </p:sp>
      <p:sp>
        <p:nvSpPr>
          <p:cNvPr id="15" name="Text 13"/>
          <p:cNvSpPr txBox="1"/>
          <p:nvPr/>
        </p:nvSpPr>
        <p:spPr>
          <a:xfrm>
            <a:off x="1920240" y="4956048"/>
            <a:ext cx="2180844" cy="502920"/>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User speaks (wait for end of speech)</a:t>
            </a:r>
            <a:endParaRPr lang="en-US" sz="1100" dirty="0"/>
          </a:p>
        </p:txBody>
      </p:sp>
      <p:sp>
        <p:nvSpPr>
          <p:cNvPr id="16" name="Shape 14"/>
          <p:cNvSpPr/>
          <p:nvPr/>
        </p:nvSpPr>
        <p:spPr>
          <a:xfrm>
            <a:off x="4137660" y="5207508"/>
            <a:ext cx="219456" cy="0"/>
          </a:xfrm>
          <a:prstGeom prst="line">
            <a:avLst/>
          </a:prstGeom>
          <a:noFill/>
          <a:ln w="22225">
            <a:solidFill>
              <a:srgbClr val="FCA5A5"/>
            </a:solidFill>
            <a:prstDash val="solid"/>
            <a:tailEnd type="triangle"/>
          </a:ln>
        </p:spPr>
      </p:sp>
      <p:sp>
        <p:nvSpPr>
          <p:cNvPr id="17" name="Shape 15"/>
          <p:cNvSpPr/>
          <p:nvPr/>
        </p:nvSpPr>
        <p:spPr>
          <a:xfrm>
            <a:off x="4393692" y="4956048"/>
            <a:ext cx="2180844" cy="502920"/>
          </a:xfrm>
          <a:prstGeom prst="roundRect">
            <a:avLst>
              <a:gd name="adj" fmla="val 14545"/>
            </a:avLst>
          </a:prstGeom>
          <a:solidFill>
            <a:srgbClr val="FEE2E2"/>
          </a:solidFill>
          <a:ln w="12700">
            <a:solidFill>
              <a:srgbClr val="FCA5A5"/>
            </a:solidFill>
            <a:prstDash val="solid"/>
          </a:ln>
        </p:spPr>
      </p:sp>
      <p:sp>
        <p:nvSpPr>
          <p:cNvPr id="18" name="Text 16"/>
          <p:cNvSpPr txBox="1"/>
          <p:nvPr/>
        </p:nvSpPr>
        <p:spPr>
          <a:xfrm>
            <a:off x="4393692" y="4956048"/>
            <a:ext cx="2180844" cy="502920"/>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ASR transcribe</a:t>
            </a:r>
            <a:endParaRPr lang="en-US" sz="1100" dirty="0"/>
          </a:p>
        </p:txBody>
      </p:sp>
      <p:sp>
        <p:nvSpPr>
          <p:cNvPr id="19" name="Shape 17"/>
          <p:cNvSpPr/>
          <p:nvPr/>
        </p:nvSpPr>
        <p:spPr>
          <a:xfrm>
            <a:off x="6611112" y="5207508"/>
            <a:ext cx="219456" cy="0"/>
          </a:xfrm>
          <a:prstGeom prst="line">
            <a:avLst/>
          </a:prstGeom>
          <a:noFill/>
          <a:ln w="22225">
            <a:solidFill>
              <a:srgbClr val="FCA5A5"/>
            </a:solidFill>
            <a:prstDash val="solid"/>
            <a:tailEnd type="triangle"/>
          </a:ln>
        </p:spPr>
      </p:sp>
      <p:sp>
        <p:nvSpPr>
          <p:cNvPr id="20" name="Shape 18"/>
          <p:cNvSpPr/>
          <p:nvPr/>
        </p:nvSpPr>
        <p:spPr>
          <a:xfrm>
            <a:off x="6867144" y="4956048"/>
            <a:ext cx="2180844" cy="502920"/>
          </a:xfrm>
          <a:prstGeom prst="roundRect">
            <a:avLst>
              <a:gd name="adj" fmla="val 14545"/>
            </a:avLst>
          </a:prstGeom>
          <a:solidFill>
            <a:srgbClr val="FEE2E2"/>
          </a:solidFill>
          <a:ln w="12700">
            <a:solidFill>
              <a:srgbClr val="FCA5A5"/>
            </a:solidFill>
            <a:prstDash val="solid"/>
          </a:ln>
        </p:spPr>
      </p:sp>
      <p:sp>
        <p:nvSpPr>
          <p:cNvPr id="21" name="Text 19"/>
          <p:cNvSpPr txBox="1"/>
          <p:nvPr/>
        </p:nvSpPr>
        <p:spPr>
          <a:xfrm>
            <a:off x="6867144" y="4956048"/>
            <a:ext cx="2180844" cy="502920"/>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Vector search (blocks!)</a:t>
            </a:r>
            <a:endParaRPr lang="en-US" sz="1100" dirty="0"/>
          </a:p>
        </p:txBody>
      </p:sp>
      <p:sp>
        <p:nvSpPr>
          <p:cNvPr id="22" name="Shape 20"/>
          <p:cNvSpPr/>
          <p:nvPr/>
        </p:nvSpPr>
        <p:spPr>
          <a:xfrm>
            <a:off x="9084564" y="5207508"/>
            <a:ext cx="219456" cy="0"/>
          </a:xfrm>
          <a:prstGeom prst="line">
            <a:avLst/>
          </a:prstGeom>
          <a:noFill/>
          <a:ln w="22225">
            <a:solidFill>
              <a:srgbClr val="FCA5A5"/>
            </a:solidFill>
            <a:prstDash val="solid"/>
            <a:tailEnd type="triangle"/>
          </a:ln>
        </p:spPr>
      </p:sp>
      <p:sp>
        <p:nvSpPr>
          <p:cNvPr id="23" name="Shape 21"/>
          <p:cNvSpPr/>
          <p:nvPr/>
        </p:nvSpPr>
        <p:spPr>
          <a:xfrm>
            <a:off x="9340596" y="4956048"/>
            <a:ext cx="2180844" cy="502920"/>
          </a:xfrm>
          <a:prstGeom prst="roundRect">
            <a:avLst>
              <a:gd name="adj" fmla="val 14545"/>
            </a:avLst>
          </a:prstGeom>
          <a:solidFill>
            <a:srgbClr val="FEE2E2"/>
          </a:solidFill>
          <a:ln w="12700">
            <a:solidFill>
              <a:srgbClr val="FCA5A5"/>
            </a:solidFill>
            <a:prstDash val="solid"/>
          </a:ln>
        </p:spPr>
      </p:sp>
      <p:sp>
        <p:nvSpPr>
          <p:cNvPr id="24" name="Text 22"/>
          <p:cNvSpPr txBox="1"/>
          <p:nvPr/>
        </p:nvSpPr>
        <p:spPr>
          <a:xfrm>
            <a:off x="9340596" y="4956048"/>
            <a:ext cx="2180844" cy="502920"/>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LLM generation</a:t>
            </a:r>
            <a:endParaRPr lang="en-US" sz="1100" dirty="0"/>
          </a:p>
        </p:txBody>
      </p:sp>
      <p:sp>
        <p:nvSpPr>
          <p:cNvPr id="25" name="Text 23"/>
          <p:cNvSpPr txBox="1"/>
          <p:nvPr/>
        </p:nvSpPr>
        <p:spPr>
          <a:xfrm>
            <a:off x="640080" y="5669280"/>
            <a:ext cx="1280160" cy="502920"/>
          </a:xfrm>
          <a:prstGeom prst="rect">
            <a:avLst/>
          </a:prstGeom>
          <a:noFill/>
          <a:ln/>
        </p:spPr>
        <p:txBody>
          <a:bodyPr wrap="square" lIns="0" tIns="0" rIns="0" bIns="0" rtlCol="0" anchor="ctr"/>
          <a:lstStyle/>
          <a:p>
            <a:pPr marL="0" indent="0">
              <a:buNone/>
            </a:pPr>
            <a:r>
              <a:rPr lang="en-US" sz="1100" b="1" dirty="0">
                <a:solidFill>
                  <a:srgbClr val="047857"/>
                </a:solidFill>
                <a:latin typeface="Calibri" pitchFamily="34" charset="0"/>
                <a:ea typeface="Calibri" pitchFamily="34" charset="-122"/>
                <a:cs typeface="Calibri" pitchFamily="34" charset="-120"/>
              </a:rPr>
              <a:t>Ultron</a:t>
            </a:r>
            <a:endParaRPr lang="en-US" sz="1100" dirty="0"/>
          </a:p>
        </p:txBody>
      </p:sp>
      <p:sp>
        <p:nvSpPr>
          <p:cNvPr id="26" name="Shape 24"/>
          <p:cNvSpPr/>
          <p:nvPr/>
        </p:nvSpPr>
        <p:spPr>
          <a:xfrm>
            <a:off x="1920240" y="5669280"/>
            <a:ext cx="2180844" cy="502920"/>
          </a:xfrm>
          <a:prstGeom prst="roundRect">
            <a:avLst>
              <a:gd name="adj" fmla="val 14545"/>
            </a:avLst>
          </a:prstGeom>
          <a:solidFill>
            <a:srgbClr val="DCFCE7"/>
          </a:solidFill>
          <a:ln w="12700">
            <a:solidFill>
              <a:srgbClr val="86EFAC"/>
            </a:solidFill>
            <a:prstDash val="solid"/>
          </a:ln>
        </p:spPr>
      </p:sp>
      <p:sp>
        <p:nvSpPr>
          <p:cNvPr id="27" name="Text 25"/>
          <p:cNvSpPr txBox="1"/>
          <p:nvPr/>
        </p:nvSpPr>
        <p:spPr>
          <a:xfrm>
            <a:off x="1920240" y="5669280"/>
            <a:ext cx="2180844" cy="502920"/>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User speaks (token 6–8)</a:t>
            </a:r>
            <a:endParaRPr lang="en-US" sz="1100" dirty="0"/>
          </a:p>
        </p:txBody>
      </p:sp>
      <p:sp>
        <p:nvSpPr>
          <p:cNvPr id="28" name="Shape 26"/>
          <p:cNvSpPr/>
          <p:nvPr/>
        </p:nvSpPr>
        <p:spPr>
          <a:xfrm>
            <a:off x="4137660" y="5920740"/>
            <a:ext cx="219456" cy="0"/>
          </a:xfrm>
          <a:prstGeom prst="line">
            <a:avLst/>
          </a:prstGeom>
          <a:noFill/>
          <a:ln w="22225">
            <a:solidFill>
              <a:srgbClr val="86EFAC"/>
            </a:solidFill>
            <a:prstDash val="solid"/>
            <a:tailEnd type="triangle"/>
          </a:ln>
        </p:spPr>
      </p:sp>
      <p:sp>
        <p:nvSpPr>
          <p:cNvPr id="29" name="Shape 27"/>
          <p:cNvSpPr/>
          <p:nvPr/>
        </p:nvSpPr>
        <p:spPr>
          <a:xfrm>
            <a:off x="4393692" y="5669280"/>
            <a:ext cx="2180844" cy="502920"/>
          </a:xfrm>
          <a:prstGeom prst="roundRect">
            <a:avLst>
              <a:gd name="adj" fmla="val 14545"/>
            </a:avLst>
          </a:prstGeom>
          <a:solidFill>
            <a:srgbClr val="DCFCE7"/>
          </a:solidFill>
          <a:ln w="12700">
            <a:solidFill>
              <a:srgbClr val="86EFAC"/>
            </a:solidFill>
            <a:prstDash val="solid"/>
          </a:ln>
        </p:spPr>
      </p:sp>
      <p:sp>
        <p:nvSpPr>
          <p:cNvPr id="30" name="Text 28"/>
          <p:cNvSpPr txBox="1"/>
          <p:nvPr/>
        </p:nvSpPr>
        <p:spPr>
          <a:xfrm>
            <a:off x="4393692" y="5669280"/>
            <a:ext cx="2180844" cy="502920"/>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Speculative trigger</a:t>
            </a:r>
            <a:endParaRPr lang="en-US" sz="1100" dirty="0"/>
          </a:p>
        </p:txBody>
      </p:sp>
      <p:sp>
        <p:nvSpPr>
          <p:cNvPr id="31" name="Shape 29"/>
          <p:cNvSpPr/>
          <p:nvPr/>
        </p:nvSpPr>
        <p:spPr>
          <a:xfrm>
            <a:off x="6611112" y="5920740"/>
            <a:ext cx="219456" cy="0"/>
          </a:xfrm>
          <a:prstGeom prst="line">
            <a:avLst/>
          </a:prstGeom>
          <a:noFill/>
          <a:ln w="22225">
            <a:solidFill>
              <a:srgbClr val="86EFAC"/>
            </a:solidFill>
            <a:prstDash val="solid"/>
            <a:tailEnd type="triangle"/>
          </a:ln>
        </p:spPr>
      </p:sp>
      <p:sp>
        <p:nvSpPr>
          <p:cNvPr id="32" name="Shape 30"/>
          <p:cNvSpPr/>
          <p:nvPr/>
        </p:nvSpPr>
        <p:spPr>
          <a:xfrm>
            <a:off x="6867144" y="5669280"/>
            <a:ext cx="2180844" cy="502920"/>
          </a:xfrm>
          <a:prstGeom prst="roundRect">
            <a:avLst>
              <a:gd name="adj" fmla="val 14545"/>
            </a:avLst>
          </a:prstGeom>
          <a:solidFill>
            <a:srgbClr val="DCFCE7"/>
          </a:solidFill>
          <a:ln w="12700">
            <a:solidFill>
              <a:srgbClr val="86EFAC"/>
            </a:solidFill>
            <a:prstDash val="solid"/>
          </a:ln>
        </p:spPr>
      </p:sp>
      <p:sp>
        <p:nvSpPr>
          <p:cNvPr id="33" name="Text 31"/>
          <p:cNvSpPr txBox="1"/>
          <p:nvPr/>
        </p:nvSpPr>
        <p:spPr>
          <a:xfrm>
            <a:off x="6867144" y="5669280"/>
            <a:ext cx="2180844" cy="502920"/>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Parallel multi-intent search</a:t>
            </a:r>
            <a:endParaRPr lang="en-US" sz="1100" dirty="0"/>
          </a:p>
        </p:txBody>
      </p:sp>
      <p:sp>
        <p:nvSpPr>
          <p:cNvPr id="34" name="Shape 32"/>
          <p:cNvSpPr/>
          <p:nvPr/>
        </p:nvSpPr>
        <p:spPr>
          <a:xfrm>
            <a:off x="9084564" y="5920740"/>
            <a:ext cx="219456" cy="0"/>
          </a:xfrm>
          <a:prstGeom prst="line">
            <a:avLst/>
          </a:prstGeom>
          <a:noFill/>
          <a:ln w="22225">
            <a:solidFill>
              <a:srgbClr val="86EFAC"/>
            </a:solidFill>
            <a:prstDash val="solid"/>
            <a:tailEnd type="triangle"/>
          </a:ln>
        </p:spPr>
      </p:sp>
      <p:sp>
        <p:nvSpPr>
          <p:cNvPr id="35" name="Shape 33"/>
          <p:cNvSpPr/>
          <p:nvPr/>
        </p:nvSpPr>
        <p:spPr>
          <a:xfrm>
            <a:off x="9340596" y="5669280"/>
            <a:ext cx="2180844" cy="502920"/>
          </a:xfrm>
          <a:prstGeom prst="roundRect">
            <a:avLst>
              <a:gd name="adj" fmla="val 14545"/>
            </a:avLst>
          </a:prstGeom>
          <a:solidFill>
            <a:srgbClr val="DCFCE7"/>
          </a:solidFill>
          <a:ln w="12700">
            <a:solidFill>
              <a:srgbClr val="86EFAC"/>
            </a:solidFill>
            <a:prstDash val="solid"/>
          </a:ln>
        </p:spPr>
      </p:sp>
      <p:sp>
        <p:nvSpPr>
          <p:cNvPr id="36" name="Text 34"/>
          <p:cNvSpPr txBox="1"/>
          <p:nvPr/>
        </p:nvSpPr>
        <p:spPr>
          <a:xfrm>
            <a:off x="9340596" y="5669280"/>
            <a:ext cx="2180844" cy="502920"/>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Low-latency stream</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600" b="1" dirty="0">
                <a:solidFill>
                  <a:srgbClr val="704EA6"/>
                </a:solidFill>
                <a:latin typeface="Calibri" pitchFamily="34" charset="0"/>
                <a:ea typeface="Calibri" pitchFamily="34" charset="-122"/>
                <a:cs typeface="Calibri" pitchFamily="34" charset="-120"/>
              </a:rPr>
              <a:t>Existing Solutions &amp; Critical Industry Gaps</a:t>
            </a:r>
            <a:endParaRPr lang="en-US" sz="2600" dirty="0"/>
          </a:p>
        </p:txBody>
      </p:sp>
      <p:sp>
        <p:nvSpPr>
          <p:cNvPr id="3" name="Text 1"/>
          <p:cNvSpPr txBox="1"/>
          <p:nvPr/>
        </p:nvSpPr>
        <p:spPr>
          <a:xfrm>
            <a:off x="457200" y="6492240"/>
            <a:ext cx="9144000" cy="228600"/>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Samsung PRISM GenAI Hackathon 2026–27  |  Team 4 Bottle Codeka  |  Theme 4: Streaming Live RAG</a:t>
            </a:r>
            <a:endParaRPr lang="en-US" sz="900" dirty="0"/>
          </a:p>
        </p:txBody>
      </p:sp>
      <p:sp>
        <p:nvSpPr>
          <p:cNvPr id="4" name="Text 2"/>
          <p:cNvSpPr txBox="1"/>
          <p:nvPr/>
        </p:nvSpPr>
        <p:spPr>
          <a:xfrm>
            <a:off x="11274552" y="6492240"/>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457200" y="1051560"/>
            <a:ext cx="3611880" cy="3063240"/>
          </a:xfrm>
          <a:prstGeom prst="roundRect">
            <a:avLst>
              <a:gd name="adj" fmla="val 3582"/>
            </a:avLst>
          </a:prstGeom>
          <a:solidFill>
            <a:srgbClr val="F8FAFC"/>
          </a:solidFill>
          <a:ln w="12700">
            <a:solidFill>
              <a:srgbClr val="CBD5E1"/>
            </a:solidFill>
            <a:prstDash val="solid"/>
          </a:ln>
        </p:spPr>
      </p:sp>
      <p:sp>
        <p:nvSpPr>
          <p:cNvPr id="6" name="Text 4"/>
          <p:cNvSpPr txBox="1"/>
          <p:nvPr/>
        </p:nvSpPr>
        <p:spPr>
          <a:xfrm>
            <a:off x="640080" y="1115568"/>
            <a:ext cx="3246120" cy="320040"/>
          </a:xfrm>
          <a:prstGeom prst="rect">
            <a:avLst/>
          </a:prstGeom>
          <a:noFill/>
          <a:ln/>
        </p:spPr>
        <p:txBody>
          <a:bodyPr wrap="square" lIns="0" tIns="0" rIns="0" bIns="0" rtlCol="0" anchor="ctr"/>
          <a:lstStyle/>
          <a:p>
            <a:pPr marL="0" indent="0">
              <a:buNone/>
            </a:pPr>
            <a:r>
              <a:rPr lang="en-US" sz="1500" b="1" dirty="0">
                <a:solidFill>
                  <a:srgbClr val="704EA6"/>
                </a:solidFill>
                <a:latin typeface="Calibri" pitchFamily="34" charset="0"/>
                <a:ea typeface="Calibri" pitchFamily="34" charset="-122"/>
                <a:cs typeface="Calibri" pitchFamily="34" charset="-120"/>
              </a:rPr>
              <a:t>1. Existing Approaches</a:t>
            </a:r>
            <a:endParaRPr lang="en-US" sz="1500" dirty="0"/>
          </a:p>
        </p:txBody>
      </p:sp>
      <p:sp>
        <p:nvSpPr>
          <p:cNvPr id="7" name="Text 5"/>
          <p:cNvSpPr txBox="1"/>
          <p:nvPr/>
        </p:nvSpPr>
        <p:spPr>
          <a:xfrm>
            <a:off x="640080" y="1536192"/>
            <a:ext cx="3246120" cy="251460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Turn-based RAG: </a:t>
            </a:r>
            <a:r>
              <a:rPr lang="en-US" sz="1250" dirty="0">
                <a:solidFill>
                  <a:srgbClr val="334155"/>
                </a:solidFill>
                <a:latin typeface="Calibri" pitchFamily="34" charset="0"/>
                <a:ea typeface="Calibri" pitchFamily="34" charset="-122"/>
                <a:cs typeface="Calibri" pitchFamily="34" charset="-120"/>
              </a:rPr>
              <a:t> LangChain &amp; LlamaIndex wait for sentence boundaries; ~1.8s turn wait (indicative, not our benchmark).</a:t>
            </a:r>
            <a:endParaRPr lang="en-US" sz="1200" dirty="0"/>
          </a:p>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Naive token streaming: </a:t>
            </a:r>
            <a:r>
              <a:rPr lang="en-US" sz="1250" dirty="0">
                <a:solidFill>
                  <a:srgbClr val="334155"/>
                </a:solidFill>
                <a:latin typeface="Calibri" pitchFamily="34" charset="0"/>
                <a:ea typeface="Calibri" pitchFamily="34" charset="-122"/>
                <a:cs typeface="Calibri" pitchFamily="34" charset="-120"/>
              </a:rPr>
              <a:t>Only LLM output streams; retrieval stays synchronous.</a:t>
            </a:r>
            <a:endParaRPr lang="en-US" sz="1200" dirty="0"/>
          </a:p>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Static keyword search: </a:t>
            </a:r>
            <a:r>
              <a:rPr lang="en-US" sz="1250" dirty="0">
                <a:solidFill>
                  <a:srgbClr val="334155"/>
                </a:solidFill>
                <a:latin typeface="Calibri" pitchFamily="34" charset="0"/>
                <a:ea typeface="Calibri" pitchFamily="34" charset="-122"/>
                <a:cs typeface="Calibri" pitchFamily="34" charset="-120"/>
              </a:rPr>
              <a:t>Lexical only; fails on coreference and anaphora.</a:t>
            </a:r>
            <a:endParaRPr lang="en-US" sz="1200" dirty="0"/>
          </a:p>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Rigid chunking: </a:t>
            </a:r>
            <a:r>
              <a:rPr lang="en-US" sz="1250" dirty="0">
                <a:solidFill>
                  <a:srgbClr val="334155"/>
                </a:solidFill>
                <a:latin typeface="Calibri" pitchFamily="34" charset="0"/>
                <a:ea typeface="Calibri" pitchFamily="34" charset="-122"/>
                <a:cs typeface="Calibri" pitchFamily="34" charset="-120"/>
              </a:rPr>
              <a:t>Fixed 512-token splits break semantic boundaries.</a:t>
            </a:r>
            <a:endParaRPr lang="en-US" sz="1200" dirty="0"/>
          </a:p>
        </p:txBody>
      </p:sp>
      <p:sp>
        <p:nvSpPr>
          <p:cNvPr id="8" name="Shape 6"/>
          <p:cNvSpPr/>
          <p:nvPr/>
        </p:nvSpPr>
        <p:spPr>
          <a:xfrm>
            <a:off x="4087368" y="2423160"/>
            <a:ext cx="182880" cy="274320"/>
          </a:xfrm>
          <a:prstGeom prst="rightArrow">
            <a:avLst/>
          </a:prstGeom>
          <a:solidFill>
            <a:srgbClr val="64748B"/>
          </a:solidFill>
          <a:ln w="6350">
            <a:solidFill>
              <a:srgbClr val="64748B"/>
            </a:solidFill>
            <a:prstDash val="solid"/>
          </a:ln>
        </p:spPr>
      </p:sp>
      <p:sp>
        <p:nvSpPr>
          <p:cNvPr id="9" name="Shape 7"/>
          <p:cNvSpPr/>
          <p:nvPr/>
        </p:nvSpPr>
        <p:spPr>
          <a:xfrm>
            <a:off x="4288536" y="1051560"/>
            <a:ext cx="3611880" cy="3063240"/>
          </a:xfrm>
          <a:prstGeom prst="roundRect">
            <a:avLst>
              <a:gd name="adj" fmla="val 3582"/>
            </a:avLst>
          </a:prstGeom>
          <a:solidFill>
            <a:srgbClr val="F8FAFC"/>
          </a:solidFill>
          <a:ln w="12700">
            <a:solidFill>
              <a:srgbClr val="CBD5E1"/>
            </a:solidFill>
            <a:prstDash val="solid"/>
          </a:ln>
        </p:spPr>
      </p:sp>
      <p:sp>
        <p:nvSpPr>
          <p:cNvPr id="10" name="Text 8"/>
          <p:cNvSpPr txBox="1"/>
          <p:nvPr/>
        </p:nvSpPr>
        <p:spPr>
          <a:xfrm>
            <a:off x="4471416" y="1115568"/>
            <a:ext cx="3246120" cy="320040"/>
          </a:xfrm>
          <a:prstGeom prst="rect">
            <a:avLst/>
          </a:prstGeom>
          <a:noFill/>
          <a:ln/>
        </p:spPr>
        <p:txBody>
          <a:bodyPr wrap="square" lIns="0" tIns="0" rIns="0" bIns="0" rtlCol="0" anchor="ctr"/>
          <a:lstStyle/>
          <a:p>
            <a:pPr marL="0" indent="0">
              <a:buNone/>
            </a:pPr>
            <a:r>
              <a:rPr lang="en-US" sz="1500" b="1" dirty="0">
                <a:solidFill>
                  <a:srgbClr val="DC2626"/>
                </a:solidFill>
                <a:latin typeface="Calibri" pitchFamily="34" charset="0"/>
                <a:ea typeface="Calibri" pitchFamily="34" charset="-122"/>
                <a:cs typeface="Calibri" pitchFamily="34" charset="-120"/>
              </a:rPr>
              <a:t>2. Critical Industry Gaps</a:t>
            </a:r>
            <a:endParaRPr lang="en-US" sz="1500" dirty="0"/>
          </a:p>
        </p:txBody>
      </p:sp>
      <p:sp>
        <p:nvSpPr>
          <p:cNvPr id="11" name="Text 9"/>
          <p:cNvSpPr txBox="1"/>
          <p:nvPr/>
        </p:nvSpPr>
        <p:spPr>
          <a:xfrm>
            <a:off x="4471416" y="1536192"/>
            <a:ext cx="3246120" cy="251460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Gap 1 – No pre-retrieval: </a:t>
            </a:r>
            <a:r>
              <a:rPr lang="en-US" sz="1250" dirty="0">
                <a:solidFill>
                  <a:srgbClr val="334155"/>
                </a:solidFill>
                <a:latin typeface="Calibri" pitchFamily="34" charset="0"/>
                <a:ea typeface="Calibri" pitchFamily="34" charset="-122"/>
                <a:cs typeface="Calibri" pitchFamily="34" charset="-120"/>
              </a:rPr>
              <a:t>1,400ms+ of dead air while the user speaks.</a:t>
            </a:r>
            <a:endParaRPr lang="en-US" sz="1200" dirty="0"/>
          </a:p>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Gap 2 – In-flight blindness: </a:t>
            </a:r>
            <a:r>
              <a:rPr lang="en-US" sz="1250" dirty="0">
                <a:solidFill>
                  <a:srgbClr val="334155"/>
                </a:solidFill>
                <a:latin typeface="Calibri" pitchFamily="34" charset="0"/>
                <a:ea typeface="Calibri" pitchFamily="34" charset="-122"/>
                <a:cs typeface="Calibri" pitchFamily="34" charset="-120"/>
              </a:rPr>
              <a:t>Stale searches can’t be aborted on self-correction.</a:t>
            </a:r>
            <a:endParaRPr lang="en-US" sz="1200" dirty="0"/>
          </a:p>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Gap 3 – Compute waste: </a:t>
            </a:r>
            <a:r>
              <a:rPr lang="en-US" sz="1250" dirty="0">
                <a:solidFill>
                  <a:srgbClr val="334155"/>
                </a:solidFill>
                <a:latin typeface="Calibri" pitchFamily="34" charset="0"/>
                <a:ea typeface="Calibri" pitchFamily="34" charset="-122"/>
                <a:cs typeface="Calibri" pitchFamily="34" charset="-120"/>
              </a:rPr>
              <a:t>Searches run on reformat turns.</a:t>
            </a:r>
            <a:endParaRPr lang="en-US" sz="1200" dirty="0"/>
          </a:p>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Gap 4 – Citation blindness: </a:t>
            </a:r>
            <a:r>
              <a:rPr lang="en-US" sz="1250" dirty="0">
                <a:solidFill>
                  <a:srgbClr val="334155"/>
                </a:solidFill>
                <a:latin typeface="Calibri" pitchFamily="34" charset="0"/>
                <a:ea typeface="Calibri" pitchFamily="34" charset="-122"/>
                <a:cs typeface="Calibri" pitchFamily="34" charset="-120"/>
              </a:rPr>
              <a:t>Document-level references fail audits.</a:t>
            </a:r>
            <a:endParaRPr lang="en-US" sz="1200" dirty="0"/>
          </a:p>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Gap 5 – Context drift: </a:t>
            </a:r>
            <a:r>
              <a:rPr lang="en-US" sz="1250" dirty="0">
                <a:solidFill>
                  <a:srgbClr val="334155"/>
                </a:solidFill>
                <a:latin typeface="Calibri" pitchFamily="34" charset="0"/>
                <a:ea typeface="Calibri" pitchFamily="34" charset="-122"/>
                <a:cs typeface="Calibri" pitchFamily="34" charset="-120"/>
              </a:rPr>
              <a:t>Long sessions lose constraints.</a:t>
            </a:r>
            <a:endParaRPr lang="en-US" sz="1200" dirty="0"/>
          </a:p>
        </p:txBody>
      </p:sp>
      <p:sp>
        <p:nvSpPr>
          <p:cNvPr id="12" name="Shape 10"/>
          <p:cNvSpPr/>
          <p:nvPr/>
        </p:nvSpPr>
        <p:spPr>
          <a:xfrm>
            <a:off x="7918704" y="2423160"/>
            <a:ext cx="182880" cy="274320"/>
          </a:xfrm>
          <a:prstGeom prst="rightArrow">
            <a:avLst/>
          </a:prstGeom>
          <a:solidFill>
            <a:srgbClr val="64748B"/>
          </a:solidFill>
          <a:ln w="6350">
            <a:solidFill>
              <a:srgbClr val="64748B"/>
            </a:solidFill>
            <a:prstDash val="solid"/>
          </a:ln>
        </p:spPr>
      </p:sp>
      <p:sp>
        <p:nvSpPr>
          <p:cNvPr id="13" name="Shape 11"/>
          <p:cNvSpPr/>
          <p:nvPr/>
        </p:nvSpPr>
        <p:spPr>
          <a:xfrm>
            <a:off x="8119872" y="1051560"/>
            <a:ext cx="3611880" cy="3063240"/>
          </a:xfrm>
          <a:prstGeom prst="roundRect">
            <a:avLst>
              <a:gd name="adj" fmla="val 3582"/>
            </a:avLst>
          </a:prstGeom>
          <a:solidFill>
            <a:srgbClr val="F8FAFC"/>
          </a:solidFill>
          <a:ln w="12700">
            <a:solidFill>
              <a:srgbClr val="CBD5E1"/>
            </a:solidFill>
            <a:prstDash val="solid"/>
          </a:ln>
        </p:spPr>
      </p:sp>
      <p:sp>
        <p:nvSpPr>
          <p:cNvPr id="14" name="Text 12"/>
          <p:cNvSpPr txBox="1"/>
          <p:nvPr/>
        </p:nvSpPr>
        <p:spPr>
          <a:xfrm>
            <a:off x="8302752" y="1115568"/>
            <a:ext cx="3246120" cy="320040"/>
          </a:xfrm>
          <a:prstGeom prst="rect">
            <a:avLst/>
          </a:prstGeom>
          <a:noFill/>
          <a:ln/>
        </p:spPr>
        <p:txBody>
          <a:bodyPr wrap="square" lIns="0" tIns="0" rIns="0" bIns="0" rtlCol="0" anchor="ctr"/>
          <a:lstStyle/>
          <a:p>
            <a:pPr marL="0" indent="0">
              <a:buNone/>
            </a:pPr>
            <a:r>
              <a:rPr lang="en-US" sz="1500" b="1" dirty="0">
                <a:solidFill>
                  <a:srgbClr val="047857"/>
                </a:solidFill>
                <a:latin typeface="Calibri" pitchFamily="34" charset="0"/>
                <a:ea typeface="Calibri" pitchFamily="34" charset="-122"/>
                <a:cs typeface="Calibri" pitchFamily="34" charset="-120"/>
              </a:rPr>
              <a:t>3. Ultron’s Breakthrough</a:t>
            </a:r>
            <a:endParaRPr lang="en-US" sz="1500" dirty="0"/>
          </a:p>
        </p:txBody>
      </p:sp>
      <p:sp>
        <p:nvSpPr>
          <p:cNvPr id="15" name="Text 13"/>
          <p:cNvSpPr txBox="1"/>
          <p:nvPr/>
        </p:nvSpPr>
        <p:spPr>
          <a:xfrm>
            <a:off x="8302752" y="1536192"/>
            <a:ext cx="3246120" cy="251460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Sub-50ms TTFT: </a:t>
            </a:r>
            <a:r>
              <a:rPr lang="en-US" sz="1250" dirty="0">
                <a:solidFill>
                  <a:srgbClr val="334155"/>
                </a:solidFill>
                <a:latin typeface="Calibri" pitchFamily="34" charset="0"/>
                <a:ea typeface="Calibri" pitchFamily="34" charset="-122"/>
                <a:cs typeface="Calibri" pitchFamily="34" charset="-120"/>
              </a:rPr>
              <a:t> 16.0ms measured after trigger (demo harness); +1,300ms head start.</a:t>
            </a:r>
            <a:endParaRPr lang="en-US" sz="1200" dirty="0"/>
          </a:p>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Dynamic pivot engine: </a:t>
            </a:r>
            <a:r>
              <a:rPr lang="en-US" sz="1250" dirty="0">
                <a:solidFill>
                  <a:srgbClr val="334155"/>
                </a:solidFill>
                <a:latin typeface="Calibri" pitchFamily="34" charset="0"/>
                <a:ea typeface="Calibri" pitchFamily="34" charset="-122"/>
                <a:cs typeface="Calibri" pitchFamily="34" charset="-120"/>
              </a:rPr>
              <a:t>Stale cache invalidated instantly.</a:t>
            </a:r>
            <a:endParaRPr lang="en-US" sz="1200" dirty="0"/>
          </a:p>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Gate 0 suppression: </a:t>
            </a:r>
            <a:r>
              <a:rPr lang="en-US" sz="1250" dirty="0">
                <a:solidFill>
                  <a:srgbClr val="334155"/>
                </a:solidFill>
                <a:latin typeface="Calibri" pitchFamily="34" charset="0"/>
                <a:ea typeface="Calibri" pitchFamily="34" charset="-122"/>
                <a:cs typeface="Calibri" pitchFamily="34" charset="-120"/>
              </a:rPr>
              <a:t>0 queries on formatting turns.</a:t>
            </a:r>
            <a:endParaRPr lang="en-US" sz="1200" dirty="0"/>
          </a:p>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Granular grounding: </a:t>
            </a:r>
            <a:r>
              <a:rPr lang="en-US" sz="1250" dirty="0">
                <a:solidFill>
                  <a:srgbClr val="334155"/>
                </a:solidFill>
                <a:latin typeface="Calibri" pitchFamily="34" charset="0"/>
                <a:ea typeface="Calibri" pitchFamily="34" charset="-122"/>
                <a:cs typeface="Calibri" pitchFamily="34" charset="-120"/>
              </a:rPr>
              <a:t> Exact clause citations, e.g. [Doc_12 §2].</a:t>
            </a:r>
            <a:endParaRPr lang="en-US" sz="1200" dirty="0"/>
          </a:p>
          <a:p>
            <a:pPr marL="177800" indent="-177800">
              <a:spcAft>
                <a:spcPts val="600"/>
              </a:spcAft>
              <a:buSzPct val="100000"/>
              <a:buChar char="•"/>
            </a:pPr>
            <a:r>
              <a:rPr lang="en-US" sz="1250" b="1" dirty="0">
                <a:solidFill>
                  <a:srgbClr val="1E293B"/>
                </a:solidFill>
                <a:latin typeface="Calibri" pitchFamily="34" charset="0"/>
                <a:ea typeface="Calibri" pitchFamily="34" charset="-122"/>
                <a:cs typeface="Calibri" pitchFamily="34" charset="-120"/>
              </a:rPr>
              <a:t>Session lineage: </a:t>
            </a:r>
            <a:r>
              <a:rPr lang="en-US" sz="1250" dirty="0">
                <a:solidFill>
                  <a:srgbClr val="334155"/>
                </a:solidFill>
                <a:latin typeface="Calibri" pitchFamily="34" charset="0"/>
                <a:ea typeface="Calibri" pitchFamily="34" charset="-122"/>
                <a:cs typeface="Calibri" pitchFamily="34" charset="-120"/>
              </a:rPr>
              <a:t> Constraints tracked across turns (7-turn demo).</a:t>
            </a:r>
            <a:endParaRPr lang="en-US" sz="1200" dirty="0"/>
          </a:p>
        </p:txBody>
      </p:sp>
      <p:sp>
        <p:nvSpPr>
          <p:cNvPr id="16" name="Shape 14"/>
          <p:cNvSpPr/>
          <p:nvPr/>
        </p:nvSpPr>
        <p:spPr>
          <a:xfrm>
            <a:off x="457200" y="4297680"/>
            <a:ext cx="11274552" cy="2057400"/>
          </a:xfrm>
          <a:prstGeom prst="roundRect">
            <a:avLst>
              <a:gd name="adj" fmla="val 5333"/>
            </a:avLst>
          </a:prstGeom>
          <a:solidFill>
            <a:srgbClr val="F8FAFC"/>
          </a:solidFill>
          <a:ln w="12700">
            <a:solidFill>
              <a:srgbClr val="CBD5E1"/>
            </a:solidFill>
            <a:prstDash val="solid"/>
          </a:ln>
        </p:spPr>
      </p:sp>
      <p:sp>
        <p:nvSpPr>
          <p:cNvPr id="17" name="Text 15"/>
          <p:cNvSpPr txBox="1"/>
          <p:nvPr/>
        </p:nvSpPr>
        <p:spPr>
          <a:xfrm>
            <a:off x="640080" y="4370832"/>
            <a:ext cx="731520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Ultron in action: Mid-Stream Pivot Flow</a:t>
            </a:r>
            <a:endParaRPr lang="en-US" sz="1400" dirty="0"/>
          </a:p>
        </p:txBody>
      </p:sp>
      <p:sp>
        <p:nvSpPr>
          <p:cNvPr id="18" name="Shape 16"/>
          <p:cNvSpPr/>
          <p:nvPr/>
        </p:nvSpPr>
        <p:spPr>
          <a:xfrm>
            <a:off x="640080" y="4846320"/>
            <a:ext cx="1889150" cy="640080"/>
          </a:xfrm>
          <a:prstGeom prst="roundRect">
            <a:avLst>
              <a:gd name="adj" fmla="val 11429"/>
            </a:avLst>
          </a:prstGeom>
          <a:solidFill>
            <a:srgbClr val="FFFFFF"/>
          </a:solidFill>
          <a:ln w="12700">
            <a:solidFill>
              <a:srgbClr val="CBD5E1"/>
            </a:solidFill>
            <a:prstDash val="solid"/>
          </a:ln>
        </p:spPr>
      </p:sp>
      <p:sp>
        <p:nvSpPr>
          <p:cNvPr id="19" name="Text 17"/>
          <p:cNvSpPr txBox="1"/>
          <p:nvPr/>
        </p:nvSpPr>
        <p:spPr>
          <a:xfrm>
            <a:off x="640080" y="4846320"/>
            <a:ext cx="1889150" cy="640080"/>
          </a:xfrm>
          <a:prstGeom prst="rect">
            <a:avLst/>
          </a:prstGeom>
          <a:noFill/>
          <a:ln/>
        </p:spPr>
        <p:txBody>
          <a:bodyPr wrap="square" lIns="508" tIns="508" rIns="508" bIns="508"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Token 6–8 reached</a:t>
            </a:r>
            <a:endParaRPr lang="en-US" sz="1200" dirty="0"/>
          </a:p>
        </p:txBody>
      </p:sp>
      <p:sp>
        <p:nvSpPr>
          <p:cNvPr id="20" name="Text 18"/>
          <p:cNvSpPr txBox="1"/>
          <p:nvPr/>
        </p:nvSpPr>
        <p:spPr>
          <a:xfrm>
            <a:off x="640080" y="5577840"/>
            <a:ext cx="1889150" cy="640080"/>
          </a:xfrm>
          <a:prstGeom prst="rect">
            <a:avLst/>
          </a:prstGeom>
          <a:noFill/>
          <a:ln/>
        </p:spPr>
        <p:txBody>
          <a:bodyPr wrap="square" lIns="0" tIns="0" rIns="0" bIns="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Partial utterance: “…in Pune”</a:t>
            </a:r>
            <a:endParaRPr lang="en-US" sz="1100" dirty="0"/>
          </a:p>
        </p:txBody>
      </p:sp>
      <p:sp>
        <p:nvSpPr>
          <p:cNvPr id="21" name="Shape 19"/>
          <p:cNvSpPr/>
          <p:nvPr/>
        </p:nvSpPr>
        <p:spPr>
          <a:xfrm>
            <a:off x="2574950" y="5166360"/>
            <a:ext cx="274320" cy="0"/>
          </a:xfrm>
          <a:prstGeom prst="line">
            <a:avLst/>
          </a:prstGeom>
          <a:noFill/>
          <a:ln w="22225">
            <a:solidFill>
              <a:srgbClr val="64748B"/>
            </a:solidFill>
            <a:prstDash val="solid"/>
            <a:tailEnd type="triangle"/>
          </a:ln>
        </p:spPr>
      </p:sp>
      <p:sp>
        <p:nvSpPr>
          <p:cNvPr id="22" name="Shape 20"/>
          <p:cNvSpPr/>
          <p:nvPr/>
        </p:nvSpPr>
        <p:spPr>
          <a:xfrm>
            <a:off x="2894990" y="4846320"/>
            <a:ext cx="1889150" cy="640080"/>
          </a:xfrm>
          <a:prstGeom prst="roundRect">
            <a:avLst>
              <a:gd name="adj" fmla="val 11429"/>
            </a:avLst>
          </a:prstGeom>
          <a:solidFill>
            <a:srgbClr val="FFFFFF"/>
          </a:solidFill>
          <a:ln w="12700">
            <a:solidFill>
              <a:srgbClr val="CBD5E1"/>
            </a:solidFill>
            <a:prstDash val="solid"/>
          </a:ln>
        </p:spPr>
      </p:sp>
      <p:sp>
        <p:nvSpPr>
          <p:cNvPr id="23" name="Text 21"/>
          <p:cNvSpPr txBox="1"/>
          <p:nvPr/>
        </p:nvSpPr>
        <p:spPr>
          <a:xfrm>
            <a:off x="2894990" y="4846320"/>
            <a:ext cx="1889150" cy="640080"/>
          </a:xfrm>
          <a:prstGeom prst="rect">
            <a:avLst/>
          </a:prstGeom>
          <a:noFill/>
          <a:ln/>
        </p:spPr>
        <p:txBody>
          <a:bodyPr wrap="square" lIns="508" tIns="508" rIns="508" bIns="508"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Speculative search fires</a:t>
            </a:r>
            <a:endParaRPr lang="en-US" sz="1200" dirty="0"/>
          </a:p>
        </p:txBody>
      </p:sp>
      <p:sp>
        <p:nvSpPr>
          <p:cNvPr id="24" name="Text 22"/>
          <p:cNvSpPr txBox="1"/>
          <p:nvPr/>
        </p:nvSpPr>
        <p:spPr>
          <a:xfrm>
            <a:off x="2894990" y="5577840"/>
            <a:ext cx="1889150" cy="640080"/>
          </a:xfrm>
          <a:prstGeom prst="rect">
            <a:avLst/>
          </a:prstGeom>
          <a:noFill/>
          <a:ln/>
        </p:spPr>
        <p:txBody>
          <a:bodyPr wrap="square" lIns="0" tIns="0" rIns="0" bIns="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Pune policy chunks pre-fetched</a:t>
            </a:r>
            <a:endParaRPr lang="en-US" sz="1100" dirty="0"/>
          </a:p>
        </p:txBody>
      </p:sp>
      <p:sp>
        <p:nvSpPr>
          <p:cNvPr id="25" name="Shape 23"/>
          <p:cNvSpPr/>
          <p:nvPr/>
        </p:nvSpPr>
        <p:spPr>
          <a:xfrm>
            <a:off x="4829861" y="5166360"/>
            <a:ext cx="274320" cy="0"/>
          </a:xfrm>
          <a:prstGeom prst="line">
            <a:avLst/>
          </a:prstGeom>
          <a:noFill/>
          <a:ln w="22225">
            <a:solidFill>
              <a:srgbClr val="64748B"/>
            </a:solidFill>
            <a:prstDash val="solid"/>
            <a:tailEnd type="triangle"/>
          </a:ln>
        </p:spPr>
      </p:sp>
      <p:sp>
        <p:nvSpPr>
          <p:cNvPr id="26" name="Shape 24"/>
          <p:cNvSpPr/>
          <p:nvPr/>
        </p:nvSpPr>
        <p:spPr>
          <a:xfrm>
            <a:off x="5149901" y="4846320"/>
            <a:ext cx="1889150" cy="640080"/>
          </a:xfrm>
          <a:prstGeom prst="roundRect">
            <a:avLst>
              <a:gd name="adj" fmla="val 11429"/>
            </a:avLst>
          </a:prstGeom>
          <a:solidFill>
            <a:srgbClr val="FEF9C3"/>
          </a:solidFill>
          <a:ln w="12700">
            <a:solidFill>
              <a:srgbClr val="FDE047"/>
            </a:solidFill>
            <a:prstDash val="solid"/>
          </a:ln>
        </p:spPr>
      </p:sp>
      <p:sp>
        <p:nvSpPr>
          <p:cNvPr id="27" name="Text 25"/>
          <p:cNvSpPr txBox="1"/>
          <p:nvPr/>
        </p:nvSpPr>
        <p:spPr>
          <a:xfrm>
            <a:off x="5149901" y="4846320"/>
            <a:ext cx="1889150" cy="640080"/>
          </a:xfrm>
          <a:prstGeom prst="rect">
            <a:avLst/>
          </a:prstGeom>
          <a:noFill/>
          <a:ln/>
        </p:spPr>
        <p:txBody>
          <a:bodyPr wrap="square" lIns="508" tIns="508" rIns="508" bIns="508"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Pivot keyword detected</a:t>
            </a:r>
            <a:endParaRPr lang="en-US" sz="1200" dirty="0"/>
          </a:p>
        </p:txBody>
      </p:sp>
      <p:sp>
        <p:nvSpPr>
          <p:cNvPr id="28" name="Text 26"/>
          <p:cNvSpPr txBox="1"/>
          <p:nvPr/>
        </p:nvSpPr>
        <p:spPr>
          <a:xfrm>
            <a:off x="5149901" y="5577840"/>
            <a:ext cx="1889150" cy="640080"/>
          </a:xfrm>
          <a:prstGeom prst="rect">
            <a:avLst/>
          </a:prstGeom>
          <a:noFill/>
          <a:ln/>
        </p:spPr>
        <p:txBody>
          <a:bodyPr wrap="square" lIns="0" tIns="0" rIns="0" bIns="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“wait”, “actually”, “make that”</a:t>
            </a:r>
            <a:endParaRPr lang="en-US" sz="1100" dirty="0"/>
          </a:p>
        </p:txBody>
      </p:sp>
      <p:sp>
        <p:nvSpPr>
          <p:cNvPr id="29" name="Shape 27"/>
          <p:cNvSpPr/>
          <p:nvPr/>
        </p:nvSpPr>
        <p:spPr>
          <a:xfrm>
            <a:off x="7084771" y="5166360"/>
            <a:ext cx="274320" cy="0"/>
          </a:xfrm>
          <a:prstGeom prst="line">
            <a:avLst/>
          </a:prstGeom>
          <a:noFill/>
          <a:ln w="22225">
            <a:solidFill>
              <a:srgbClr val="64748B"/>
            </a:solidFill>
            <a:prstDash val="solid"/>
            <a:tailEnd type="triangle"/>
          </a:ln>
        </p:spPr>
      </p:sp>
      <p:sp>
        <p:nvSpPr>
          <p:cNvPr id="30" name="Shape 28"/>
          <p:cNvSpPr/>
          <p:nvPr/>
        </p:nvSpPr>
        <p:spPr>
          <a:xfrm>
            <a:off x="7404811" y="4846320"/>
            <a:ext cx="1889150" cy="640080"/>
          </a:xfrm>
          <a:prstGeom prst="roundRect">
            <a:avLst>
              <a:gd name="adj" fmla="val 11429"/>
            </a:avLst>
          </a:prstGeom>
          <a:solidFill>
            <a:srgbClr val="FEE2E2"/>
          </a:solidFill>
          <a:ln w="12700">
            <a:solidFill>
              <a:srgbClr val="FCA5A5"/>
            </a:solidFill>
            <a:prstDash val="solid"/>
          </a:ln>
        </p:spPr>
      </p:sp>
      <p:sp>
        <p:nvSpPr>
          <p:cNvPr id="31" name="Text 29"/>
          <p:cNvSpPr txBox="1"/>
          <p:nvPr/>
        </p:nvSpPr>
        <p:spPr>
          <a:xfrm>
            <a:off x="7404811" y="4846320"/>
            <a:ext cx="1889150" cy="640080"/>
          </a:xfrm>
          <a:prstGeom prst="rect">
            <a:avLst/>
          </a:prstGeom>
          <a:noFill/>
          <a:ln/>
        </p:spPr>
        <p:txBody>
          <a:bodyPr wrap="square" lIns="508" tIns="508" rIns="508" bIns="508"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Abort stale query</a:t>
            </a:r>
            <a:endParaRPr lang="en-US" sz="1200" dirty="0"/>
          </a:p>
        </p:txBody>
      </p:sp>
      <p:sp>
        <p:nvSpPr>
          <p:cNvPr id="32" name="Text 30"/>
          <p:cNvSpPr txBox="1"/>
          <p:nvPr/>
        </p:nvSpPr>
        <p:spPr>
          <a:xfrm>
            <a:off x="7404811" y="5577840"/>
            <a:ext cx="1889150" cy="640080"/>
          </a:xfrm>
          <a:prstGeom prst="rect">
            <a:avLst/>
          </a:prstGeom>
          <a:noFill/>
          <a:ln/>
        </p:spPr>
        <p:txBody>
          <a:bodyPr wrap="square" lIns="0" tIns="0" rIns="0" bIns="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In-flight Pune search cancelled; cache invalidated</a:t>
            </a:r>
            <a:endParaRPr lang="en-US" sz="1100" dirty="0"/>
          </a:p>
        </p:txBody>
      </p:sp>
      <p:sp>
        <p:nvSpPr>
          <p:cNvPr id="33" name="Shape 31"/>
          <p:cNvSpPr/>
          <p:nvPr/>
        </p:nvSpPr>
        <p:spPr>
          <a:xfrm>
            <a:off x="9339682" y="5166360"/>
            <a:ext cx="274320" cy="0"/>
          </a:xfrm>
          <a:prstGeom prst="line">
            <a:avLst/>
          </a:prstGeom>
          <a:noFill/>
          <a:ln w="22225">
            <a:solidFill>
              <a:srgbClr val="64748B"/>
            </a:solidFill>
            <a:prstDash val="solid"/>
            <a:tailEnd type="triangle"/>
          </a:ln>
        </p:spPr>
      </p:sp>
      <p:sp>
        <p:nvSpPr>
          <p:cNvPr id="34" name="Shape 32"/>
          <p:cNvSpPr/>
          <p:nvPr/>
        </p:nvSpPr>
        <p:spPr>
          <a:xfrm>
            <a:off x="9659722" y="4846320"/>
            <a:ext cx="1889150" cy="640080"/>
          </a:xfrm>
          <a:prstGeom prst="roundRect">
            <a:avLst>
              <a:gd name="adj" fmla="val 11429"/>
            </a:avLst>
          </a:prstGeom>
          <a:solidFill>
            <a:srgbClr val="DCFCE7"/>
          </a:solidFill>
          <a:ln w="12700">
            <a:solidFill>
              <a:srgbClr val="86EFAC"/>
            </a:solidFill>
            <a:prstDash val="solid"/>
          </a:ln>
        </p:spPr>
      </p:sp>
      <p:sp>
        <p:nvSpPr>
          <p:cNvPr id="35" name="Text 33"/>
          <p:cNvSpPr txBox="1"/>
          <p:nvPr/>
        </p:nvSpPr>
        <p:spPr>
          <a:xfrm>
            <a:off x="9659722" y="4846320"/>
            <a:ext cx="1889150" cy="640080"/>
          </a:xfrm>
          <a:prstGeom prst="rect">
            <a:avLst/>
          </a:prstGeom>
          <a:noFill/>
          <a:ln/>
        </p:spPr>
        <p:txBody>
          <a:bodyPr wrap="square" lIns="508" tIns="508" rIns="508" bIns="508"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Re-dispatch</a:t>
            </a:r>
            <a:endParaRPr lang="en-US" sz="1200" dirty="0"/>
          </a:p>
        </p:txBody>
      </p:sp>
      <p:sp>
        <p:nvSpPr>
          <p:cNvPr id="36" name="Text 34"/>
          <p:cNvSpPr txBox="1"/>
          <p:nvPr/>
        </p:nvSpPr>
        <p:spPr>
          <a:xfrm>
            <a:off x="9659722" y="5577840"/>
            <a:ext cx="1889150" cy="640080"/>
          </a:xfrm>
          <a:prstGeom prst="rect">
            <a:avLst/>
          </a:prstGeom>
          <a:noFill/>
          <a:ln/>
        </p:spPr>
        <p:txBody>
          <a:bodyPr wrap="square" lIns="0" tIns="0" rIns="0" bIns="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Mumbai search issued; intent updated (V2)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600" b="1" dirty="0">
                <a:solidFill>
                  <a:srgbClr val="704EA6"/>
                </a:solidFill>
                <a:latin typeface="Calibri" pitchFamily="34" charset="0"/>
                <a:ea typeface="Calibri" pitchFamily="34" charset="-122"/>
                <a:cs typeface="Calibri" pitchFamily="34" charset="-120"/>
              </a:rPr>
              <a:t>Our Solution &amp; Architecture Diagram</a:t>
            </a:r>
            <a:endParaRPr lang="en-US" sz="2600" dirty="0"/>
          </a:p>
        </p:txBody>
      </p:sp>
      <p:sp>
        <p:nvSpPr>
          <p:cNvPr id="3" name="Text 1"/>
          <p:cNvSpPr txBox="1"/>
          <p:nvPr/>
        </p:nvSpPr>
        <p:spPr>
          <a:xfrm>
            <a:off x="457200" y="6492240"/>
            <a:ext cx="9144000" cy="228600"/>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Samsung PRISM GenAI Hackathon 2026–27  |  Team 4 Bottle Codeka  |  Theme 4: Streaming Live RAG</a:t>
            </a:r>
            <a:endParaRPr lang="en-US" sz="900" dirty="0"/>
          </a:p>
        </p:txBody>
      </p:sp>
      <p:sp>
        <p:nvSpPr>
          <p:cNvPr id="4" name="Text 2"/>
          <p:cNvSpPr txBox="1"/>
          <p:nvPr/>
        </p:nvSpPr>
        <p:spPr>
          <a:xfrm>
            <a:off x="11274552" y="6492240"/>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
        <p:nvSpPr>
          <p:cNvPr id="5" name="Text 3"/>
          <p:cNvSpPr txBox="1"/>
          <p:nvPr/>
        </p:nvSpPr>
        <p:spPr>
          <a:xfrm>
            <a:off x="457200" y="960120"/>
            <a:ext cx="731520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Ultron End-to-End Streaming Live RAG Pipeline</a:t>
            </a:r>
            <a:endParaRPr lang="en-US" sz="1400" dirty="0"/>
          </a:p>
        </p:txBody>
      </p:sp>
      <p:pic>
        <p:nvPicPr>
          <p:cNvPr id="6" name="Image 0" descr="arch.png"/>
          <p:cNvPicPr>
            <a:picLocks noChangeAspect="1"/>
          </p:cNvPicPr>
          <p:nvPr/>
        </p:nvPicPr>
        <p:blipFill>
          <a:blip r:embed="rId3"/>
          <a:stretch>
            <a:fillRect/>
          </a:stretch>
        </p:blipFill>
        <p:spPr>
          <a:xfrm>
            <a:off x="457200" y="1371600"/>
            <a:ext cx="7223760" cy="4041648"/>
          </a:xfrm>
          <a:prstGeom prst="rect">
            <a:avLst/>
          </a:prstGeom>
        </p:spPr>
      </p:pic>
      <p:sp>
        <p:nvSpPr>
          <p:cNvPr id="7" name="Shape 4"/>
          <p:cNvSpPr/>
          <p:nvPr/>
        </p:nvSpPr>
        <p:spPr>
          <a:xfrm>
            <a:off x="7909560" y="1371600"/>
            <a:ext cx="3822192" cy="4041648"/>
          </a:xfrm>
          <a:prstGeom prst="roundRect">
            <a:avLst>
              <a:gd name="adj" fmla="val 2871"/>
            </a:avLst>
          </a:prstGeom>
          <a:solidFill>
            <a:srgbClr val="F8FAFC"/>
          </a:solidFill>
          <a:ln w="12700">
            <a:solidFill>
              <a:srgbClr val="CBD5E1"/>
            </a:solidFill>
            <a:prstDash val="solid"/>
          </a:ln>
        </p:spPr>
      </p:sp>
      <p:sp>
        <p:nvSpPr>
          <p:cNvPr id="8" name="Text 5"/>
          <p:cNvSpPr txBox="1"/>
          <p:nvPr/>
        </p:nvSpPr>
        <p:spPr>
          <a:xfrm>
            <a:off x="8092440" y="1444752"/>
            <a:ext cx="347472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Pipeline Components</a:t>
            </a:r>
            <a:endParaRPr lang="en-US" sz="1400" dirty="0"/>
          </a:p>
        </p:txBody>
      </p:sp>
      <p:sp>
        <p:nvSpPr>
          <p:cNvPr id="9" name="Text 6"/>
          <p:cNvSpPr txBox="1"/>
          <p:nvPr/>
        </p:nvSpPr>
        <p:spPr>
          <a:xfrm>
            <a:off x="8092440" y="1828800"/>
            <a:ext cx="3474720" cy="3520440"/>
          </a:xfrm>
          <a:prstGeom prst="rect">
            <a:avLst/>
          </a:prstGeom>
          <a:noFill/>
          <a:ln/>
        </p:spPr>
        <p:txBody>
          <a:bodyPr wrap="square" lIns="0" tIns="0" rIns="0" bIns="0" rtlCol="0" anchor="t"/>
          <a:lstStyle/>
          <a:p>
            <a:pPr marL="177800" indent="-177800">
              <a:spcAft>
                <a:spcPts val="700"/>
              </a:spcAft>
              <a:buSzPct val="100000"/>
              <a:buChar char="•"/>
            </a:pPr>
            <a:r>
              <a:rPr lang="en-US" sz="1300" b="1" dirty="0">
                <a:solidFill>
                  <a:srgbClr val="1E293B"/>
                </a:solidFill>
                <a:latin typeface="Calibri" pitchFamily="34" charset="0"/>
                <a:ea typeface="Calibri" pitchFamily="34" charset="-122"/>
                <a:cs typeface="Calibri" pitchFamily="34" charset="-120"/>
              </a:rPr>
              <a:t>Ingestion: </a:t>
            </a:r>
            <a:r>
              <a:rPr lang="en-US" sz="1300" dirty="0">
                <a:solidFill>
                  <a:srgbClr val="334155"/>
                </a:solidFill>
                <a:latin typeface="Calibri" pitchFamily="34" charset="0"/>
                <a:ea typeface="Calibri" pitchFamily="34" charset="-122"/>
                <a:cs typeface="Calibri" pitchFamily="34" charset="-120"/>
              </a:rPr>
              <a:t>21-section policy parser with canonical citation mapper.</a:t>
            </a:r>
            <a:endParaRPr lang="en-US" sz="1200" dirty="0"/>
          </a:p>
          <a:p>
            <a:pPr marL="177800" indent="-177800">
              <a:spcAft>
                <a:spcPts val="700"/>
              </a:spcAft>
              <a:buSzPct val="100000"/>
              <a:buChar char="•"/>
            </a:pPr>
            <a:r>
              <a:rPr lang="en-US" sz="1300" b="1" dirty="0">
                <a:solidFill>
                  <a:srgbClr val="1E293B"/>
                </a:solidFill>
                <a:latin typeface="Calibri" pitchFamily="34" charset="0"/>
                <a:ea typeface="Calibri" pitchFamily="34" charset="-122"/>
                <a:cs typeface="Calibri" pitchFamily="34" charset="-120"/>
              </a:rPr>
              <a:t>Speculative engine: </a:t>
            </a:r>
            <a:r>
              <a:rPr lang="en-US" sz="1300" dirty="0">
                <a:solidFill>
                  <a:srgbClr val="334155"/>
                </a:solidFill>
                <a:latin typeface="Calibri" pitchFamily="34" charset="0"/>
                <a:ea typeface="Calibri" pitchFamily="34" charset="-122"/>
                <a:cs typeface="Calibri" pitchFamily="34" charset="-120"/>
              </a:rPr>
              <a:t>Trigger at token 6–8 + rolling n-gram pivot controller.</a:t>
            </a:r>
            <a:endParaRPr lang="en-US" sz="1200" dirty="0"/>
          </a:p>
          <a:p>
            <a:pPr marL="177800" indent="-177800">
              <a:spcAft>
                <a:spcPts val="700"/>
              </a:spcAft>
              <a:buSzPct val="100000"/>
              <a:buChar char="•"/>
            </a:pPr>
            <a:r>
              <a:rPr lang="en-US" sz="1300" b="1" dirty="0">
                <a:solidFill>
                  <a:srgbClr val="1E293B"/>
                </a:solidFill>
                <a:latin typeface="Calibri" pitchFamily="34" charset="0"/>
                <a:ea typeface="Calibri" pitchFamily="34" charset="-122"/>
                <a:cs typeface="Calibri" pitchFamily="34" charset="-120"/>
              </a:rPr>
              <a:t>Hybrid search: </a:t>
            </a:r>
            <a:r>
              <a:rPr lang="en-US" sz="1300" dirty="0">
                <a:solidFill>
                  <a:srgbClr val="334155"/>
                </a:solidFill>
                <a:latin typeface="Calibri" pitchFamily="34" charset="0"/>
                <a:ea typeface="Calibri" pitchFamily="34" charset="-122"/>
                <a:cs typeface="Calibri" pitchFamily="34" charset="-120"/>
              </a:rPr>
              <a:t>BM25 + dense vectors + RRF + cross-encoder reranker.</a:t>
            </a:r>
            <a:endParaRPr lang="en-US" sz="1200" dirty="0"/>
          </a:p>
          <a:p>
            <a:pPr marL="177800" indent="-177800">
              <a:spcAft>
                <a:spcPts val="700"/>
              </a:spcAft>
              <a:buSzPct val="100000"/>
              <a:buChar char="•"/>
            </a:pPr>
            <a:r>
              <a:rPr lang="en-US" sz="1300" b="1" dirty="0">
                <a:solidFill>
                  <a:srgbClr val="1E293B"/>
                </a:solidFill>
                <a:latin typeface="Calibri" pitchFamily="34" charset="0"/>
                <a:ea typeface="Calibri" pitchFamily="34" charset="-122"/>
                <a:cs typeface="Calibri" pitchFamily="34" charset="-120"/>
              </a:rPr>
              <a:t>Dual LLM: </a:t>
            </a:r>
            <a:r>
              <a:rPr lang="en-US" sz="1300" dirty="0">
                <a:solidFill>
                  <a:srgbClr val="334155"/>
                </a:solidFill>
                <a:latin typeface="Calibri" pitchFamily="34" charset="0"/>
                <a:ea typeface="Calibri" pitchFamily="34" charset="-122"/>
                <a:cs typeface="Calibri" pitchFamily="34" charset="-120"/>
              </a:rPr>
              <a:t> Groq LPU + NVIDIA NIM, with offline Qwen fallback.</a:t>
            </a:r>
            <a:endParaRPr lang="en-US" sz="1200" dirty="0"/>
          </a:p>
          <a:p>
            <a:pPr marL="177800" indent="-177800">
              <a:spcAft>
                <a:spcPts val="700"/>
              </a:spcAft>
              <a:buSzPct val="100000"/>
              <a:buChar char="•"/>
            </a:pPr>
            <a:r>
              <a:rPr lang="en-US" sz="1300" b="1" dirty="0">
                <a:solidFill>
                  <a:srgbClr val="1E293B"/>
                </a:solidFill>
                <a:latin typeface="Calibri" pitchFamily="34" charset="0"/>
                <a:ea typeface="Calibri" pitchFamily="34" charset="-122"/>
                <a:cs typeface="Calibri" pitchFamily="34" charset="-120"/>
              </a:rPr>
              <a:t>Telemetry HUD: </a:t>
            </a:r>
            <a:r>
              <a:rPr lang="en-US" sz="1300" dirty="0">
                <a:solidFill>
                  <a:srgbClr val="334155"/>
                </a:solidFill>
                <a:latin typeface="Calibri" pitchFamily="34" charset="0"/>
                <a:ea typeface="Calibri" pitchFamily="34" charset="-122"/>
                <a:cs typeface="Calibri" pitchFamily="34" charset="-120"/>
              </a:rPr>
              <a:t>Live cost and latency terminal UI.</a:t>
            </a:r>
            <a:endParaRPr lang="en-US" sz="1200" dirty="0"/>
          </a:p>
        </p:txBody>
      </p:sp>
      <p:sp>
        <p:nvSpPr>
          <p:cNvPr id="10" name="Text 7"/>
          <p:cNvSpPr txBox="1"/>
          <p:nvPr/>
        </p:nvSpPr>
        <p:spPr>
          <a:xfrm>
            <a:off x="457200" y="5559552"/>
            <a:ext cx="1828800" cy="274320"/>
          </a:xfrm>
          <a:prstGeom prst="rect">
            <a:avLst/>
          </a:prstGeom>
          <a:noFill/>
          <a:ln/>
        </p:spPr>
        <p:txBody>
          <a:bodyPr wrap="square" lIns="0" tIns="0" rIns="0" bIns="0" rtlCol="0" anchor="t"/>
          <a:lstStyle/>
          <a:p>
            <a:pPr marL="0" indent="0">
              <a:buNone/>
            </a:pPr>
            <a:r>
              <a:rPr lang="en-US" sz="1100" b="1" dirty="0">
                <a:solidFill>
                  <a:srgbClr val="64748B"/>
                </a:solidFill>
                <a:latin typeface="Calibri" pitchFamily="34" charset="0"/>
                <a:ea typeface="Calibri" pitchFamily="34" charset="-122"/>
                <a:cs typeface="Calibri" pitchFamily="34" charset="-120"/>
              </a:rPr>
              <a:t>Data flow</a:t>
            </a:r>
            <a:endParaRPr lang="en-US" sz="1100" dirty="0"/>
          </a:p>
        </p:txBody>
      </p:sp>
      <p:sp>
        <p:nvSpPr>
          <p:cNvPr id="11" name="Shape 8"/>
          <p:cNvSpPr/>
          <p:nvPr/>
        </p:nvSpPr>
        <p:spPr>
          <a:xfrm>
            <a:off x="457200" y="5852160"/>
            <a:ext cx="2020824" cy="457200"/>
          </a:xfrm>
          <a:prstGeom prst="roundRect">
            <a:avLst>
              <a:gd name="adj" fmla="val 16000"/>
            </a:avLst>
          </a:prstGeom>
          <a:solidFill>
            <a:srgbClr val="FFFFFF"/>
          </a:solidFill>
          <a:ln w="12700">
            <a:solidFill>
              <a:srgbClr val="CBD5E1"/>
            </a:solidFill>
            <a:prstDash val="solid"/>
          </a:ln>
        </p:spPr>
      </p:sp>
      <p:sp>
        <p:nvSpPr>
          <p:cNvPr id="12" name="Text 9"/>
          <p:cNvSpPr txBox="1"/>
          <p:nvPr/>
        </p:nvSpPr>
        <p:spPr>
          <a:xfrm>
            <a:off x="457200" y="5852160"/>
            <a:ext cx="2020824" cy="457200"/>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Live speech</a:t>
            </a:r>
            <a:endParaRPr lang="en-US" sz="1100" dirty="0"/>
          </a:p>
        </p:txBody>
      </p:sp>
      <p:sp>
        <p:nvSpPr>
          <p:cNvPr id="13" name="Shape 10"/>
          <p:cNvSpPr/>
          <p:nvPr/>
        </p:nvSpPr>
        <p:spPr>
          <a:xfrm>
            <a:off x="2514600" y="6080760"/>
            <a:ext cx="219456" cy="0"/>
          </a:xfrm>
          <a:prstGeom prst="line">
            <a:avLst/>
          </a:prstGeom>
          <a:noFill/>
          <a:ln w="22225">
            <a:solidFill>
              <a:srgbClr val="64748B"/>
            </a:solidFill>
            <a:prstDash val="solid"/>
            <a:tailEnd type="triangle"/>
          </a:ln>
        </p:spPr>
      </p:sp>
      <p:sp>
        <p:nvSpPr>
          <p:cNvPr id="14" name="Shape 11"/>
          <p:cNvSpPr/>
          <p:nvPr/>
        </p:nvSpPr>
        <p:spPr>
          <a:xfrm>
            <a:off x="2770632" y="5852160"/>
            <a:ext cx="2020824" cy="457200"/>
          </a:xfrm>
          <a:prstGeom prst="roundRect">
            <a:avLst>
              <a:gd name="adj" fmla="val 16000"/>
            </a:avLst>
          </a:prstGeom>
          <a:solidFill>
            <a:srgbClr val="FFFFFF"/>
          </a:solidFill>
          <a:ln w="12700">
            <a:solidFill>
              <a:srgbClr val="CBD5E1"/>
            </a:solidFill>
            <a:prstDash val="solid"/>
          </a:ln>
        </p:spPr>
      </p:sp>
      <p:sp>
        <p:nvSpPr>
          <p:cNvPr id="15" name="Text 12"/>
          <p:cNvSpPr txBox="1"/>
          <p:nvPr/>
        </p:nvSpPr>
        <p:spPr>
          <a:xfrm>
            <a:off x="2770632" y="5852160"/>
            <a:ext cx="2020824" cy="457200"/>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Speculative trigger</a:t>
            </a:r>
            <a:endParaRPr lang="en-US" sz="1100" dirty="0"/>
          </a:p>
        </p:txBody>
      </p:sp>
      <p:sp>
        <p:nvSpPr>
          <p:cNvPr id="16" name="Shape 13"/>
          <p:cNvSpPr/>
          <p:nvPr/>
        </p:nvSpPr>
        <p:spPr>
          <a:xfrm>
            <a:off x="4828032" y="6080760"/>
            <a:ext cx="219456" cy="0"/>
          </a:xfrm>
          <a:prstGeom prst="line">
            <a:avLst/>
          </a:prstGeom>
          <a:noFill/>
          <a:ln w="22225">
            <a:solidFill>
              <a:srgbClr val="64748B"/>
            </a:solidFill>
            <a:prstDash val="solid"/>
            <a:tailEnd type="triangle"/>
          </a:ln>
        </p:spPr>
      </p:sp>
      <p:sp>
        <p:nvSpPr>
          <p:cNvPr id="17" name="Shape 14"/>
          <p:cNvSpPr/>
          <p:nvPr/>
        </p:nvSpPr>
        <p:spPr>
          <a:xfrm>
            <a:off x="5084064" y="5852160"/>
            <a:ext cx="2020824" cy="457200"/>
          </a:xfrm>
          <a:prstGeom prst="roundRect">
            <a:avLst>
              <a:gd name="adj" fmla="val 16000"/>
            </a:avLst>
          </a:prstGeom>
          <a:solidFill>
            <a:srgbClr val="FFFFFF"/>
          </a:solidFill>
          <a:ln w="12700">
            <a:solidFill>
              <a:srgbClr val="CBD5E1"/>
            </a:solidFill>
            <a:prstDash val="solid"/>
          </a:ln>
        </p:spPr>
      </p:sp>
      <p:sp>
        <p:nvSpPr>
          <p:cNvPr id="18" name="Text 15"/>
          <p:cNvSpPr txBox="1"/>
          <p:nvPr/>
        </p:nvSpPr>
        <p:spPr>
          <a:xfrm>
            <a:off x="5084064" y="5852160"/>
            <a:ext cx="2020824" cy="457200"/>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Hybrid search</a:t>
            </a:r>
            <a:endParaRPr lang="en-US" sz="1100" dirty="0"/>
          </a:p>
        </p:txBody>
      </p:sp>
      <p:sp>
        <p:nvSpPr>
          <p:cNvPr id="19" name="Shape 16"/>
          <p:cNvSpPr/>
          <p:nvPr/>
        </p:nvSpPr>
        <p:spPr>
          <a:xfrm>
            <a:off x="7141464" y="6080760"/>
            <a:ext cx="219456" cy="0"/>
          </a:xfrm>
          <a:prstGeom prst="line">
            <a:avLst/>
          </a:prstGeom>
          <a:noFill/>
          <a:ln w="22225">
            <a:solidFill>
              <a:srgbClr val="64748B"/>
            </a:solidFill>
            <a:prstDash val="solid"/>
            <a:tailEnd type="triangle"/>
          </a:ln>
        </p:spPr>
      </p:sp>
      <p:sp>
        <p:nvSpPr>
          <p:cNvPr id="20" name="Shape 17"/>
          <p:cNvSpPr/>
          <p:nvPr/>
        </p:nvSpPr>
        <p:spPr>
          <a:xfrm>
            <a:off x="7397496" y="5852160"/>
            <a:ext cx="2020824" cy="457200"/>
          </a:xfrm>
          <a:prstGeom prst="roundRect">
            <a:avLst>
              <a:gd name="adj" fmla="val 16000"/>
            </a:avLst>
          </a:prstGeom>
          <a:solidFill>
            <a:srgbClr val="FFFFFF"/>
          </a:solidFill>
          <a:ln w="12700">
            <a:solidFill>
              <a:srgbClr val="CBD5E1"/>
            </a:solidFill>
            <a:prstDash val="solid"/>
          </a:ln>
        </p:spPr>
      </p:sp>
      <p:sp>
        <p:nvSpPr>
          <p:cNvPr id="21" name="Text 18"/>
          <p:cNvSpPr txBox="1"/>
          <p:nvPr/>
        </p:nvSpPr>
        <p:spPr>
          <a:xfrm>
            <a:off x="7397496" y="5852160"/>
            <a:ext cx="2020824" cy="457200"/>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Dual-LLM stream</a:t>
            </a:r>
            <a:endParaRPr lang="en-US" sz="1100" dirty="0"/>
          </a:p>
        </p:txBody>
      </p:sp>
      <p:sp>
        <p:nvSpPr>
          <p:cNvPr id="22" name="Shape 19"/>
          <p:cNvSpPr/>
          <p:nvPr/>
        </p:nvSpPr>
        <p:spPr>
          <a:xfrm>
            <a:off x="9454896" y="6080760"/>
            <a:ext cx="219456" cy="0"/>
          </a:xfrm>
          <a:prstGeom prst="line">
            <a:avLst/>
          </a:prstGeom>
          <a:noFill/>
          <a:ln w="22225">
            <a:solidFill>
              <a:srgbClr val="64748B"/>
            </a:solidFill>
            <a:prstDash val="solid"/>
            <a:tailEnd type="triangle"/>
          </a:ln>
        </p:spPr>
      </p:sp>
      <p:sp>
        <p:nvSpPr>
          <p:cNvPr id="23" name="Shape 20"/>
          <p:cNvSpPr/>
          <p:nvPr/>
        </p:nvSpPr>
        <p:spPr>
          <a:xfrm>
            <a:off x="9710928" y="5852160"/>
            <a:ext cx="2020824" cy="457200"/>
          </a:xfrm>
          <a:prstGeom prst="roundRect">
            <a:avLst>
              <a:gd name="adj" fmla="val 16000"/>
            </a:avLst>
          </a:prstGeom>
          <a:solidFill>
            <a:srgbClr val="FFFFFF"/>
          </a:solidFill>
          <a:ln w="12700">
            <a:solidFill>
              <a:srgbClr val="CBD5E1"/>
            </a:solidFill>
            <a:prstDash val="solid"/>
          </a:ln>
        </p:spPr>
      </p:sp>
      <p:sp>
        <p:nvSpPr>
          <p:cNvPr id="24" name="Text 21"/>
          <p:cNvSpPr txBox="1"/>
          <p:nvPr/>
        </p:nvSpPr>
        <p:spPr>
          <a:xfrm>
            <a:off x="9710928" y="5852160"/>
            <a:ext cx="2020824" cy="457200"/>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Cited answer + HUD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600" b="1" dirty="0">
                <a:solidFill>
                  <a:srgbClr val="704EA6"/>
                </a:solidFill>
                <a:latin typeface="Calibri" pitchFamily="34" charset="0"/>
                <a:ea typeface="Calibri" pitchFamily="34" charset="-122"/>
                <a:cs typeface="Calibri" pitchFamily="34" charset="-120"/>
              </a:rPr>
              <a:t>Demo &amp; Product Walkthrough (Gates G1 – G9 Verified)</a:t>
            </a:r>
            <a:endParaRPr lang="en-US" sz="2600" dirty="0"/>
          </a:p>
        </p:txBody>
      </p:sp>
      <p:sp>
        <p:nvSpPr>
          <p:cNvPr id="3" name="Text 1"/>
          <p:cNvSpPr txBox="1"/>
          <p:nvPr/>
        </p:nvSpPr>
        <p:spPr>
          <a:xfrm>
            <a:off x="457200" y="6492240"/>
            <a:ext cx="9144000" cy="228600"/>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Samsung PRISM GenAI Hackathon 2026–27  |  Team 4 Bottle Codeka  |  Theme 4: Streaming Live RAG</a:t>
            </a:r>
            <a:endParaRPr lang="en-US" sz="900" dirty="0"/>
          </a:p>
        </p:txBody>
      </p:sp>
      <p:sp>
        <p:nvSpPr>
          <p:cNvPr id="4" name="Text 2"/>
          <p:cNvSpPr txBox="1"/>
          <p:nvPr/>
        </p:nvSpPr>
        <p:spPr>
          <a:xfrm>
            <a:off x="11274552" y="6492240"/>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pic>
        <p:nvPicPr>
          <p:cNvPr id="5" name="Image 0" descr="gates.png"/>
          <p:cNvPicPr>
            <a:picLocks noChangeAspect="1"/>
          </p:cNvPicPr>
          <p:nvPr/>
        </p:nvPicPr>
        <p:blipFill>
          <a:blip r:embed="rId3"/>
          <a:stretch>
            <a:fillRect/>
          </a:stretch>
        </p:blipFill>
        <p:spPr>
          <a:xfrm>
            <a:off x="457200" y="1051560"/>
            <a:ext cx="5394960" cy="2057400"/>
          </a:xfrm>
          <a:prstGeom prst="rect">
            <a:avLst/>
          </a:prstGeom>
        </p:spPr>
      </p:pic>
      <p:pic>
        <p:nvPicPr>
          <p:cNvPr id="6" name="Image 1" descr="hud.png"/>
          <p:cNvPicPr>
            <a:picLocks noChangeAspect="1"/>
          </p:cNvPicPr>
          <p:nvPr/>
        </p:nvPicPr>
        <p:blipFill>
          <a:blip r:embed="rId4"/>
          <a:stretch>
            <a:fillRect/>
          </a:stretch>
        </p:blipFill>
        <p:spPr>
          <a:xfrm>
            <a:off x="457200" y="3246120"/>
            <a:ext cx="4937760" cy="2551176"/>
          </a:xfrm>
          <a:prstGeom prst="rect">
            <a:avLst/>
          </a:prstGeom>
        </p:spPr>
      </p:pic>
      <p:sp>
        <p:nvSpPr>
          <p:cNvPr id="7" name="Shape 3"/>
          <p:cNvSpPr/>
          <p:nvPr/>
        </p:nvSpPr>
        <p:spPr>
          <a:xfrm>
            <a:off x="6126480" y="1051560"/>
            <a:ext cx="5605272" cy="3520440"/>
          </a:xfrm>
          <a:prstGeom prst="roundRect">
            <a:avLst>
              <a:gd name="adj" fmla="val 3117"/>
            </a:avLst>
          </a:prstGeom>
          <a:solidFill>
            <a:srgbClr val="F8FAFC"/>
          </a:solidFill>
          <a:ln w="12700">
            <a:solidFill>
              <a:srgbClr val="CBD5E1"/>
            </a:solidFill>
            <a:prstDash val="solid"/>
          </a:ln>
        </p:spPr>
      </p:sp>
      <p:sp>
        <p:nvSpPr>
          <p:cNvPr id="8" name="Text 4"/>
          <p:cNvSpPr txBox="1"/>
          <p:nvPr/>
        </p:nvSpPr>
        <p:spPr>
          <a:xfrm>
            <a:off x="6309360" y="1115568"/>
            <a:ext cx="521208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9-Scene Showcase (simulated ASR chunks)</a:t>
            </a:r>
            <a:endParaRPr lang="en-US" sz="1400" dirty="0"/>
          </a:p>
        </p:txBody>
      </p:sp>
      <p:sp>
        <p:nvSpPr>
          <p:cNvPr id="9" name="Text 5"/>
          <p:cNvSpPr txBox="1"/>
          <p:nvPr/>
        </p:nvSpPr>
        <p:spPr>
          <a:xfrm>
            <a:off x="6309360" y="1481328"/>
            <a:ext cx="5257800" cy="3017520"/>
          </a:xfrm>
          <a:prstGeom prst="rect">
            <a:avLst/>
          </a:prstGeom>
          <a:noFill/>
          <a:ln/>
        </p:spPr>
        <p:txBody>
          <a:bodyPr wrap="square" lIns="0" tIns="0" rIns="0" bIns="0" rtlCol="0" anchor="t"/>
          <a:lstStyle/>
          <a:p>
            <a:pPr marL="177800" indent="-177800">
              <a:spcAft>
                <a:spcPts val="350"/>
              </a:spcAft>
              <a:buSzPct val="100000"/>
              <a:buChar char="•"/>
            </a:pPr>
            <a:r>
              <a:rPr lang="en-US" sz="1200" b="1" dirty="0">
                <a:solidFill>
                  <a:srgbClr val="1E293B"/>
                </a:solidFill>
                <a:latin typeface="Calibri" pitchFamily="34" charset="0"/>
                <a:ea typeface="Calibri" pitchFamily="34" charset="-122"/>
                <a:cs typeface="Calibri" pitchFamily="34" charset="-120"/>
              </a:rPr>
              <a:t>1 Test harness: </a:t>
            </a:r>
            <a:r>
              <a:rPr lang="en-US" sz="1200" dirty="0">
                <a:solidFill>
                  <a:srgbClr val="334155"/>
                </a:solidFill>
                <a:latin typeface="Calibri" pitchFamily="34" charset="0"/>
                <a:ea typeface="Calibri" pitchFamily="34" charset="-122"/>
                <a:cs typeface="Calibri" pitchFamily="34" charset="-120"/>
              </a:rPr>
              <a:t>G1–G9 automated evaluation criteria.</a:t>
            </a:r>
            <a:endParaRPr lang="en-US" sz="1200" dirty="0"/>
          </a:p>
          <a:p>
            <a:pPr marL="177800" indent="-177800">
              <a:spcAft>
                <a:spcPts val="350"/>
              </a:spcAft>
              <a:buSzPct val="100000"/>
              <a:buChar char="•"/>
            </a:pPr>
            <a:r>
              <a:rPr lang="en-US" sz="1200" b="1" dirty="0">
                <a:solidFill>
                  <a:srgbClr val="1E293B"/>
                </a:solidFill>
                <a:latin typeface="Calibri" pitchFamily="34" charset="0"/>
                <a:ea typeface="Calibri" pitchFamily="34" charset="-122"/>
                <a:cs typeface="Calibri" pitchFamily="34" charset="-120"/>
              </a:rPr>
              <a:t>2 Early trigger: </a:t>
            </a:r>
            <a:r>
              <a:rPr lang="en-US" sz="1200" dirty="0">
                <a:solidFill>
                  <a:srgbClr val="334155"/>
                </a:solidFill>
                <a:latin typeface="Calibri" pitchFamily="34" charset="0"/>
                <a:ea typeface="Calibri" pitchFamily="34" charset="-122"/>
                <a:cs typeface="Calibri" pitchFamily="34" charset="-120"/>
              </a:rPr>
              <a:t> Token 7: +1,300ms gain, 16ms TTFT (harness).</a:t>
            </a:r>
            <a:endParaRPr lang="en-US" sz="1200" dirty="0"/>
          </a:p>
          <a:p>
            <a:pPr marL="177800" indent="-177800">
              <a:spcAft>
                <a:spcPts val="350"/>
              </a:spcAft>
              <a:buSzPct val="100000"/>
              <a:buChar char="•"/>
            </a:pPr>
            <a:r>
              <a:rPr lang="en-US" sz="1200" b="1" dirty="0">
                <a:solidFill>
                  <a:srgbClr val="1E293B"/>
                </a:solidFill>
                <a:latin typeface="Calibri" pitchFamily="34" charset="0"/>
                <a:ea typeface="Calibri" pitchFamily="34" charset="-122"/>
                <a:cs typeface="Calibri" pitchFamily="34" charset="-120"/>
              </a:rPr>
              <a:t>3 Compound intent: </a:t>
            </a:r>
            <a:r>
              <a:rPr lang="en-US" sz="1200" dirty="0">
                <a:solidFill>
                  <a:srgbClr val="334155"/>
                </a:solidFill>
                <a:latin typeface="Calibri" pitchFamily="34" charset="0"/>
                <a:ea typeface="Calibri" pitchFamily="34" charset="-122"/>
                <a:cs typeface="Calibri" pitchFamily="34" charset="-120"/>
              </a:rPr>
              <a:t>3 parallel retrievals across policy sections.</a:t>
            </a:r>
            <a:endParaRPr lang="en-US" sz="1200" dirty="0"/>
          </a:p>
          <a:p>
            <a:pPr marL="177800" indent="-177800">
              <a:spcAft>
                <a:spcPts val="350"/>
              </a:spcAft>
              <a:buSzPct val="100000"/>
              <a:buChar char="•"/>
            </a:pPr>
            <a:r>
              <a:rPr lang="en-US" sz="1200" b="1" dirty="0">
                <a:solidFill>
                  <a:srgbClr val="1E293B"/>
                </a:solidFill>
                <a:latin typeface="Calibri" pitchFamily="34" charset="0"/>
                <a:ea typeface="Calibri" pitchFamily="34" charset="-122"/>
                <a:cs typeface="Calibri" pitchFamily="34" charset="-120"/>
              </a:rPr>
              <a:t>4 Context continuity: </a:t>
            </a:r>
            <a:r>
              <a:rPr lang="en-US" sz="1200" dirty="0">
                <a:solidFill>
                  <a:srgbClr val="334155"/>
                </a:solidFill>
                <a:latin typeface="Calibri" pitchFamily="34" charset="0"/>
                <a:ea typeface="Calibri" pitchFamily="34" charset="-122"/>
                <a:cs typeface="Calibri" pitchFamily="34" charset="-120"/>
              </a:rPr>
              <a:t>Resolves “there” and “for 50 people”.</a:t>
            </a:r>
            <a:endParaRPr lang="en-US" sz="1200" dirty="0"/>
          </a:p>
          <a:p>
            <a:pPr marL="177800" indent="-177800">
              <a:spcAft>
                <a:spcPts val="350"/>
              </a:spcAft>
              <a:buSzPct val="100000"/>
              <a:buChar char="•"/>
            </a:pPr>
            <a:r>
              <a:rPr lang="en-US" sz="1200" b="1" dirty="0">
                <a:solidFill>
                  <a:srgbClr val="1E293B"/>
                </a:solidFill>
                <a:latin typeface="Calibri" pitchFamily="34" charset="0"/>
                <a:ea typeface="Calibri" pitchFamily="34" charset="-122"/>
                <a:cs typeface="Calibri" pitchFamily="34" charset="-120"/>
              </a:rPr>
              <a:t>5 Intra-stream pivot: </a:t>
            </a:r>
            <a:r>
              <a:rPr lang="en-US" sz="1200" dirty="0">
                <a:solidFill>
                  <a:srgbClr val="334155"/>
                </a:solidFill>
                <a:latin typeface="Calibri" pitchFamily="34" charset="0"/>
                <a:ea typeface="Calibri" pitchFamily="34" charset="-122"/>
                <a:cs typeface="Calibri" pitchFamily="34" charset="-120"/>
              </a:rPr>
              <a:t>“Pune… wait, Mumbai” → cache invalidated.</a:t>
            </a:r>
            <a:endParaRPr lang="en-US" sz="1200" dirty="0"/>
          </a:p>
          <a:p>
            <a:pPr marL="177800" indent="-177800">
              <a:spcAft>
                <a:spcPts val="350"/>
              </a:spcAft>
              <a:buSzPct val="100000"/>
              <a:buChar char="•"/>
            </a:pPr>
            <a:r>
              <a:rPr lang="en-US" sz="1200" b="1" dirty="0">
                <a:solidFill>
                  <a:srgbClr val="1E293B"/>
                </a:solidFill>
                <a:latin typeface="Calibri" pitchFamily="34" charset="0"/>
                <a:ea typeface="Calibri" pitchFamily="34" charset="-122"/>
                <a:cs typeface="Calibri" pitchFamily="34" charset="-120"/>
              </a:rPr>
              <a:t>6 Session refinement: </a:t>
            </a:r>
            <a:r>
              <a:rPr lang="en-US" sz="1200" dirty="0">
                <a:solidFill>
                  <a:srgbClr val="334155"/>
                </a:solidFill>
                <a:latin typeface="Calibri" pitchFamily="34" charset="0"/>
                <a:ea typeface="Calibri" pitchFamily="34" charset="-122"/>
                <a:cs typeface="Calibri" pitchFamily="34" charset="-120"/>
              </a:rPr>
              <a:t>Domestic baseline + international delta → V2.</a:t>
            </a:r>
            <a:endParaRPr lang="en-US" sz="1200" dirty="0"/>
          </a:p>
          <a:p>
            <a:pPr marL="177800" indent="-177800">
              <a:spcAft>
                <a:spcPts val="350"/>
              </a:spcAft>
              <a:buSzPct val="100000"/>
              <a:buChar char="•"/>
            </a:pPr>
            <a:r>
              <a:rPr lang="en-US" sz="1200" b="1" dirty="0">
                <a:solidFill>
                  <a:srgbClr val="1E293B"/>
                </a:solidFill>
                <a:latin typeface="Calibri" pitchFamily="34" charset="0"/>
                <a:ea typeface="Calibri" pitchFamily="34" charset="-122"/>
                <a:cs typeface="Calibri" pitchFamily="34" charset="-120"/>
              </a:rPr>
              <a:t>7 Gate 0 suppression: </a:t>
            </a:r>
            <a:r>
              <a:rPr lang="en-US" sz="1200" dirty="0">
                <a:solidFill>
                  <a:srgbClr val="334155"/>
                </a:solidFill>
                <a:latin typeface="Calibri" pitchFamily="34" charset="0"/>
                <a:ea typeface="Calibri" pitchFamily="34" charset="-122"/>
                <a:cs typeface="Calibri" pitchFamily="34" charset="-120"/>
              </a:rPr>
              <a:t>“Format into 2 bullets” → 0 vector queries.</a:t>
            </a:r>
            <a:endParaRPr lang="en-US" sz="1200" dirty="0"/>
          </a:p>
          <a:p>
            <a:pPr marL="177800" indent="-177800">
              <a:spcAft>
                <a:spcPts val="350"/>
              </a:spcAft>
              <a:buSzPct val="100000"/>
              <a:buChar char="•"/>
            </a:pPr>
            <a:r>
              <a:rPr lang="en-US" sz="1200" b="1" dirty="0">
                <a:solidFill>
                  <a:srgbClr val="1E293B"/>
                </a:solidFill>
                <a:latin typeface="Calibri" pitchFamily="34" charset="0"/>
                <a:ea typeface="Calibri" pitchFamily="34" charset="-122"/>
                <a:cs typeface="Calibri" pitchFamily="34" charset="-120"/>
              </a:rPr>
              <a:t>8 Negative control: </a:t>
            </a:r>
            <a:r>
              <a:rPr lang="en-US" sz="1200" dirty="0">
                <a:solidFill>
                  <a:srgbClr val="334155"/>
                </a:solidFill>
                <a:latin typeface="Calibri" pitchFamily="34" charset="0"/>
                <a:ea typeface="Calibri" pitchFamily="34" charset="-122"/>
                <a:cs typeface="Calibri" pitchFamily="34" charset="-120"/>
              </a:rPr>
              <a:t> Out-of-corpus query → no policy match; uncertainty flag pending fix.</a:t>
            </a:r>
            <a:endParaRPr lang="en-US" sz="1200" dirty="0"/>
          </a:p>
          <a:p>
            <a:pPr marL="177800" indent="-177800">
              <a:spcAft>
                <a:spcPts val="350"/>
              </a:spcAft>
              <a:buSzPct val="100000"/>
              <a:buChar char="•"/>
            </a:pPr>
            <a:r>
              <a:rPr lang="en-US" sz="1200" b="1" dirty="0">
                <a:solidFill>
                  <a:srgbClr val="1E293B"/>
                </a:solidFill>
                <a:latin typeface="Calibri" pitchFamily="34" charset="0"/>
                <a:ea typeface="Calibri" pitchFamily="34" charset="-122"/>
                <a:cs typeface="Calibri" pitchFamily="34" charset="-120"/>
              </a:rPr>
              <a:t>9 Telemetry HUD: </a:t>
            </a:r>
            <a:r>
              <a:rPr lang="en-US" sz="1200" dirty="0">
                <a:solidFill>
                  <a:srgbClr val="334155"/>
                </a:solidFill>
                <a:latin typeface="Calibri" pitchFamily="34" charset="0"/>
                <a:ea typeface="Calibri" pitchFamily="34" charset="-122"/>
                <a:cs typeface="Calibri" pitchFamily="34" charset="-120"/>
              </a:rPr>
              <a:t>Live TTFT, latency, token budget, citations.</a:t>
            </a:r>
            <a:endParaRPr lang="en-US" sz="1200" dirty="0"/>
          </a:p>
        </p:txBody>
      </p:sp>
      <p:sp>
        <p:nvSpPr>
          <p:cNvPr id="10" name="Shape 6"/>
          <p:cNvSpPr/>
          <p:nvPr/>
        </p:nvSpPr>
        <p:spPr>
          <a:xfrm>
            <a:off x="6126480" y="4709160"/>
            <a:ext cx="5605272" cy="1097280"/>
          </a:xfrm>
          <a:prstGeom prst="roundRect">
            <a:avLst>
              <a:gd name="adj" fmla="val 10000"/>
            </a:avLst>
          </a:prstGeom>
          <a:solidFill>
            <a:srgbClr val="EEF2FF"/>
          </a:solidFill>
          <a:ln w="12700">
            <a:solidFill>
              <a:srgbClr val="C7D2FE"/>
            </a:solidFill>
            <a:prstDash val="solid"/>
          </a:ln>
        </p:spPr>
      </p:sp>
      <p:sp>
        <p:nvSpPr>
          <p:cNvPr id="11" name="Text 7"/>
          <p:cNvSpPr txBox="1"/>
          <p:nvPr/>
        </p:nvSpPr>
        <p:spPr>
          <a:xfrm>
            <a:off x="6309360" y="4754880"/>
            <a:ext cx="2743200" cy="320040"/>
          </a:xfrm>
          <a:prstGeom prst="rect">
            <a:avLst/>
          </a:prstGeom>
          <a:noFill/>
          <a:ln/>
        </p:spPr>
        <p:txBody>
          <a:bodyPr wrap="square" lIns="0" tIns="0" rIns="0" bIns="0" rtlCol="0" anchor="ctr"/>
          <a:lstStyle/>
          <a:p>
            <a:pPr marL="0" indent="0">
              <a:buNone/>
            </a:pPr>
            <a:r>
              <a:rPr lang="en-US" sz="1300" b="1" dirty="0">
                <a:solidFill>
                  <a:srgbClr val="704EA6"/>
                </a:solidFill>
                <a:latin typeface="Calibri" pitchFamily="34" charset="0"/>
                <a:ea typeface="Calibri" pitchFamily="34" charset="-122"/>
                <a:cs typeface="Calibri" pitchFamily="34" charset="-120"/>
              </a:rPr>
              <a:t>Try it live</a:t>
            </a:r>
            <a:endParaRPr lang="en-US" sz="1300" dirty="0"/>
          </a:p>
        </p:txBody>
      </p:sp>
      <p:sp>
        <p:nvSpPr>
          <p:cNvPr id="12" name="Text 8"/>
          <p:cNvSpPr txBox="1"/>
          <p:nvPr/>
        </p:nvSpPr>
        <p:spPr>
          <a:xfrm>
            <a:off x="6309360" y="5074920"/>
            <a:ext cx="5257800" cy="274320"/>
          </a:xfrm>
          <a:prstGeom prst="rect">
            <a:avLst/>
          </a:prstGeom>
          <a:noFill/>
          <a:ln/>
        </p:spPr>
        <p:txBody>
          <a:bodyPr wrap="square" lIns="0" tIns="0" rIns="0" bIns="0" rtlCol="0" anchor="t"/>
          <a:lstStyle/>
          <a:p>
            <a:pPr marL="0" indent="0">
              <a:buNone/>
            </a:pPr>
            <a:r>
              <a:rPr lang="en-US" sz="1300" b="1" dirty="0">
                <a:solidFill>
                  <a:srgbClr val="704EA6"/>
                </a:solidFill>
                <a:latin typeface="Calibri" pitchFamily="34" charset="0"/>
                <a:ea typeface="Calibri" pitchFamily="34" charset="-122"/>
                <a:cs typeface="Calibri" pitchFamily="34" charset="-120"/>
              </a:rPr>
              <a:t>https://ultron.abhinavkumarsingh.tech/</a:t>
            </a:r>
            <a:endParaRPr lang="en-US" sz="1300" dirty="0"/>
          </a:p>
        </p:txBody>
      </p:sp>
      <p:sp>
        <p:nvSpPr>
          <p:cNvPr id="13" name="Text 9"/>
          <p:cNvSpPr txBox="1"/>
          <p:nvPr/>
        </p:nvSpPr>
        <p:spPr>
          <a:xfrm>
            <a:off x="6309360" y="5394960"/>
            <a:ext cx="5257800" cy="274320"/>
          </a:xfrm>
          <a:prstGeom prst="rect">
            <a:avLst/>
          </a:prstGeom>
          <a:noFill/>
          <a:ln/>
        </p:spPr>
        <p:txBody>
          <a:bodyPr wrap="square" lIns="0" tIns="0" rIns="0" bIns="0" rtlCol="0" anchor="t"/>
          <a:lstStyle/>
          <a:p>
            <a:pPr marL="0" indent="0">
              <a:buNone/>
            </a:pPr>
            <a:r>
              <a:rPr lang="en-US" sz="1050" dirty="0">
                <a:solidFill>
                  <a:srgbClr val="1E293B"/>
                </a:solidFill>
                <a:latin typeface="Consolas" pitchFamily="34" charset="0"/>
                <a:ea typeface="Consolas" pitchFamily="34" charset="-122"/>
                <a:cs typeface="Consolas" pitchFamily="34" charset="-120"/>
              </a:rPr>
              <a:t>curl -fsSL https://ultron.abhinavkumarsingh.tech/install | bash</a:t>
            </a:r>
            <a:endParaRPr lang="en-US" sz="1050" dirty="0"/>
          </a:p>
        </p:txBody>
      </p:sp>
      <p:sp>
        <p:nvSpPr>
          <p:cNvPr id="14" name="Shape 10"/>
          <p:cNvSpPr/>
          <p:nvPr/>
        </p:nvSpPr>
        <p:spPr>
          <a:xfrm>
            <a:off x="457200" y="5943600"/>
            <a:ext cx="11274552" cy="457200"/>
          </a:xfrm>
          <a:prstGeom prst="roundRect">
            <a:avLst>
              <a:gd name="adj" fmla="val 24000"/>
            </a:avLst>
          </a:prstGeom>
          <a:solidFill>
            <a:srgbClr val="EEF2FF"/>
          </a:solidFill>
          <a:ln w="12700">
            <a:solidFill>
              <a:srgbClr val="C7D2FE"/>
            </a:solidFill>
            <a:prstDash val="solid"/>
          </a:ln>
        </p:spPr>
      </p:sp>
      <p:sp>
        <p:nvSpPr>
          <p:cNvPr id="15" name="Text 11"/>
          <p:cNvSpPr txBox="1"/>
          <p:nvPr/>
        </p:nvSpPr>
        <p:spPr>
          <a:xfrm>
            <a:off x="640080" y="5943600"/>
            <a:ext cx="10972800" cy="4572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Run: </a:t>
            </a:r>
            <a:r>
              <a:rPr lang="en-US" sz="1200" dirty="0">
                <a:solidFill>
                  <a:srgbClr val="1E293B"/>
                </a:solidFill>
                <a:latin typeface="Calibri" pitchFamily="34" charset="0"/>
                <a:ea typeface="Calibri" pitchFamily="34" charset="-122"/>
                <a:cs typeface="Calibri" pitchFamily="34" charset="-120"/>
              </a:rPr>
              <a:t>python3 run.py --cli → /demo   or   python3 run.py demo --auto     |     </a:t>
            </a:r>
            <a:r>
              <a:rPr lang="en-US" sz="1200" b="1" dirty="0">
                <a:solidFill>
                  <a:srgbClr val="047857"/>
                </a:solidFill>
                <a:latin typeface="Calibri" pitchFamily="34" charset="0"/>
                <a:ea typeface="Calibri" pitchFamily="34" charset="-122"/>
                <a:cs typeface="Calibri" pitchFamily="34" charset="-120"/>
              </a:rPr>
              <a:t>100% G1–G9 gates green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600" b="1" dirty="0">
                <a:solidFill>
                  <a:srgbClr val="704EA6"/>
                </a:solidFill>
                <a:latin typeface="Calibri" pitchFamily="34" charset="0"/>
                <a:ea typeface="Calibri" pitchFamily="34" charset="-122"/>
                <a:cs typeface="Calibri" pitchFamily="34" charset="-120"/>
              </a:rPr>
              <a:t>Tools and Technology Stack</a:t>
            </a:r>
            <a:endParaRPr lang="en-US" sz="2600" dirty="0"/>
          </a:p>
        </p:txBody>
      </p:sp>
      <p:sp>
        <p:nvSpPr>
          <p:cNvPr id="3" name="Text 1"/>
          <p:cNvSpPr txBox="1"/>
          <p:nvPr/>
        </p:nvSpPr>
        <p:spPr>
          <a:xfrm>
            <a:off x="457200" y="6492240"/>
            <a:ext cx="9144000" cy="228600"/>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Samsung PRISM GenAI Hackathon 2026–27  |  Team 4 Bottle Codeka  |  Theme 4: Streaming Live RAG</a:t>
            </a:r>
            <a:endParaRPr lang="en-US" sz="900" dirty="0"/>
          </a:p>
        </p:txBody>
      </p:sp>
      <p:sp>
        <p:nvSpPr>
          <p:cNvPr id="4" name="Text 2"/>
          <p:cNvSpPr txBox="1"/>
          <p:nvPr/>
        </p:nvSpPr>
        <p:spPr>
          <a:xfrm>
            <a:off x="11274552" y="6492240"/>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457200" y="1051560"/>
            <a:ext cx="5532120" cy="1783080"/>
          </a:xfrm>
          <a:prstGeom prst="roundRect">
            <a:avLst>
              <a:gd name="adj" fmla="val 6154"/>
            </a:avLst>
          </a:prstGeom>
          <a:solidFill>
            <a:srgbClr val="F8FAFC"/>
          </a:solidFill>
          <a:ln w="12700">
            <a:solidFill>
              <a:srgbClr val="CBD5E1"/>
            </a:solidFill>
            <a:prstDash val="solid"/>
          </a:ln>
        </p:spPr>
      </p:sp>
      <p:sp>
        <p:nvSpPr>
          <p:cNvPr id="6" name="Shape 4"/>
          <p:cNvSpPr/>
          <p:nvPr/>
        </p:nvSpPr>
        <p:spPr>
          <a:xfrm>
            <a:off x="640080" y="1161288"/>
            <a:ext cx="310896" cy="310896"/>
          </a:xfrm>
          <a:prstGeom prst="ellipse">
            <a:avLst/>
          </a:prstGeom>
          <a:solidFill>
            <a:srgbClr val="704EA6"/>
          </a:solidFill>
          <a:ln w="12700">
            <a:solidFill>
              <a:srgbClr val="704EA6"/>
            </a:solidFill>
            <a:prstDash val="solid"/>
          </a:ln>
        </p:spPr>
      </p:sp>
      <p:sp>
        <p:nvSpPr>
          <p:cNvPr id="7" name="Text 5"/>
          <p:cNvSpPr txBox="1"/>
          <p:nvPr/>
        </p:nvSpPr>
        <p:spPr>
          <a:xfrm>
            <a:off x="640080" y="116128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97280" y="1143000"/>
            <a:ext cx="466344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Retrieval &amp; Semantic Indexing</a:t>
            </a:r>
            <a:endParaRPr lang="en-US" sz="1400" dirty="0"/>
          </a:p>
        </p:txBody>
      </p:sp>
      <p:sp>
        <p:nvSpPr>
          <p:cNvPr id="9" name="Text 7"/>
          <p:cNvSpPr txBox="1"/>
          <p:nvPr/>
        </p:nvSpPr>
        <p:spPr>
          <a:xfrm>
            <a:off x="640080" y="1554480"/>
            <a:ext cx="5212080" cy="1234440"/>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BM25 Okapi: </a:t>
            </a:r>
            <a:r>
              <a:rPr lang="en-US" sz="1250" dirty="0">
                <a:solidFill>
                  <a:srgbClr val="334155"/>
                </a:solidFill>
                <a:latin typeface="Calibri" pitchFamily="34" charset="0"/>
                <a:ea typeface="Calibri" pitchFamily="34" charset="-122"/>
                <a:cs typeface="Calibri" pitchFamily="34" charset="-120"/>
              </a:rPr>
              <a:t>Lexical index for keywords, section tags, caps.</a:t>
            </a:r>
            <a:endParaRPr lang="en-US" sz="1200" dirty="0"/>
          </a:p>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Dense vectors: </a:t>
            </a:r>
            <a:r>
              <a:rPr lang="en-US" sz="1250" dirty="0">
                <a:solidFill>
                  <a:srgbClr val="334155"/>
                </a:solidFill>
                <a:latin typeface="Calibri" pitchFamily="34" charset="0"/>
                <a:ea typeface="Calibri" pitchFamily="34" charset="-122"/>
                <a:cs typeface="Calibri" pitchFamily="34" charset="-120"/>
              </a:rPr>
              <a:t>Embeddings for conceptual matching.</a:t>
            </a:r>
            <a:endParaRPr lang="en-US" sz="1200" dirty="0"/>
          </a:p>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RRF: </a:t>
            </a:r>
            <a:r>
              <a:rPr lang="en-US" sz="1250" dirty="0">
                <a:solidFill>
                  <a:srgbClr val="334155"/>
                </a:solidFill>
                <a:latin typeface="Calibri" pitchFamily="34" charset="0"/>
                <a:ea typeface="Calibri" pitchFamily="34" charset="-122"/>
                <a:cs typeface="Calibri" pitchFamily="34" charset="-120"/>
              </a:rPr>
              <a:t>Merges lexical and dense ranks.</a:t>
            </a:r>
            <a:endParaRPr lang="en-US" sz="1200" dirty="0"/>
          </a:p>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Scikit-learn / NumPy: </a:t>
            </a:r>
            <a:r>
              <a:rPr lang="en-US" sz="1250" dirty="0">
                <a:solidFill>
                  <a:srgbClr val="334155"/>
                </a:solidFill>
                <a:latin typeface="Calibri" pitchFamily="34" charset="0"/>
                <a:ea typeface="Calibri" pitchFamily="34" charset="-122"/>
                <a:cs typeface="Calibri" pitchFamily="34" charset="-120"/>
              </a:rPr>
              <a:t> Matrix ops for scoring and rank fusion.</a:t>
            </a:r>
            <a:endParaRPr lang="en-US" sz="1200" dirty="0"/>
          </a:p>
        </p:txBody>
      </p:sp>
      <p:sp>
        <p:nvSpPr>
          <p:cNvPr id="10" name="Shape 8"/>
          <p:cNvSpPr/>
          <p:nvPr/>
        </p:nvSpPr>
        <p:spPr>
          <a:xfrm>
            <a:off x="6199632" y="1051560"/>
            <a:ext cx="5532120" cy="1783080"/>
          </a:xfrm>
          <a:prstGeom prst="roundRect">
            <a:avLst>
              <a:gd name="adj" fmla="val 6154"/>
            </a:avLst>
          </a:prstGeom>
          <a:solidFill>
            <a:srgbClr val="F8FAFC"/>
          </a:solidFill>
          <a:ln w="12700">
            <a:solidFill>
              <a:srgbClr val="CBD5E1"/>
            </a:solidFill>
            <a:prstDash val="solid"/>
          </a:ln>
        </p:spPr>
      </p:sp>
      <p:sp>
        <p:nvSpPr>
          <p:cNvPr id="11" name="Shape 9"/>
          <p:cNvSpPr/>
          <p:nvPr/>
        </p:nvSpPr>
        <p:spPr>
          <a:xfrm>
            <a:off x="6382512" y="1161288"/>
            <a:ext cx="310896" cy="310896"/>
          </a:xfrm>
          <a:prstGeom prst="ellipse">
            <a:avLst/>
          </a:prstGeom>
          <a:solidFill>
            <a:srgbClr val="704EA6"/>
          </a:solidFill>
          <a:ln w="12700">
            <a:solidFill>
              <a:srgbClr val="704EA6"/>
            </a:solidFill>
            <a:prstDash val="solid"/>
          </a:ln>
        </p:spPr>
      </p:sp>
      <p:sp>
        <p:nvSpPr>
          <p:cNvPr id="12" name="Text 10"/>
          <p:cNvSpPr txBox="1"/>
          <p:nvPr/>
        </p:nvSpPr>
        <p:spPr>
          <a:xfrm>
            <a:off x="6382512" y="116128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6839712" y="1143000"/>
            <a:ext cx="466344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Streaming &amp; Concurrency</a:t>
            </a:r>
            <a:endParaRPr lang="en-US" sz="1400" dirty="0"/>
          </a:p>
        </p:txBody>
      </p:sp>
      <p:sp>
        <p:nvSpPr>
          <p:cNvPr id="14" name="Text 12"/>
          <p:cNvSpPr txBox="1"/>
          <p:nvPr/>
        </p:nvSpPr>
        <p:spPr>
          <a:xfrm>
            <a:off x="6382512" y="1554480"/>
            <a:ext cx="5212080" cy="1234440"/>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AsyncIO engine: </a:t>
            </a:r>
            <a:r>
              <a:rPr lang="en-US" sz="1250" dirty="0">
                <a:solidFill>
                  <a:srgbClr val="334155"/>
                </a:solidFill>
                <a:latin typeface="Calibri" pitchFamily="34" charset="0"/>
                <a:ea typeface="Calibri" pitchFamily="34" charset="-122"/>
                <a:cs typeface="Calibri" pitchFamily="34" charset="-120"/>
              </a:rPr>
              <a:t>Concurrent retrieval, non-blocking generation.</a:t>
            </a:r>
            <a:endParaRPr lang="en-US" sz="1200" dirty="0"/>
          </a:p>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Token yielders: </a:t>
            </a:r>
            <a:r>
              <a:rPr lang="en-US" sz="1250" dirty="0">
                <a:solidFill>
                  <a:srgbClr val="334155"/>
                </a:solidFill>
                <a:latin typeface="Calibri" pitchFamily="34" charset="0"/>
                <a:ea typeface="Calibri" pitchFamily="34" charset="-122"/>
                <a:cs typeface="Calibri" pitchFamily="34" charset="-120"/>
              </a:rPr>
              <a:t> True generator yield; 16ms TTFT after trigger (harness).</a:t>
            </a:r>
            <a:endParaRPr lang="en-US" sz="1200" dirty="0"/>
          </a:p>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Rolling n-gram window: </a:t>
            </a:r>
            <a:r>
              <a:rPr lang="en-US" sz="1250" dirty="0">
                <a:solidFill>
                  <a:srgbClr val="334155"/>
                </a:solidFill>
                <a:latin typeface="Calibri" pitchFamily="34" charset="0"/>
                <a:ea typeface="Calibri" pitchFamily="34" charset="-122"/>
                <a:cs typeface="Calibri" pitchFamily="34" charset="-120"/>
              </a:rPr>
              <a:t>Diff tracking for pivot keywords.</a:t>
            </a:r>
            <a:endParaRPr lang="en-US" sz="1200" dirty="0"/>
          </a:p>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State lineage memory: </a:t>
            </a:r>
            <a:r>
              <a:rPr lang="en-US" sz="1250" dirty="0">
                <a:solidFill>
                  <a:srgbClr val="334155"/>
                </a:solidFill>
                <a:latin typeface="Calibri" pitchFamily="34" charset="0"/>
                <a:ea typeface="Calibri" pitchFamily="34" charset="-122"/>
                <a:cs typeface="Calibri" pitchFamily="34" charset="-120"/>
              </a:rPr>
              <a:t>Append-only history of query mutations.</a:t>
            </a:r>
            <a:endParaRPr lang="en-US" sz="1200" dirty="0"/>
          </a:p>
        </p:txBody>
      </p:sp>
      <p:sp>
        <p:nvSpPr>
          <p:cNvPr id="15" name="Shape 13"/>
          <p:cNvSpPr/>
          <p:nvPr/>
        </p:nvSpPr>
        <p:spPr>
          <a:xfrm>
            <a:off x="457200" y="2971800"/>
            <a:ext cx="5532120" cy="1783080"/>
          </a:xfrm>
          <a:prstGeom prst="roundRect">
            <a:avLst>
              <a:gd name="adj" fmla="val 6154"/>
            </a:avLst>
          </a:prstGeom>
          <a:solidFill>
            <a:srgbClr val="F8FAFC"/>
          </a:solidFill>
          <a:ln w="12700">
            <a:solidFill>
              <a:srgbClr val="CBD5E1"/>
            </a:solidFill>
            <a:prstDash val="solid"/>
          </a:ln>
        </p:spPr>
      </p:sp>
      <p:sp>
        <p:nvSpPr>
          <p:cNvPr id="16" name="Shape 14"/>
          <p:cNvSpPr/>
          <p:nvPr/>
        </p:nvSpPr>
        <p:spPr>
          <a:xfrm>
            <a:off x="640080" y="3081528"/>
            <a:ext cx="310896" cy="310896"/>
          </a:xfrm>
          <a:prstGeom prst="ellipse">
            <a:avLst/>
          </a:prstGeom>
          <a:solidFill>
            <a:srgbClr val="704EA6"/>
          </a:solidFill>
          <a:ln w="12700">
            <a:solidFill>
              <a:srgbClr val="704EA6"/>
            </a:solidFill>
            <a:prstDash val="solid"/>
          </a:ln>
        </p:spPr>
      </p:sp>
      <p:sp>
        <p:nvSpPr>
          <p:cNvPr id="17" name="Text 15"/>
          <p:cNvSpPr txBox="1"/>
          <p:nvPr/>
        </p:nvSpPr>
        <p:spPr>
          <a:xfrm>
            <a:off x="640080" y="308152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097280" y="3063240"/>
            <a:ext cx="466344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Dual LLM Inference Engine</a:t>
            </a:r>
            <a:endParaRPr lang="en-US" sz="1400" dirty="0"/>
          </a:p>
        </p:txBody>
      </p:sp>
      <p:sp>
        <p:nvSpPr>
          <p:cNvPr id="19" name="Text 17"/>
          <p:cNvSpPr txBox="1"/>
          <p:nvPr/>
        </p:nvSpPr>
        <p:spPr>
          <a:xfrm>
            <a:off x="640080" y="3474720"/>
            <a:ext cx="5212080" cy="1234440"/>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Groq LPU: </a:t>
            </a:r>
            <a:r>
              <a:rPr lang="en-US" sz="1250" dirty="0">
                <a:solidFill>
                  <a:srgbClr val="334155"/>
                </a:solidFill>
                <a:latin typeface="Calibri" pitchFamily="34" charset="0"/>
                <a:ea typeface="Calibri" pitchFamily="34" charset="-122"/>
                <a:cs typeface="Calibri" pitchFamily="34" charset="-120"/>
              </a:rPr>
              <a:t>1000+ tokens/sec streaming delivery.</a:t>
            </a:r>
            <a:endParaRPr lang="en-US" sz="1200" dirty="0"/>
          </a:p>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NVIDIA NIM: </a:t>
            </a:r>
            <a:r>
              <a:rPr lang="en-US" sz="1250" dirty="0">
                <a:solidFill>
                  <a:srgbClr val="334155"/>
                </a:solidFill>
                <a:latin typeface="Calibri" pitchFamily="34" charset="0"/>
                <a:ea typeface="Calibri" pitchFamily="34" charset="-122"/>
                <a:cs typeface="Calibri" pitchFamily="34" charset="-120"/>
              </a:rPr>
              <a:t>Nemotron for multi-intent decomposition.</a:t>
            </a:r>
            <a:endParaRPr lang="en-US" sz="1200" dirty="0"/>
          </a:p>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Qwen local fallback (Ollama): </a:t>
            </a:r>
            <a:r>
              <a:rPr lang="en-US" sz="1250" dirty="0">
                <a:solidFill>
                  <a:srgbClr val="334155"/>
                </a:solidFill>
                <a:latin typeface="Calibri" pitchFamily="34" charset="0"/>
                <a:ea typeface="Calibri" pitchFamily="34" charset="-122"/>
                <a:cs typeface="Calibri" pitchFamily="34" charset="-120"/>
              </a:rPr>
              <a:t>Offline execution: uptime and privacy.</a:t>
            </a:r>
            <a:endParaRPr lang="en-US" sz="1200" dirty="0"/>
          </a:p>
        </p:txBody>
      </p:sp>
      <p:sp>
        <p:nvSpPr>
          <p:cNvPr id="20" name="Shape 18"/>
          <p:cNvSpPr/>
          <p:nvPr/>
        </p:nvSpPr>
        <p:spPr>
          <a:xfrm>
            <a:off x="6199632" y="2971800"/>
            <a:ext cx="5532120" cy="1783080"/>
          </a:xfrm>
          <a:prstGeom prst="roundRect">
            <a:avLst>
              <a:gd name="adj" fmla="val 6154"/>
            </a:avLst>
          </a:prstGeom>
          <a:solidFill>
            <a:srgbClr val="F8FAFC"/>
          </a:solidFill>
          <a:ln w="12700">
            <a:solidFill>
              <a:srgbClr val="CBD5E1"/>
            </a:solidFill>
            <a:prstDash val="solid"/>
          </a:ln>
        </p:spPr>
      </p:sp>
      <p:sp>
        <p:nvSpPr>
          <p:cNvPr id="21" name="Shape 19"/>
          <p:cNvSpPr/>
          <p:nvPr/>
        </p:nvSpPr>
        <p:spPr>
          <a:xfrm>
            <a:off x="6382512" y="3081528"/>
            <a:ext cx="310896" cy="310896"/>
          </a:xfrm>
          <a:prstGeom prst="ellipse">
            <a:avLst/>
          </a:prstGeom>
          <a:solidFill>
            <a:srgbClr val="704EA6"/>
          </a:solidFill>
          <a:ln w="12700">
            <a:solidFill>
              <a:srgbClr val="704EA6"/>
            </a:solidFill>
            <a:prstDash val="solid"/>
          </a:ln>
        </p:spPr>
      </p:sp>
      <p:sp>
        <p:nvSpPr>
          <p:cNvPr id="22" name="Text 20"/>
          <p:cNvSpPr txBox="1"/>
          <p:nvPr/>
        </p:nvSpPr>
        <p:spPr>
          <a:xfrm>
            <a:off x="6382512" y="308152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6839712" y="3063240"/>
            <a:ext cx="466344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UI, Ingestion &amp; Observability</a:t>
            </a:r>
            <a:endParaRPr lang="en-US" sz="1400" dirty="0"/>
          </a:p>
        </p:txBody>
      </p:sp>
      <p:sp>
        <p:nvSpPr>
          <p:cNvPr id="24" name="Text 22"/>
          <p:cNvSpPr txBox="1"/>
          <p:nvPr/>
        </p:nvSpPr>
        <p:spPr>
          <a:xfrm>
            <a:off x="6382512" y="3474720"/>
            <a:ext cx="5212080" cy="1234440"/>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Rich HUD: </a:t>
            </a:r>
            <a:r>
              <a:rPr lang="en-US" sz="1250" dirty="0">
                <a:solidFill>
                  <a:srgbClr val="334155"/>
                </a:solidFill>
                <a:latin typeface="Calibri" pitchFamily="34" charset="0"/>
                <a:ea typeface="Calibri" pitchFamily="34" charset="-122"/>
                <a:cs typeface="Calibri" pitchFamily="34" charset="-120"/>
              </a:rPr>
              <a:t>Terminal UI: telemetry, budgets, citation trees.</a:t>
            </a:r>
            <a:endParaRPr lang="en-US" sz="1200" dirty="0"/>
          </a:p>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prompt_toolkit REPL: </a:t>
            </a:r>
            <a:r>
              <a:rPr lang="en-US" sz="1250" dirty="0">
                <a:solidFill>
                  <a:srgbClr val="334155"/>
                </a:solidFill>
                <a:latin typeface="Calibri" pitchFamily="34" charset="0"/>
                <a:ea typeface="Calibri" pitchFamily="34" charset="-122"/>
                <a:cs typeface="Calibri" pitchFamily="34" charset="-120"/>
              </a:rPr>
              <a:t>Auto-complete, history, /demo command.</a:t>
            </a:r>
            <a:endParaRPr lang="en-US" sz="1200" dirty="0"/>
          </a:p>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PyPDF ingestion: </a:t>
            </a:r>
            <a:r>
              <a:rPr lang="en-US" sz="1250" dirty="0">
                <a:solidFill>
                  <a:srgbClr val="334155"/>
                </a:solidFill>
                <a:latin typeface="Calibri" pitchFamily="34" charset="0"/>
                <a:ea typeface="Calibri" pitchFamily="34" charset="-122"/>
                <a:cs typeface="Calibri" pitchFamily="34" charset="-120"/>
              </a:rPr>
              <a:t>Maps PDFs to [Doc_XX §YY] chunks.</a:t>
            </a:r>
            <a:endParaRPr lang="en-US" sz="1200" dirty="0"/>
          </a:p>
          <a:p>
            <a:pPr marL="177800" indent="-1778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Pytest harness: </a:t>
            </a:r>
            <a:r>
              <a:rPr lang="en-US" sz="1250" dirty="0">
                <a:solidFill>
                  <a:srgbClr val="334155"/>
                </a:solidFill>
                <a:latin typeface="Calibri" pitchFamily="34" charset="0"/>
                <a:ea typeface="Calibri" pitchFamily="34" charset="-122"/>
                <a:cs typeface="Calibri" pitchFamily="34" charset="-120"/>
              </a:rPr>
              <a:t>Validates suppression and TTFT SLAs.</a:t>
            </a:r>
            <a:endParaRPr lang="en-US" sz="1200" dirty="0"/>
          </a:p>
        </p:txBody>
      </p:sp>
      <p:sp>
        <p:nvSpPr>
          <p:cNvPr id="25" name="Shape 23"/>
          <p:cNvSpPr/>
          <p:nvPr/>
        </p:nvSpPr>
        <p:spPr>
          <a:xfrm>
            <a:off x="457200" y="4937760"/>
            <a:ext cx="11274552" cy="1417320"/>
          </a:xfrm>
          <a:prstGeom prst="roundRect">
            <a:avLst>
              <a:gd name="adj" fmla="val 7742"/>
            </a:avLst>
          </a:prstGeom>
          <a:solidFill>
            <a:srgbClr val="F8FAFC"/>
          </a:solidFill>
          <a:ln w="12700">
            <a:solidFill>
              <a:srgbClr val="CBD5E1"/>
            </a:solidFill>
            <a:prstDash val="solid"/>
          </a:ln>
        </p:spPr>
      </p:sp>
      <p:sp>
        <p:nvSpPr>
          <p:cNvPr id="26" name="Text 24"/>
          <p:cNvSpPr txBox="1"/>
          <p:nvPr/>
        </p:nvSpPr>
        <p:spPr>
          <a:xfrm>
            <a:off x="640080" y="4983480"/>
            <a:ext cx="5486400" cy="320040"/>
          </a:xfrm>
          <a:prstGeom prst="rect">
            <a:avLst/>
          </a:prstGeom>
          <a:noFill/>
          <a:ln/>
        </p:spPr>
        <p:txBody>
          <a:bodyPr wrap="square" lIns="0" tIns="0" rIns="0" bIns="0" rtlCol="0" anchor="ctr"/>
          <a:lstStyle/>
          <a:p>
            <a:pPr marL="0" indent="0">
              <a:buNone/>
            </a:pPr>
            <a:r>
              <a:rPr lang="en-US" sz="1300" b="1" dirty="0">
                <a:solidFill>
                  <a:srgbClr val="704EA6"/>
                </a:solidFill>
                <a:latin typeface="Calibri" pitchFamily="34" charset="0"/>
                <a:ea typeface="Calibri" pitchFamily="34" charset="-122"/>
                <a:cs typeface="Calibri" pitchFamily="34" charset="-120"/>
              </a:rPr>
              <a:t>Hybrid Retrieval Pipeline</a:t>
            </a:r>
            <a:endParaRPr lang="en-US" sz="1300" dirty="0"/>
          </a:p>
        </p:txBody>
      </p:sp>
      <p:sp>
        <p:nvSpPr>
          <p:cNvPr id="27" name="Shape 25"/>
          <p:cNvSpPr/>
          <p:nvPr/>
        </p:nvSpPr>
        <p:spPr>
          <a:xfrm>
            <a:off x="640080" y="5349240"/>
            <a:ext cx="2011680" cy="859536"/>
          </a:xfrm>
          <a:prstGeom prst="roundRect">
            <a:avLst>
              <a:gd name="adj" fmla="val 8511"/>
            </a:avLst>
          </a:prstGeom>
          <a:solidFill>
            <a:srgbClr val="FFFFFF"/>
          </a:solidFill>
          <a:ln w="12700">
            <a:solidFill>
              <a:srgbClr val="CBD5E1"/>
            </a:solidFill>
            <a:prstDash val="solid"/>
          </a:ln>
        </p:spPr>
      </p:sp>
      <p:sp>
        <p:nvSpPr>
          <p:cNvPr id="28" name="Text 26"/>
          <p:cNvSpPr txBox="1"/>
          <p:nvPr/>
        </p:nvSpPr>
        <p:spPr>
          <a:xfrm>
            <a:off x="640080" y="5349240"/>
            <a:ext cx="2011680" cy="859536"/>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Streaming query (token 6–8)</a:t>
            </a:r>
            <a:endParaRPr lang="en-US" sz="1100" dirty="0"/>
          </a:p>
        </p:txBody>
      </p:sp>
      <p:sp>
        <p:nvSpPr>
          <p:cNvPr id="29" name="Shape 27"/>
          <p:cNvSpPr/>
          <p:nvPr/>
        </p:nvSpPr>
        <p:spPr>
          <a:xfrm>
            <a:off x="2971800" y="5349240"/>
            <a:ext cx="2194560" cy="384048"/>
          </a:xfrm>
          <a:prstGeom prst="roundRect">
            <a:avLst>
              <a:gd name="adj" fmla="val 19048"/>
            </a:avLst>
          </a:prstGeom>
          <a:solidFill>
            <a:srgbClr val="E0F2FE"/>
          </a:solidFill>
          <a:ln w="12700">
            <a:solidFill>
              <a:srgbClr val="7DD3FC"/>
            </a:solidFill>
            <a:prstDash val="solid"/>
          </a:ln>
        </p:spPr>
      </p:sp>
      <p:sp>
        <p:nvSpPr>
          <p:cNvPr id="30" name="Text 28"/>
          <p:cNvSpPr txBox="1"/>
          <p:nvPr/>
        </p:nvSpPr>
        <p:spPr>
          <a:xfrm>
            <a:off x="2971800" y="5349240"/>
            <a:ext cx="2194560" cy="384048"/>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BM25 Okapi (lexical)</a:t>
            </a:r>
            <a:endParaRPr lang="en-US" sz="1100" dirty="0"/>
          </a:p>
        </p:txBody>
      </p:sp>
      <p:sp>
        <p:nvSpPr>
          <p:cNvPr id="31" name="Shape 29"/>
          <p:cNvSpPr/>
          <p:nvPr/>
        </p:nvSpPr>
        <p:spPr>
          <a:xfrm>
            <a:off x="2971800" y="5824728"/>
            <a:ext cx="2194560" cy="384048"/>
          </a:xfrm>
          <a:prstGeom prst="roundRect">
            <a:avLst>
              <a:gd name="adj" fmla="val 19048"/>
            </a:avLst>
          </a:prstGeom>
          <a:solidFill>
            <a:srgbClr val="E0F2FE"/>
          </a:solidFill>
          <a:ln w="12700">
            <a:solidFill>
              <a:srgbClr val="7DD3FC"/>
            </a:solidFill>
            <a:prstDash val="solid"/>
          </a:ln>
        </p:spPr>
      </p:sp>
      <p:sp>
        <p:nvSpPr>
          <p:cNvPr id="32" name="Text 30"/>
          <p:cNvSpPr txBox="1"/>
          <p:nvPr/>
        </p:nvSpPr>
        <p:spPr>
          <a:xfrm>
            <a:off x="2971800" y="5824728"/>
            <a:ext cx="2194560" cy="384048"/>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Dense vectors (semantic)</a:t>
            </a:r>
            <a:endParaRPr lang="en-US" sz="1100" dirty="0"/>
          </a:p>
        </p:txBody>
      </p:sp>
      <p:sp>
        <p:nvSpPr>
          <p:cNvPr id="33" name="Shape 31"/>
          <p:cNvSpPr/>
          <p:nvPr/>
        </p:nvSpPr>
        <p:spPr>
          <a:xfrm>
            <a:off x="2688336" y="5541264"/>
            <a:ext cx="246888" cy="0"/>
          </a:xfrm>
          <a:prstGeom prst="line">
            <a:avLst/>
          </a:prstGeom>
          <a:noFill/>
          <a:ln w="22225">
            <a:solidFill>
              <a:srgbClr val="64748B"/>
            </a:solidFill>
            <a:prstDash val="solid"/>
            <a:tailEnd type="triangle"/>
          </a:ln>
        </p:spPr>
      </p:sp>
      <p:sp>
        <p:nvSpPr>
          <p:cNvPr id="34" name="Shape 32"/>
          <p:cNvSpPr/>
          <p:nvPr/>
        </p:nvSpPr>
        <p:spPr>
          <a:xfrm>
            <a:off x="2688336" y="6016752"/>
            <a:ext cx="246888" cy="0"/>
          </a:xfrm>
          <a:prstGeom prst="line">
            <a:avLst/>
          </a:prstGeom>
          <a:noFill/>
          <a:ln w="22225">
            <a:solidFill>
              <a:srgbClr val="64748B"/>
            </a:solidFill>
            <a:prstDash val="solid"/>
            <a:tailEnd type="triangle"/>
          </a:ln>
        </p:spPr>
      </p:sp>
      <p:sp>
        <p:nvSpPr>
          <p:cNvPr id="35" name="Shape 33"/>
          <p:cNvSpPr/>
          <p:nvPr/>
        </p:nvSpPr>
        <p:spPr>
          <a:xfrm>
            <a:off x="5486400" y="5349240"/>
            <a:ext cx="1737360" cy="859536"/>
          </a:xfrm>
          <a:prstGeom prst="roundRect">
            <a:avLst>
              <a:gd name="adj" fmla="val 8511"/>
            </a:avLst>
          </a:prstGeom>
          <a:solidFill>
            <a:srgbClr val="FFFFFF"/>
          </a:solidFill>
          <a:ln w="12700">
            <a:solidFill>
              <a:srgbClr val="CBD5E1"/>
            </a:solidFill>
            <a:prstDash val="solid"/>
          </a:ln>
        </p:spPr>
      </p:sp>
      <p:sp>
        <p:nvSpPr>
          <p:cNvPr id="36" name="Text 34"/>
          <p:cNvSpPr txBox="1"/>
          <p:nvPr/>
        </p:nvSpPr>
        <p:spPr>
          <a:xfrm>
            <a:off x="5486400" y="5349240"/>
            <a:ext cx="1737360" cy="859536"/>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RRF fusion</a:t>
            </a:r>
            <a:endParaRPr lang="en-US" sz="1100" dirty="0"/>
          </a:p>
        </p:txBody>
      </p:sp>
      <p:sp>
        <p:nvSpPr>
          <p:cNvPr id="37" name="Shape 35"/>
          <p:cNvSpPr/>
          <p:nvPr/>
        </p:nvSpPr>
        <p:spPr>
          <a:xfrm>
            <a:off x="5202936" y="5541264"/>
            <a:ext cx="246888" cy="0"/>
          </a:xfrm>
          <a:prstGeom prst="line">
            <a:avLst/>
          </a:prstGeom>
          <a:noFill/>
          <a:ln w="22225">
            <a:solidFill>
              <a:srgbClr val="64748B"/>
            </a:solidFill>
            <a:prstDash val="solid"/>
            <a:tailEnd type="triangle"/>
          </a:ln>
        </p:spPr>
      </p:sp>
      <p:sp>
        <p:nvSpPr>
          <p:cNvPr id="38" name="Shape 36"/>
          <p:cNvSpPr/>
          <p:nvPr/>
        </p:nvSpPr>
        <p:spPr>
          <a:xfrm>
            <a:off x="5202936" y="6016752"/>
            <a:ext cx="246888" cy="0"/>
          </a:xfrm>
          <a:prstGeom prst="line">
            <a:avLst/>
          </a:prstGeom>
          <a:noFill/>
          <a:ln w="22225">
            <a:solidFill>
              <a:srgbClr val="64748B"/>
            </a:solidFill>
            <a:prstDash val="solid"/>
            <a:tailEnd type="triangle"/>
          </a:ln>
        </p:spPr>
      </p:sp>
      <p:sp>
        <p:nvSpPr>
          <p:cNvPr id="39" name="Shape 37"/>
          <p:cNvSpPr/>
          <p:nvPr/>
        </p:nvSpPr>
        <p:spPr>
          <a:xfrm>
            <a:off x="7543800" y="5349240"/>
            <a:ext cx="1828800" cy="859536"/>
          </a:xfrm>
          <a:prstGeom prst="roundRect">
            <a:avLst>
              <a:gd name="adj" fmla="val 8511"/>
            </a:avLst>
          </a:prstGeom>
          <a:solidFill>
            <a:srgbClr val="FFFFFF"/>
          </a:solidFill>
          <a:ln w="12700">
            <a:solidFill>
              <a:srgbClr val="CBD5E1"/>
            </a:solidFill>
            <a:prstDash val="solid"/>
          </a:ln>
        </p:spPr>
      </p:sp>
      <p:sp>
        <p:nvSpPr>
          <p:cNvPr id="40" name="Text 38"/>
          <p:cNvSpPr txBox="1"/>
          <p:nvPr/>
        </p:nvSpPr>
        <p:spPr>
          <a:xfrm>
            <a:off x="7543800" y="5349240"/>
            <a:ext cx="1828800" cy="859536"/>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Cross-encoder rerank</a:t>
            </a:r>
            <a:endParaRPr lang="en-US" sz="1100" dirty="0"/>
          </a:p>
        </p:txBody>
      </p:sp>
      <p:sp>
        <p:nvSpPr>
          <p:cNvPr id="41" name="Shape 39"/>
          <p:cNvSpPr/>
          <p:nvPr/>
        </p:nvSpPr>
        <p:spPr>
          <a:xfrm>
            <a:off x="7260336" y="5779008"/>
            <a:ext cx="246888" cy="0"/>
          </a:xfrm>
          <a:prstGeom prst="line">
            <a:avLst/>
          </a:prstGeom>
          <a:noFill/>
          <a:ln w="22225">
            <a:solidFill>
              <a:srgbClr val="64748B"/>
            </a:solidFill>
            <a:prstDash val="solid"/>
            <a:tailEnd type="triangle"/>
          </a:ln>
        </p:spPr>
      </p:sp>
      <p:sp>
        <p:nvSpPr>
          <p:cNvPr id="42" name="Shape 40"/>
          <p:cNvSpPr/>
          <p:nvPr/>
        </p:nvSpPr>
        <p:spPr>
          <a:xfrm>
            <a:off x="9692640" y="5349240"/>
            <a:ext cx="1874520" cy="859536"/>
          </a:xfrm>
          <a:prstGeom prst="roundRect">
            <a:avLst>
              <a:gd name="adj" fmla="val 8511"/>
            </a:avLst>
          </a:prstGeom>
          <a:solidFill>
            <a:srgbClr val="DCFCE7"/>
          </a:solidFill>
          <a:ln w="12700">
            <a:solidFill>
              <a:srgbClr val="86EFAC"/>
            </a:solidFill>
            <a:prstDash val="solid"/>
          </a:ln>
        </p:spPr>
      </p:sp>
      <p:sp>
        <p:nvSpPr>
          <p:cNvPr id="43" name="Text 41"/>
          <p:cNvSpPr txBox="1"/>
          <p:nvPr/>
        </p:nvSpPr>
        <p:spPr>
          <a:xfrm>
            <a:off x="9692640" y="5349240"/>
            <a:ext cx="1874520" cy="859536"/>
          </a:xfrm>
          <a:prstGeom prst="rect">
            <a:avLst/>
          </a:prstGeom>
          <a:noFill/>
          <a:ln/>
        </p:spPr>
        <p:txBody>
          <a:bodyPr wrap="square" lIns="508" tIns="508" rIns="508" bIns="508"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Top-k chunks</a:t>
            </a:r>
            <a:endParaRPr lang="en-US" sz="1100" dirty="0"/>
          </a:p>
          <a:p>
            <a:pPr marL="0" indent="0" algn="ctr">
              <a:buNone/>
            </a:pPr>
            <a:r>
              <a:rPr lang="en-US" sz="1100" b="1" dirty="0">
                <a:solidFill>
                  <a:srgbClr val="1E293B"/>
                </a:solidFill>
                <a:latin typeface="Calibri" pitchFamily="34" charset="0"/>
                <a:ea typeface="Calibri" pitchFamily="34" charset="-122"/>
                <a:cs typeface="Calibri" pitchFamily="34" charset="-120"/>
              </a:rPr>
              <a:t>with [Doc_XX §YY]</a:t>
            </a:r>
            <a:endParaRPr lang="en-US" sz="1100" dirty="0"/>
          </a:p>
        </p:txBody>
      </p:sp>
      <p:sp>
        <p:nvSpPr>
          <p:cNvPr id="44" name="Shape 42"/>
          <p:cNvSpPr/>
          <p:nvPr/>
        </p:nvSpPr>
        <p:spPr>
          <a:xfrm>
            <a:off x="9409176" y="5779008"/>
            <a:ext cx="246888" cy="0"/>
          </a:xfrm>
          <a:prstGeom prst="line">
            <a:avLst/>
          </a:prstGeom>
          <a:noFill/>
          <a:ln w="22225">
            <a:solidFill>
              <a:srgbClr val="64748B"/>
            </a:solidFill>
            <a:prstDash val="solid"/>
            <a:tailEnd type="triangle"/>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600" b="1" dirty="0">
                <a:solidFill>
                  <a:srgbClr val="704EA6"/>
                </a:solidFill>
                <a:latin typeface="Calibri" pitchFamily="34" charset="0"/>
                <a:ea typeface="Calibri" pitchFamily="34" charset="-122"/>
                <a:cs typeface="Calibri" pitchFamily="34" charset="-120"/>
              </a:rPr>
              <a:t>Enterprise Impact &amp; Production Use Cases</a:t>
            </a:r>
            <a:endParaRPr lang="en-US" sz="2600" dirty="0"/>
          </a:p>
        </p:txBody>
      </p:sp>
      <p:sp>
        <p:nvSpPr>
          <p:cNvPr id="3" name="Text 1"/>
          <p:cNvSpPr txBox="1"/>
          <p:nvPr/>
        </p:nvSpPr>
        <p:spPr>
          <a:xfrm>
            <a:off x="457200" y="6492240"/>
            <a:ext cx="9144000" cy="228600"/>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Samsung PRISM GenAI Hackathon 2026–27  |  Team 4 Bottle Codeka  |  Theme 4: Streaming Live RAG</a:t>
            </a:r>
            <a:endParaRPr lang="en-US" sz="900" dirty="0"/>
          </a:p>
        </p:txBody>
      </p:sp>
      <p:sp>
        <p:nvSpPr>
          <p:cNvPr id="4" name="Text 2"/>
          <p:cNvSpPr txBox="1"/>
          <p:nvPr/>
        </p:nvSpPr>
        <p:spPr>
          <a:xfrm>
            <a:off x="11274552" y="6492240"/>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457200" y="1051560"/>
            <a:ext cx="3611880" cy="2880360"/>
          </a:xfrm>
          <a:prstGeom prst="roundRect">
            <a:avLst>
              <a:gd name="adj" fmla="val 3810"/>
            </a:avLst>
          </a:prstGeom>
          <a:solidFill>
            <a:srgbClr val="F8FAFC"/>
          </a:solidFill>
          <a:ln w="12700">
            <a:solidFill>
              <a:srgbClr val="CBD5E1"/>
            </a:solidFill>
            <a:prstDash val="solid"/>
          </a:ln>
        </p:spPr>
      </p:sp>
      <p:sp>
        <p:nvSpPr>
          <p:cNvPr id="6" name="Text 4"/>
          <p:cNvSpPr txBox="1"/>
          <p:nvPr/>
        </p:nvSpPr>
        <p:spPr>
          <a:xfrm>
            <a:off x="640080" y="1115568"/>
            <a:ext cx="324612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1. Enterprise Policy Co-Pilot</a:t>
            </a:r>
            <a:endParaRPr lang="en-US" sz="1400" dirty="0"/>
          </a:p>
        </p:txBody>
      </p:sp>
      <p:sp>
        <p:nvSpPr>
          <p:cNvPr id="7" name="Text 5"/>
          <p:cNvSpPr txBox="1"/>
          <p:nvPr/>
        </p:nvSpPr>
        <p:spPr>
          <a:xfrm>
            <a:off x="640080" y="1554480"/>
            <a:ext cx="3246120" cy="228600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1E293B"/>
                </a:solidFill>
                <a:latin typeface="Calibri" pitchFamily="34" charset="0"/>
                <a:ea typeface="Calibri" pitchFamily="34" charset="-122"/>
                <a:cs typeface="Calibri" pitchFamily="34" charset="-120"/>
              </a:rPr>
              <a:t>Workplace intelligence: </a:t>
            </a:r>
            <a:r>
              <a:rPr lang="en-US" sz="1250" dirty="0">
                <a:solidFill>
                  <a:srgbClr val="334155"/>
                </a:solidFill>
                <a:latin typeface="Calibri" pitchFamily="34" charset="0"/>
                <a:ea typeface="Calibri" pitchFamily="34" charset="-122"/>
                <a:cs typeface="Calibri" pitchFamily="34" charset="-120"/>
              </a:rPr>
              <a:t> Grounded answers; sized for 100,000+ employees (illustrative target).</a:t>
            </a:r>
            <a:endParaRPr lang="en-US" sz="1200" dirty="0"/>
          </a:p>
          <a:p>
            <a:pPr marL="177800" indent="-177800">
              <a:spcAft>
                <a:spcPts val="700"/>
              </a:spcAft>
              <a:buSzPct val="100000"/>
              <a:buChar char="•"/>
            </a:pPr>
            <a:r>
              <a:rPr lang="en-US" sz="1250" b="1" dirty="0">
                <a:solidFill>
                  <a:srgbClr val="1E293B"/>
                </a:solidFill>
                <a:latin typeface="Calibri" pitchFamily="34" charset="0"/>
                <a:ea typeface="Calibri" pitchFamily="34" charset="-122"/>
                <a:cs typeface="Calibri" pitchFamily="34" charset="-120"/>
              </a:rPr>
              <a:t>Zero ticket backlog: </a:t>
            </a:r>
            <a:r>
              <a:rPr lang="en-US" sz="1250" dirty="0">
                <a:solidFill>
                  <a:srgbClr val="334155"/>
                </a:solidFill>
                <a:latin typeface="Calibri" pitchFamily="34" charset="0"/>
                <a:ea typeface="Calibri" pitchFamily="34" charset="-122"/>
                <a:cs typeface="Calibri" pitchFamily="34" charset="-120"/>
              </a:rPr>
              <a:t> Projected to automate ~80% of routine HR, travel, expense queries (estimate).</a:t>
            </a:r>
            <a:endParaRPr lang="en-US" sz="1200" dirty="0"/>
          </a:p>
          <a:p>
            <a:pPr marL="177800" indent="-177800">
              <a:spcAft>
                <a:spcPts val="700"/>
              </a:spcAft>
              <a:buSzPct val="100000"/>
              <a:buChar char="•"/>
            </a:pPr>
            <a:r>
              <a:rPr lang="en-US" sz="1250" b="1" dirty="0">
                <a:solidFill>
                  <a:srgbClr val="1E293B"/>
                </a:solidFill>
                <a:latin typeface="Calibri" pitchFamily="34" charset="0"/>
                <a:ea typeface="Calibri" pitchFamily="34" charset="-122"/>
                <a:cs typeface="Calibri" pitchFamily="34" charset="-120"/>
              </a:rPr>
              <a:t>Audit verifiable: </a:t>
            </a:r>
            <a:r>
              <a:rPr lang="en-US" sz="1250" dirty="0">
                <a:solidFill>
                  <a:srgbClr val="334155"/>
                </a:solidFill>
                <a:latin typeface="Calibri" pitchFamily="34" charset="0"/>
                <a:ea typeface="Calibri" pitchFamily="34" charset="-122"/>
                <a:cs typeface="Calibri" pitchFamily="34" charset="-120"/>
              </a:rPr>
              <a:t> Exact [Doc_XX §YY] citations.</a:t>
            </a:r>
            <a:endParaRPr lang="en-US" sz="1200" dirty="0"/>
          </a:p>
          <a:p>
            <a:pPr marL="177800" indent="-177800">
              <a:spcAft>
                <a:spcPts val="700"/>
              </a:spcAft>
              <a:buSzPct val="100000"/>
              <a:buChar char="•"/>
            </a:pPr>
            <a:r>
              <a:rPr lang="en-US" sz="1250" b="1" dirty="0">
                <a:solidFill>
                  <a:srgbClr val="1E293B"/>
                </a:solidFill>
                <a:latin typeface="Calibri" pitchFamily="34" charset="0"/>
                <a:ea typeface="Calibri" pitchFamily="34" charset="-122"/>
                <a:cs typeface="Calibri" pitchFamily="34" charset="-120"/>
              </a:rPr>
              <a:t>Strict RBA: </a:t>
            </a:r>
            <a:r>
              <a:rPr lang="en-US" sz="1250" dirty="0">
                <a:solidFill>
                  <a:srgbClr val="334155"/>
                </a:solidFill>
                <a:latin typeface="Calibri" pitchFamily="34" charset="0"/>
                <a:ea typeface="Calibri" pitchFamily="34" charset="-122"/>
                <a:cs typeface="Calibri" pitchFamily="34" charset="-120"/>
              </a:rPr>
              <a:t> Role-based access (planned; not in demo).</a:t>
            </a:r>
            <a:endParaRPr lang="en-US" sz="1200" dirty="0"/>
          </a:p>
        </p:txBody>
      </p:sp>
      <p:sp>
        <p:nvSpPr>
          <p:cNvPr id="8" name="Shape 6"/>
          <p:cNvSpPr/>
          <p:nvPr/>
        </p:nvSpPr>
        <p:spPr>
          <a:xfrm>
            <a:off x="4288536" y="1051560"/>
            <a:ext cx="3611880" cy="2880360"/>
          </a:xfrm>
          <a:prstGeom prst="roundRect">
            <a:avLst>
              <a:gd name="adj" fmla="val 3810"/>
            </a:avLst>
          </a:prstGeom>
          <a:solidFill>
            <a:srgbClr val="F8FAFC"/>
          </a:solidFill>
          <a:ln w="12700">
            <a:solidFill>
              <a:srgbClr val="CBD5E1"/>
            </a:solidFill>
            <a:prstDash val="solid"/>
          </a:ln>
        </p:spPr>
      </p:sp>
      <p:sp>
        <p:nvSpPr>
          <p:cNvPr id="9" name="Text 7"/>
          <p:cNvSpPr txBox="1"/>
          <p:nvPr/>
        </p:nvSpPr>
        <p:spPr>
          <a:xfrm>
            <a:off x="4471416" y="1115568"/>
            <a:ext cx="324612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2. Live Voice Assistants (Galaxy / Bixby)</a:t>
            </a:r>
            <a:endParaRPr lang="en-US" sz="1400" dirty="0"/>
          </a:p>
        </p:txBody>
      </p:sp>
      <p:sp>
        <p:nvSpPr>
          <p:cNvPr id="10" name="Text 8"/>
          <p:cNvSpPr txBox="1"/>
          <p:nvPr/>
        </p:nvSpPr>
        <p:spPr>
          <a:xfrm>
            <a:off x="4471416" y="1554480"/>
            <a:ext cx="3246120" cy="228600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1E293B"/>
                </a:solidFill>
                <a:latin typeface="Calibri" pitchFamily="34" charset="0"/>
                <a:ea typeface="Calibri" pitchFamily="34" charset="-122"/>
                <a:cs typeface="Calibri" pitchFamily="34" charset="-120"/>
              </a:rPr>
              <a:t>Natural pacing: </a:t>
            </a:r>
            <a:r>
              <a:rPr lang="en-US" sz="1250" dirty="0">
                <a:solidFill>
                  <a:srgbClr val="334155"/>
                </a:solidFill>
                <a:latin typeface="Calibri" pitchFamily="34" charset="0"/>
                <a:ea typeface="Calibri" pitchFamily="34" charset="-122"/>
                <a:cs typeface="Calibri" pitchFamily="34" charset="-120"/>
              </a:rPr>
              <a:t> 16ms TTFT (demo harness) targets natural voice pacing.</a:t>
            </a:r>
            <a:endParaRPr lang="en-US" sz="1200" dirty="0"/>
          </a:p>
          <a:p>
            <a:pPr marL="177800" indent="-177800">
              <a:spcAft>
                <a:spcPts val="700"/>
              </a:spcAft>
              <a:buSzPct val="100000"/>
              <a:buChar char="•"/>
            </a:pPr>
            <a:r>
              <a:rPr lang="en-US" sz="1250" b="1" dirty="0">
                <a:solidFill>
                  <a:srgbClr val="1E293B"/>
                </a:solidFill>
                <a:latin typeface="Calibri" pitchFamily="34" charset="0"/>
                <a:ea typeface="Calibri" pitchFamily="34" charset="-122"/>
                <a:cs typeface="Calibri" pitchFamily="34" charset="-120"/>
              </a:rPr>
              <a:t>Self-correction: </a:t>
            </a:r>
            <a:r>
              <a:rPr lang="en-US" sz="1250" dirty="0">
                <a:solidFill>
                  <a:srgbClr val="334155"/>
                </a:solidFill>
                <a:latin typeface="Calibri" pitchFamily="34" charset="0"/>
                <a:ea typeface="Calibri" pitchFamily="34" charset="-122"/>
                <a:cs typeface="Calibri" pitchFamily="34" charset="-120"/>
              </a:rPr>
              <a:t>Mid-sentence pivots without restarting.</a:t>
            </a:r>
            <a:endParaRPr lang="en-US" sz="1200" dirty="0"/>
          </a:p>
          <a:p>
            <a:pPr marL="177800" indent="-177800">
              <a:spcAft>
                <a:spcPts val="700"/>
              </a:spcAft>
              <a:buSzPct val="100000"/>
              <a:buChar char="•"/>
            </a:pPr>
            <a:r>
              <a:rPr lang="en-US" sz="1250" b="1" dirty="0">
                <a:solidFill>
                  <a:srgbClr val="1E293B"/>
                </a:solidFill>
                <a:latin typeface="Calibri" pitchFamily="34" charset="0"/>
                <a:ea typeface="Calibri" pitchFamily="34" charset="-122"/>
                <a:cs typeface="Calibri" pitchFamily="34" charset="-120"/>
              </a:rPr>
              <a:t>Edge resilience: </a:t>
            </a:r>
            <a:r>
              <a:rPr lang="en-US" sz="1250" dirty="0">
                <a:solidFill>
                  <a:srgbClr val="334155"/>
                </a:solidFill>
                <a:latin typeface="Calibri" pitchFamily="34" charset="0"/>
                <a:ea typeface="Calibri" pitchFamily="34" charset="-122"/>
                <a:cs typeface="Calibri" pitchFamily="34" charset="-120"/>
              </a:rPr>
              <a:t> Offline Qwen fallback (not shown in demo).</a:t>
            </a:r>
            <a:endParaRPr lang="en-US" sz="1200" dirty="0"/>
          </a:p>
          <a:p>
            <a:pPr marL="177800" indent="-177800">
              <a:spcAft>
                <a:spcPts val="700"/>
              </a:spcAft>
              <a:buSzPct val="100000"/>
              <a:buChar char="•"/>
            </a:pPr>
            <a:r>
              <a:rPr lang="en-US" sz="1250" b="1" dirty="0">
                <a:solidFill>
                  <a:srgbClr val="1E293B"/>
                </a:solidFill>
                <a:latin typeface="Calibri" pitchFamily="34" charset="0"/>
                <a:ea typeface="Calibri" pitchFamily="34" charset="-122"/>
                <a:cs typeface="Calibri" pitchFamily="34" charset="-120"/>
              </a:rPr>
              <a:t>Battery optimized: </a:t>
            </a:r>
            <a:r>
              <a:rPr lang="en-US" sz="1250" dirty="0">
                <a:solidFill>
                  <a:srgbClr val="334155"/>
                </a:solidFill>
                <a:latin typeface="Calibri" pitchFamily="34" charset="0"/>
                <a:ea typeface="Calibri" pitchFamily="34" charset="-122"/>
                <a:cs typeface="Calibri" pitchFamily="34" charset="-120"/>
              </a:rPr>
              <a:t> On-device quantized embeddings (Phase 2 roadmap).</a:t>
            </a:r>
            <a:endParaRPr lang="en-US" sz="1200" dirty="0"/>
          </a:p>
        </p:txBody>
      </p:sp>
      <p:sp>
        <p:nvSpPr>
          <p:cNvPr id="11" name="Shape 9"/>
          <p:cNvSpPr/>
          <p:nvPr/>
        </p:nvSpPr>
        <p:spPr>
          <a:xfrm>
            <a:off x="8119872" y="1051560"/>
            <a:ext cx="3611880" cy="2880360"/>
          </a:xfrm>
          <a:prstGeom prst="roundRect">
            <a:avLst>
              <a:gd name="adj" fmla="val 3810"/>
            </a:avLst>
          </a:prstGeom>
          <a:solidFill>
            <a:srgbClr val="F8FAFC"/>
          </a:solidFill>
          <a:ln w="12700">
            <a:solidFill>
              <a:srgbClr val="CBD5E1"/>
            </a:solidFill>
            <a:prstDash val="solid"/>
          </a:ln>
        </p:spPr>
      </p:sp>
      <p:sp>
        <p:nvSpPr>
          <p:cNvPr id="12" name="Text 10"/>
          <p:cNvSpPr txBox="1"/>
          <p:nvPr/>
        </p:nvSpPr>
        <p:spPr>
          <a:xfrm>
            <a:off x="8302752" y="1115568"/>
            <a:ext cx="324612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3. Contact Center Co-Pilot</a:t>
            </a:r>
            <a:endParaRPr lang="en-US" sz="1400" dirty="0"/>
          </a:p>
        </p:txBody>
      </p:sp>
      <p:sp>
        <p:nvSpPr>
          <p:cNvPr id="13" name="Text 11"/>
          <p:cNvSpPr txBox="1"/>
          <p:nvPr/>
        </p:nvSpPr>
        <p:spPr>
          <a:xfrm>
            <a:off x="8302752" y="1554480"/>
            <a:ext cx="3246120" cy="228600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1E293B"/>
                </a:solidFill>
                <a:latin typeface="Calibri" pitchFamily="34" charset="0"/>
                <a:ea typeface="Calibri" pitchFamily="34" charset="-122"/>
                <a:cs typeface="Calibri" pitchFamily="34" charset="-120"/>
              </a:rPr>
              <a:t>Agent assist: </a:t>
            </a:r>
            <a:r>
              <a:rPr lang="en-US" sz="1250" dirty="0">
                <a:solidFill>
                  <a:srgbClr val="334155"/>
                </a:solidFill>
                <a:latin typeface="Calibri" pitchFamily="34" charset="0"/>
                <a:ea typeface="Calibri" pitchFamily="34" charset="-122"/>
                <a:cs typeface="Calibri" pitchFamily="34" charset="-120"/>
              </a:rPr>
              <a:t>Pre-fetches clauses while the customer speaks.</a:t>
            </a:r>
            <a:endParaRPr lang="en-US" sz="1200" dirty="0"/>
          </a:p>
          <a:p>
            <a:pPr marL="177800" indent="-177800">
              <a:spcAft>
                <a:spcPts val="700"/>
              </a:spcAft>
              <a:buSzPct val="100000"/>
              <a:buChar char="•"/>
            </a:pPr>
            <a:r>
              <a:rPr lang="en-US" sz="1250" b="1" dirty="0">
                <a:solidFill>
                  <a:srgbClr val="1E293B"/>
                </a:solidFill>
                <a:latin typeface="Calibri" pitchFamily="34" charset="0"/>
                <a:ea typeface="Calibri" pitchFamily="34" charset="-122"/>
                <a:cs typeface="Calibri" pitchFamily="34" charset="-120"/>
              </a:rPr>
              <a:t>Lower AHT: </a:t>
            </a:r>
            <a:r>
              <a:rPr lang="en-US" sz="1250" dirty="0">
                <a:solidFill>
                  <a:srgbClr val="334155"/>
                </a:solidFill>
                <a:latin typeface="Calibri" pitchFamily="34" charset="0"/>
                <a:ea typeface="Calibri" pitchFamily="34" charset="-122"/>
                <a:cs typeface="Calibri" pitchFamily="34" charset="-120"/>
              </a:rPr>
              <a:t> Projected 65% lower Average Handle Time (estimate, not measured).</a:t>
            </a:r>
            <a:endParaRPr lang="en-US" sz="1200" dirty="0"/>
          </a:p>
          <a:p>
            <a:pPr marL="177800" indent="-177800">
              <a:spcAft>
                <a:spcPts val="700"/>
              </a:spcAft>
              <a:buSzPct val="100000"/>
              <a:buChar char="•"/>
            </a:pPr>
            <a:r>
              <a:rPr lang="en-US" sz="1250" b="1" dirty="0">
                <a:solidFill>
                  <a:srgbClr val="1E293B"/>
                </a:solidFill>
                <a:latin typeface="Calibri" pitchFamily="34" charset="0"/>
                <a:ea typeface="Calibri" pitchFamily="34" charset="-122"/>
                <a:cs typeface="Calibri" pitchFamily="34" charset="-120"/>
              </a:rPr>
              <a:t>Hallucination guard:</a:t>
            </a:r>
            <a:r>
              <a:rPr lang="en-US" sz="1250" dirty="0">
                <a:solidFill>
                  <a:srgbClr val="334155"/>
                </a:solidFill>
                <a:latin typeface="Calibri" pitchFamily="34" charset="0"/>
                <a:ea typeface="Calibri" pitchFamily="34" charset="-122"/>
                <a:cs typeface="Calibri" pitchFamily="34" charset="-120"/>
              </a:rPr>
              <a:t> Designed to flag missing-policy queries (fix in progress).</a:t>
            </a:r>
            <a:endParaRPr lang="en-US" sz="1200" dirty="0"/>
          </a:p>
          <a:p>
            <a:pPr marL="177800" indent="-177800">
              <a:spcAft>
                <a:spcPts val="700"/>
              </a:spcAft>
              <a:buSzPct val="100000"/>
              <a:buChar char="•"/>
            </a:pPr>
            <a:r>
              <a:rPr lang="en-US" sz="1250" b="1" dirty="0">
                <a:solidFill>
                  <a:srgbClr val="1E293B"/>
                </a:solidFill>
                <a:latin typeface="Calibri" pitchFamily="34" charset="0"/>
                <a:ea typeface="Calibri" pitchFamily="34" charset="-122"/>
                <a:cs typeface="Calibri" pitchFamily="34" charset="-120"/>
              </a:rPr>
              <a:t>Compliance shield: </a:t>
            </a:r>
            <a:r>
              <a:rPr lang="en-US" sz="1250" dirty="0">
                <a:solidFill>
                  <a:srgbClr val="334155"/>
                </a:solidFill>
                <a:latin typeface="Calibri" pitchFamily="34" charset="0"/>
                <a:ea typeface="Calibri" pitchFamily="34" charset="-122"/>
                <a:cs typeface="Calibri" pitchFamily="34" charset="-120"/>
              </a:rPr>
              <a:t>Helps prevent regulatory fines.</a:t>
            </a:r>
            <a:endParaRPr lang="en-US" sz="1200" dirty="0"/>
          </a:p>
        </p:txBody>
      </p:sp>
      <p:sp>
        <p:nvSpPr>
          <p:cNvPr id="14" name="Text 12"/>
          <p:cNvSpPr txBox="1"/>
          <p:nvPr/>
        </p:nvSpPr>
        <p:spPr>
          <a:xfrm>
            <a:off x="457200" y="4041648"/>
            <a:ext cx="7315200" cy="32004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Business Impact (demo measurements &amp; estimates)</a:t>
            </a:r>
            <a:endParaRPr lang="en-US" sz="1400" dirty="0"/>
          </a:p>
        </p:txBody>
      </p:sp>
      <p:sp>
        <p:nvSpPr>
          <p:cNvPr id="15" name="Shape 13"/>
          <p:cNvSpPr/>
          <p:nvPr/>
        </p:nvSpPr>
        <p:spPr>
          <a:xfrm>
            <a:off x="457200" y="4434840"/>
            <a:ext cx="5852160" cy="1920240"/>
          </a:xfrm>
          <a:prstGeom prst="roundRect">
            <a:avLst>
              <a:gd name="adj" fmla="val 5714"/>
            </a:avLst>
          </a:prstGeom>
          <a:solidFill>
            <a:srgbClr val="FFFFFF"/>
          </a:solidFill>
          <a:ln w="12700">
            <a:solidFill>
              <a:srgbClr val="CBD5E1"/>
            </a:solidFill>
            <a:prstDash val="solid"/>
          </a:ln>
        </p:spPr>
      </p:sp>
      <p:graphicFrame>
        <p:nvGraphicFramePr>
          <p:cNvPr id="16" name="Chart 0"/>
          <p:cNvGraphicFramePr/>
          <p:nvPr/>
        </p:nvGraphicFramePr>
        <p:xfrm>
          <a:off x="548640" y="4480560"/>
          <a:ext cx="566928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4"/>
          <p:cNvSpPr/>
          <p:nvPr/>
        </p:nvSpPr>
        <p:spPr>
          <a:xfrm>
            <a:off x="6492240" y="4434840"/>
            <a:ext cx="5239512" cy="603504"/>
          </a:xfrm>
          <a:prstGeom prst="roundRect">
            <a:avLst>
              <a:gd name="adj" fmla="val 18182"/>
            </a:avLst>
          </a:prstGeom>
          <a:solidFill>
            <a:srgbClr val="FFFFFF"/>
          </a:solidFill>
          <a:ln w="12700">
            <a:solidFill>
              <a:srgbClr val="CBD5E1"/>
            </a:solidFill>
            <a:prstDash val="solid"/>
          </a:ln>
        </p:spPr>
      </p:sp>
      <p:sp>
        <p:nvSpPr>
          <p:cNvPr id="18" name="Text 15"/>
          <p:cNvSpPr txBox="1"/>
          <p:nvPr/>
        </p:nvSpPr>
        <p:spPr>
          <a:xfrm>
            <a:off x="6675120" y="4434840"/>
            <a:ext cx="1737360" cy="603504"/>
          </a:xfrm>
          <a:prstGeom prst="rect">
            <a:avLst/>
          </a:prstGeom>
          <a:noFill/>
          <a:ln/>
        </p:spPr>
        <p:txBody>
          <a:bodyPr wrap="square" lIns="0" tIns="0" rIns="0" bIns="0" rtlCol="0" anchor="ctr"/>
          <a:lstStyle/>
          <a:p>
            <a:pPr marL="0" indent="0">
              <a:buNone/>
            </a:pPr>
            <a:r>
              <a:rPr lang="en-US" sz="2200" b="1" dirty="0">
                <a:solidFill>
                  <a:srgbClr val="0284C7"/>
                </a:solidFill>
                <a:latin typeface="Calibri" pitchFamily="34" charset="0"/>
                <a:ea typeface="Calibri" pitchFamily="34" charset="-122"/>
                <a:cs typeface="Calibri" pitchFamily="34" charset="-120"/>
              </a:rPr>
              <a:t>+1,300ms</a:t>
            </a:r>
            <a:endParaRPr lang="en-US" sz="2200" dirty="0"/>
          </a:p>
        </p:txBody>
      </p:sp>
      <p:sp>
        <p:nvSpPr>
          <p:cNvPr id="19" name="Text 16"/>
          <p:cNvSpPr txBox="1"/>
          <p:nvPr/>
        </p:nvSpPr>
        <p:spPr>
          <a:xfrm>
            <a:off x="8458200" y="4434840"/>
            <a:ext cx="3154680" cy="603504"/>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Retrieval head start (≈72% of a 1,800ms turn wait)</a:t>
            </a:r>
            <a:endParaRPr lang="en-US" sz="1200" dirty="0"/>
          </a:p>
        </p:txBody>
      </p:sp>
      <p:sp>
        <p:nvSpPr>
          <p:cNvPr id="20" name="Shape 17"/>
          <p:cNvSpPr/>
          <p:nvPr/>
        </p:nvSpPr>
        <p:spPr>
          <a:xfrm>
            <a:off x="6492240" y="5093208"/>
            <a:ext cx="5239512" cy="603504"/>
          </a:xfrm>
          <a:prstGeom prst="roundRect">
            <a:avLst>
              <a:gd name="adj" fmla="val 18182"/>
            </a:avLst>
          </a:prstGeom>
          <a:solidFill>
            <a:srgbClr val="FFFFFF"/>
          </a:solidFill>
          <a:ln w="12700">
            <a:solidFill>
              <a:srgbClr val="CBD5E1"/>
            </a:solidFill>
            <a:prstDash val="solid"/>
          </a:ln>
        </p:spPr>
      </p:sp>
      <p:sp>
        <p:nvSpPr>
          <p:cNvPr id="21" name="Text 18"/>
          <p:cNvSpPr txBox="1"/>
          <p:nvPr/>
        </p:nvSpPr>
        <p:spPr>
          <a:xfrm>
            <a:off x="6675120" y="5093208"/>
            <a:ext cx="1737360" cy="603504"/>
          </a:xfrm>
          <a:prstGeom prst="rect">
            <a:avLst/>
          </a:prstGeom>
          <a:noFill/>
          <a:ln/>
        </p:spPr>
        <p:txBody>
          <a:bodyPr wrap="square" lIns="0" tIns="0" rIns="0" bIns="0" rtlCol="0" anchor="ctr"/>
          <a:lstStyle/>
          <a:p>
            <a:pPr marL="0" indent="0">
              <a:buNone/>
            </a:pPr>
            <a:r>
              <a:rPr lang="en-US" sz="2200" b="1" dirty="0">
                <a:solidFill>
                  <a:srgbClr val="10B981"/>
                </a:solidFill>
                <a:latin typeface="Calibri" pitchFamily="34" charset="0"/>
                <a:ea typeface="Calibri" pitchFamily="34" charset="-122"/>
                <a:cs typeface="Calibri" pitchFamily="34" charset="-120"/>
              </a:rPr>
              <a:t>40%</a:t>
            </a:r>
            <a:endParaRPr lang="en-US" sz="2200" dirty="0"/>
          </a:p>
        </p:txBody>
      </p:sp>
      <p:sp>
        <p:nvSpPr>
          <p:cNvPr id="22" name="Text 19"/>
          <p:cNvSpPr txBox="1"/>
          <p:nvPr/>
        </p:nvSpPr>
        <p:spPr>
          <a:xfrm>
            <a:off x="8458200" y="5093208"/>
            <a:ext cx="3154680" cy="603504"/>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Vector compute saved via Gate 0 (one demo session, 31 chunks)</a:t>
            </a:r>
            <a:endParaRPr lang="en-US" sz="1200" dirty="0"/>
          </a:p>
        </p:txBody>
      </p:sp>
      <p:sp>
        <p:nvSpPr>
          <p:cNvPr id="23" name="Shape 20"/>
          <p:cNvSpPr/>
          <p:nvPr/>
        </p:nvSpPr>
        <p:spPr>
          <a:xfrm>
            <a:off x="6492240" y="5751576"/>
            <a:ext cx="5239512" cy="603504"/>
          </a:xfrm>
          <a:prstGeom prst="roundRect">
            <a:avLst>
              <a:gd name="adj" fmla="val 18182"/>
            </a:avLst>
          </a:prstGeom>
          <a:solidFill>
            <a:srgbClr val="FFFFFF"/>
          </a:solidFill>
          <a:ln w="12700">
            <a:solidFill>
              <a:srgbClr val="CBD5E1"/>
            </a:solidFill>
            <a:prstDash val="solid"/>
          </a:ln>
        </p:spPr>
      </p:sp>
      <p:sp>
        <p:nvSpPr>
          <p:cNvPr id="24" name="Text 21"/>
          <p:cNvSpPr txBox="1"/>
          <p:nvPr/>
        </p:nvSpPr>
        <p:spPr>
          <a:xfrm>
            <a:off x="6675120" y="5751576"/>
            <a:ext cx="1737360" cy="603504"/>
          </a:xfrm>
          <a:prstGeom prst="rect">
            <a:avLst/>
          </a:prstGeom>
          <a:noFill/>
          <a:ln/>
        </p:spPr>
        <p:txBody>
          <a:bodyPr wrap="square" lIns="0" tIns="0" rIns="0" bIns="0" rtlCol="0" anchor="ctr"/>
          <a:lstStyle/>
          <a:p>
            <a:pPr marL="0" indent="0">
              <a:buNone/>
            </a:pPr>
            <a:r>
              <a:rPr lang="en-US" sz="2200" b="1" dirty="0">
                <a:solidFill>
                  <a:srgbClr val="704EA6"/>
                </a:solidFill>
                <a:latin typeface="Calibri" pitchFamily="34" charset="0"/>
                <a:ea typeface="Calibri" pitchFamily="34" charset="-122"/>
                <a:cs typeface="Calibri" pitchFamily="34" charset="-120"/>
              </a:rPr>
              <a:t>100%</a:t>
            </a:r>
            <a:endParaRPr lang="en-US" sz="2200" dirty="0"/>
          </a:p>
        </p:txBody>
      </p:sp>
      <p:sp>
        <p:nvSpPr>
          <p:cNvPr id="25" name="Text 22"/>
          <p:cNvSpPr txBox="1"/>
          <p:nvPr/>
        </p:nvSpPr>
        <p:spPr>
          <a:xfrm>
            <a:off x="8458200" y="5751576"/>
            <a:ext cx="3154680" cy="603504"/>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Attribution precision (same demo session, 31 chunks)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600" b="1" dirty="0">
                <a:solidFill>
                  <a:srgbClr val="704EA6"/>
                </a:solidFill>
                <a:latin typeface="Calibri" pitchFamily="34" charset="0"/>
                <a:ea typeface="Calibri" pitchFamily="34" charset="-122"/>
                <a:cs typeface="Calibri" pitchFamily="34" charset="-120"/>
              </a:rPr>
              <a:t>Innovation Highlights &amp; Empirical Results</a:t>
            </a:r>
            <a:endParaRPr lang="en-US" sz="2600" dirty="0"/>
          </a:p>
        </p:txBody>
      </p:sp>
      <p:sp>
        <p:nvSpPr>
          <p:cNvPr id="3" name="Text 1"/>
          <p:cNvSpPr txBox="1"/>
          <p:nvPr/>
        </p:nvSpPr>
        <p:spPr>
          <a:xfrm>
            <a:off x="457200" y="6492240"/>
            <a:ext cx="9144000" cy="228600"/>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Samsung PRISM GenAI Hackathon 2026–27  |  Team 4 Bottle Codeka  |  Theme 4: Streaming Live RAG</a:t>
            </a:r>
            <a:endParaRPr lang="en-US" sz="900" dirty="0"/>
          </a:p>
        </p:txBody>
      </p:sp>
      <p:sp>
        <p:nvSpPr>
          <p:cNvPr id="4" name="Text 2"/>
          <p:cNvSpPr txBox="1"/>
          <p:nvPr/>
        </p:nvSpPr>
        <p:spPr>
          <a:xfrm>
            <a:off x="11274552" y="6492240"/>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457200" y="1051560"/>
            <a:ext cx="5120640" cy="2697480"/>
          </a:xfrm>
          <a:prstGeom prst="roundRect">
            <a:avLst>
              <a:gd name="adj" fmla="val 4068"/>
            </a:avLst>
          </a:prstGeom>
          <a:solidFill>
            <a:srgbClr val="F8FAFC"/>
          </a:solidFill>
          <a:ln w="12700">
            <a:solidFill>
              <a:srgbClr val="CBD5E1"/>
            </a:solidFill>
            <a:prstDash val="solid"/>
          </a:ln>
        </p:spPr>
      </p:sp>
      <p:sp>
        <p:nvSpPr>
          <p:cNvPr id="6" name="Text 4"/>
          <p:cNvSpPr txBox="1"/>
          <p:nvPr/>
        </p:nvSpPr>
        <p:spPr>
          <a:xfrm>
            <a:off x="640080" y="1115568"/>
            <a:ext cx="475488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Architectural Innovations</a:t>
            </a:r>
            <a:endParaRPr lang="en-US" sz="1400" dirty="0"/>
          </a:p>
        </p:txBody>
      </p:sp>
      <p:sp>
        <p:nvSpPr>
          <p:cNvPr id="7" name="Text 5"/>
          <p:cNvSpPr txBox="1"/>
          <p:nvPr/>
        </p:nvSpPr>
        <p:spPr>
          <a:xfrm>
            <a:off x="640080" y="1536192"/>
            <a:ext cx="4754880" cy="2148840"/>
          </a:xfrm>
          <a:prstGeom prst="rect">
            <a:avLst/>
          </a:prstGeom>
          <a:noFill/>
          <a:ln/>
        </p:spPr>
        <p:txBody>
          <a:bodyPr wrap="square" lIns="0" tIns="0" rIns="0" bIns="0" rtlCol="0" anchor="t"/>
          <a:lstStyle/>
          <a:p>
            <a:pPr marL="177800" indent="-1778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Sub-utterance trigger: </a:t>
            </a:r>
            <a:r>
              <a:rPr lang="en-US" sz="1450" dirty="0">
                <a:solidFill>
                  <a:srgbClr val="334155"/>
                </a:solidFill>
                <a:latin typeface="Calibri" pitchFamily="34" charset="0"/>
                <a:ea typeface="Calibri" pitchFamily="34" charset="-122"/>
                <a:cs typeface="Calibri" pitchFamily="34" charset="-120"/>
              </a:rPr>
              <a:t>Retrieval starts at token 6–8.</a:t>
            </a:r>
            <a:endParaRPr lang="en-US" sz="1200" dirty="0"/>
          </a:p>
          <a:p>
            <a:pPr marL="177800" indent="-1778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Pivot invalidation: </a:t>
            </a:r>
            <a:r>
              <a:rPr lang="en-US" sz="1450" dirty="0">
                <a:solidFill>
                  <a:srgbClr val="334155"/>
                </a:solidFill>
                <a:latin typeface="Calibri" pitchFamily="34" charset="0"/>
                <a:ea typeface="Calibri" pitchFamily="34" charset="-122"/>
                <a:cs typeface="Calibri" pitchFamily="34" charset="-120"/>
              </a:rPr>
              <a:t>Aborts pending searches on self-correction.</a:t>
            </a:r>
            <a:endParaRPr lang="en-US" sz="1200" dirty="0"/>
          </a:p>
          <a:p>
            <a:pPr marL="177800" indent="-1778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Gate 0 suppression: </a:t>
            </a:r>
            <a:r>
              <a:rPr lang="en-US" sz="1450" dirty="0">
                <a:solidFill>
                  <a:srgbClr val="334155"/>
                </a:solidFill>
                <a:latin typeface="Calibri" pitchFamily="34" charset="0"/>
                <a:ea typeface="Calibri" pitchFamily="34" charset="-122"/>
                <a:cs typeface="Calibri" pitchFamily="34" charset="-120"/>
              </a:rPr>
              <a:t>Separates formatting from retrieval.</a:t>
            </a:r>
            <a:endParaRPr lang="en-US" sz="1200" dirty="0"/>
          </a:p>
          <a:p>
            <a:pPr marL="177800" indent="-1778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State lineage: </a:t>
            </a:r>
            <a:r>
              <a:rPr lang="en-US" sz="1450" dirty="0">
                <a:solidFill>
                  <a:srgbClr val="334155"/>
                </a:solidFill>
                <a:latin typeface="Calibri" pitchFamily="34" charset="0"/>
                <a:ea typeface="Calibri" pitchFamily="34" charset="-122"/>
                <a:cs typeface="Calibri" pitchFamily="34" charset="-120"/>
              </a:rPr>
              <a:t>Constraint updates (V1 → V2) without drift.</a:t>
            </a:r>
            <a:endParaRPr lang="en-US" sz="1200" dirty="0"/>
          </a:p>
        </p:txBody>
      </p:sp>
      <p:sp>
        <p:nvSpPr>
          <p:cNvPr id="8" name="Shape 6"/>
          <p:cNvSpPr/>
          <p:nvPr/>
        </p:nvSpPr>
        <p:spPr>
          <a:xfrm>
            <a:off x="5760720" y="1051560"/>
            <a:ext cx="5971032" cy="2697480"/>
          </a:xfrm>
          <a:prstGeom prst="roundRect">
            <a:avLst>
              <a:gd name="adj" fmla="val 4068"/>
            </a:avLst>
          </a:prstGeom>
          <a:solidFill>
            <a:srgbClr val="F8FAFC"/>
          </a:solidFill>
          <a:ln w="12700">
            <a:solidFill>
              <a:srgbClr val="CBD5E1"/>
            </a:solidFill>
            <a:prstDash val="solid"/>
          </a:ln>
        </p:spPr>
      </p:sp>
      <p:sp>
        <p:nvSpPr>
          <p:cNvPr id="9" name="Text 7"/>
          <p:cNvSpPr txBox="1"/>
          <p:nvPr/>
        </p:nvSpPr>
        <p:spPr>
          <a:xfrm>
            <a:off x="5943600" y="1115568"/>
            <a:ext cx="548640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Benchmark Results (G1–G9, simulated ASR chunks)</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0" y="1554480"/>
          <a:ext cx="5605272" cy="2084832"/>
        </p:xfrm>
        <a:graphic>
          <a:graphicData uri="http://schemas.openxmlformats.org/drawingml/2006/table">
            <a:tbl>
              <a:tblPr/>
              <a:tblGrid>
                <a:gridCol w="18288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033272">
                  <a:extLst>
                    <a:ext uri="{9D8B030D-6E8A-4147-A177-3AD203B41FA5}">
                      <a16:colId xmlns:a16="http://schemas.microsoft.com/office/drawing/2014/main" val="20003"/>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704EA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704EA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704EA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704EA6"/>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Speculative time gain</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+1,300ms</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 800ms</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478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TTFT (after trigger)</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16.0ms</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&lt; 50ms</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478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Multi-intent retrieval</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3 domains, ≤ 40ms</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Parallel</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478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Gate 0 suppression</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100% (0 queries)</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Reformat turns</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478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Gates G1–G9</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9 / 9 verified</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478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8"/>
          <p:cNvSpPr/>
          <p:nvPr/>
        </p:nvSpPr>
        <p:spPr>
          <a:xfrm>
            <a:off x="457200" y="3931920"/>
            <a:ext cx="6035040" cy="2423160"/>
          </a:xfrm>
          <a:prstGeom prst="roundRect">
            <a:avLst>
              <a:gd name="adj" fmla="val 4528"/>
            </a:avLst>
          </a:prstGeom>
          <a:solidFill>
            <a:srgbClr val="F8FAFC"/>
          </a:solidFill>
          <a:ln w="12700">
            <a:solidFill>
              <a:srgbClr val="CBD5E1"/>
            </a:solidFill>
            <a:prstDash val="solid"/>
          </a:ln>
        </p:spPr>
      </p:sp>
      <p:sp>
        <p:nvSpPr>
          <p:cNvPr id="12" name="Text 9"/>
          <p:cNvSpPr txBox="1"/>
          <p:nvPr/>
        </p:nvSpPr>
        <p:spPr>
          <a:xfrm>
            <a:off x="640080" y="3995928"/>
            <a:ext cx="5486400" cy="320040"/>
          </a:xfrm>
          <a:prstGeom prst="rect">
            <a:avLst/>
          </a:prstGeom>
          <a:noFill/>
          <a:ln/>
        </p:spPr>
        <p:txBody>
          <a:bodyPr wrap="square" lIns="0" tIns="0" rIns="0" bIns="0" rtlCol="0" anchor="ctr"/>
          <a:lstStyle/>
          <a:p>
            <a:pPr marL="0" indent="0">
              <a:buNone/>
            </a:pPr>
            <a:r>
              <a:rPr lang="en-US" sz="1400" b="1" dirty="0">
                <a:solidFill>
                  <a:srgbClr val="704EA6"/>
                </a:solidFill>
                <a:latin typeface="Calibri" pitchFamily="34" charset="0"/>
                <a:ea typeface="Calibri" pitchFamily="34" charset="-122"/>
                <a:cs typeface="Calibri" pitchFamily="34" charset="-120"/>
              </a:rPr>
              <a:t>Gate 0 Semantic Suppression Logic</a:t>
            </a:r>
            <a:endParaRPr lang="en-US" sz="1400" dirty="0"/>
          </a:p>
        </p:txBody>
      </p:sp>
      <p:sp>
        <p:nvSpPr>
          <p:cNvPr id="13" name="Shape 10"/>
          <p:cNvSpPr/>
          <p:nvPr/>
        </p:nvSpPr>
        <p:spPr>
          <a:xfrm>
            <a:off x="640080" y="4526280"/>
            <a:ext cx="2103120" cy="502920"/>
          </a:xfrm>
          <a:prstGeom prst="roundRect">
            <a:avLst>
              <a:gd name="adj" fmla="val 14545"/>
            </a:avLst>
          </a:prstGeom>
          <a:solidFill>
            <a:srgbClr val="FFFFFF"/>
          </a:solidFill>
          <a:ln w="12700">
            <a:solidFill>
              <a:srgbClr val="CBD5E1"/>
            </a:solidFill>
            <a:prstDash val="solid"/>
          </a:ln>
        </p:spPr>
      </p:sp>
      <p:sp>
        <p:nvSpPr>
          <p:cNvPr id="14" name="Text 11"/>
          <p:cNvSpPr txBox="1"/>
          <p:nvPr/>
        </p:nvSpPr>
        <p:spPr>
          <a:xfrm>
            <a:off x="640080" y="4526280"/>
            <a:ext cx="2103120" cy="502920"/>
          </a:xfrm>
          <a:prstGeom prst="rect">
            <a:avLst/>
          </a:prstGeom>
          <a:noFill/>
          <a:ln/>
        </p:spPr>
        <p:txBody>
          <a:bodyPr wrap="square" lIns="508" tIns="508" rIns="508" bIns="508"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User: “Format it into bullets”</a:t>
            </a:r>
            <a:endParaRPr lang="en-US" sz="1050" dirty="0"/>
          </a:p>
        </p:txBody>
      </p:sp>
      <p:sp>
        <p:nvSpPr>
          <p:cNvPr id="15" name="Shape 12"/>
          <p:cNvSpPr/>
          <p:nvPr/>
        </p:nvSpPr>
        <p:spPr>
          <a:xfrm>
            <a:off x="2779776" y="4777740"/>
            <a:ext cx="274320" cy="0"/>
          </a:xfrm>
          <a:prstGeom prst="line">
            <a:avLst/>
          </a:prstGeom>
          <a:noFill/>
          <a:ln w="22225">
            <a:solidFill>
              <a:srgbClr val="64748B"/>
            </a:solidFill>
            <a:prstDash val="solid"/>
            <a:tailEnd type="triangle"/>
          </a:ln>
        </p:spPr>
      </p:sp>
      <p:sp>
        <p:nvSpPr>
          <p:cNvPr id="16" name="Shape 13"/>
          <p:cNvSpPr/>
          <p:nvPr/>
        </p:nvSpPr>
        <p:spPr>
          <a:xfrm>
            <a:off x="3090672" y="4526280"/>
            <a:ext cx="1371600" cy="502920"/>
          </a:xfrm>
          <a:prstGeom prst="roundRect">
            <a:avLst>
              <a:gd name="adj" fmla="val 14545"/>
            </a:avLst>
          </a:prstGeom>
          <a:solidFill>
            <a:srgbClr val="FFFFFF"/>
          </a:solidFill>
          <a:ln w="12700">
            <a:solidFill>
              <a:srgbClr val="CBD5E1"/>
            </a:solidFill>
            <a:prstDash val="solid"/>
          </a:ln>
        </p:spPr>
      </p:sp>
      <p:sp>
        <p:nvSpPr>
          <p:cNvPr id="17" name="Text 14"/>
          <p:cNvSpPr txBox="1"/>
          <p:nvPr/>
        </p:nvSpPr>
        <p:spPr>
          <a:xfrm>
            <a:off x="3090672" y="4526280"/>
            <a:ext cx="1371600" cy="502920"/>
          </a:xfrm>
          <a:prstGeom prst="rect">
            <a:avLst/>
          </a:prstGeom>
          <a:noFill/>
          <a:ln/>
        </p:spPr>
        <p:txBody>
          <a:bodyPr wrap="square" lIns="508" tIns="508" rIns="508" bIns="508"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Intent router</a:t>
            </a:r>
            <a:endParaRPr lang="en-US" sz="1050" dirty="0"/>
          </a:p>
        </p:txBody>
      </p:sp>
      <p:sp>
        <p:nvSpPr>
          <p:cNvPr id="18" name="Shape 15"/>
          <p:cNvSpPr/>
          <p:nvPr/>
        </p:nvSpPr>
        <p:spPr>
          <a:xfrm>
            <a:off x="4498848" y="4777740"/>
            <a:ext cx="274320" cy="0"/>
          </a:xfrm>
          <a:prstGeom prst="line">
            <a:avLst/>
          </a:prstGeom>
          <a:noFill/>
          <a:ln w="22225">
            <a:solidFill>
              <a:srgbClr val="64748B"/>
            </a:solidFill>
            <a:prstDash val="solid"/>
            <a:tailEnd type="triangle"/>
          </a:ln>
        </p:spPr>
      </p:sp>
      <p:sp>
        <p:nvSpPr>
          <p:cNvPr id="19" name="Shape 16"/>
          <p:cNvSpPr/>
          <p:nvPr/>
        </p:nvSpPr>
        <p:spPr>
          <a:xfrm>
            <a:off x="4809744" y="4526280"/>
            <a:ext cx="1508760" cy="502920"/>
          </a:xfrm>
          <a:prstGeom prst="roundRect">
            <a:avLst>
              <a:gd name="adj" fmla="val 14545"/>
            </a:avLst>
          </a:prstGeom>
          <a:solidFill>
            <a:srgbClr val="FEF9C3"/>
          </a:solidFill>
          <a:ln w="12700">
            <a:solidFill>
              <a:srgbClr val="FDE047"/>
            </a:solidFill>
            <a:prstDash val="solid"/>
          </a:ln>
        </p:spPr>
      </p:sp>
      <p:sp>
        <p:nvSpPr>
          <p:cNvPr id="20" name="Text 17"/>
          <p:cNvSpPr txBox="1"/>
          <p:nvPr/>
        </p:nvSpPr>
        <p:spPr>
          <a:xfrm>
            <a:off x="4809744" y="4526280"/>
            <a:ext cx="1508760" cy="502920"/>
          </a:xfrm>
          <a:prstGeom prst="rect">
            <a:avLst/>
          </a:prstGeom>
          <a:noFill/>
          <a:ln/>
        </p:spPr>
        <p:txBody>
          <a:bodyPr wrap="square" lIns="508" tIns="508" rIns="508" bIns="508"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Pure reformatting?</a:t>
            </a:r>
            <a:endParaRPr lang="en-US" sz="1050" dirty="0"/>
          </a:p>
        </p:txBody>
      </p:sp>
      <p:sp>
        <p:nvSpPr>
          <p:cNvPr id="21" name="Text 18"/>
          <p:cNvSpPr txBox="1"/>
          <p:nvPr/>
        </p:nvSpPr>
        <p:spPr>
          <a:xfrm>
            <a:off x="5394960" y="5074920"/>
            <a:ext cx="457200" cy="228600"/>
          </a:xfrm>
          <a:prstGeom prst="rect">
            <a:avLst/>
          </a:prstGeom>
          <a:noFill/>
          <a:ln/>
        </p:spPr>
        <p:txBody>
          <a:bodyPr wrap="square" lIns="0" tIns="0" rIns="0" bIns="0" rtlCol="0" anchor="t"/>
          <a:lstStyle/>
          <a:p>
            <a:pPr marL="0" indent="0">
              <a:buNone/>
            </a:pPr>
            <a:r>
              <a:rPr lang="en-US" sz="1000" b="1" dirty="0">
                <a:solidFill>
                  <a:srgbClr val="047857"/>
                </a:solidFill>
                <a:latin typeface="Calibri" pitchFamily="34" charset="0"/>
                <a:ea typeface="Calibri" pitchFamily="34" charset="-122"/>
                <a:cs typeface="Calibri" pitchFamily="34" charset="-120"/>
              </a:rPr>
              <a:t>YES</a:t>
            </a:r>
            <a:endParaRPr lang="en-US" sz="1000" dirty="0"/>
          </a:p>
        </p:txBody>
      </p:sp>
      <p:sp>
        <p:nvSpPr>
          <p:cNvPr id="22" name="Shape 19"/>
          <p:cNvSpPr/>
          <p:nvPr/>
        </p:nvSpPr>
        <p:spPr>
          <a:xfrm>
            <a:off x="5559552" y="5029200"/>
            <a:ext cx="0" cy="365760"/>
          </a:xfrm>
          <a:prstGeom prst="line">
            <a:avLst/>
          </a:prstGeom>
          <a:noFill/>
          <a:ln w="22225">
            <a:solidFill>
              <a:srgbClr val="64748B"/>
            </a:solidFill>
            <a:prstDash val="solid"/>
            <a:tailEnd type="triangle"/>
          </a:ln>
        </p:spPr>
      </p:sp>
      <p:sp>
        <p:nvSpPr>
          <p:cNvPr id="23" name="Shape 20"/>
          <p:cNvSpPr/>
          <p:nvPr/>
        </p:nvSpPr>
        <p:spPr>
          <a:xfrm>
            <a:off x="3108960" y="5440680"/>
            <a:ext cx="3200400" cy="548640"/>
          </a:xfrm>
          <a:prstGeom prst="roundRect">
            <a:avLst>
              <a:gd name="adj" fmla="val 13333"/>
            </a:avLst>
          </a:prstGeom>
          <a:solidFill>
            <a:srgbClr val="DCFCE7"/>
          </a:solidFill>
          <a:ln w="12700">
            <a:solidFill>
              <a:srgbClr val="86EFAC"/>
            </a:solidFill>
            <a:prstDash val="solid"/>
          </a:ln>
        </p:spPr>
      </p:sp>
      <p:sp>
        <p:nvSpPr>
          <p:cNvPr id="24" name="Text 21"/>
          <p:cNvSpPr txBox="1"/>
          <p:nvPr/>
        </p:nvSpPr>
        <p:spPr>
          <a:xfrm>
            <a:off x="3108960" y="5440680"/>
            <a:ext cx="3200400" cy="548640"/>
          </a:xfrm>
          <a:prstGeom prst="rect">
            <a:avLst/>
          </a:prstGeom>
          <a:noFill/>
          <a:ln/>
        </p:spPr>
        <p:txBody>
          <a:bodyPr wrap="square" lIns="508" tIns="508" rIns="508" bIns="508"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BYPASS vectors: generate output directly (0 queries)</a:t>
            </a:r>
            <a:endParaRPr lang="en-US" sz="1050" dirty="0"/>
          </a:p>
        </p:txBody>
      </p:sp>
      <p:sp>
        <p:nvSpPr>
          <p:cNvPr id="25" name="Text 22"/>
          <p:cNvSpPr txBox="1"/>
          <p:nvPr/>
        </p:nvSpPr>
        <p:spPr>
          <a:xfrm>
            <a:off x="640080" y="5577840"/>
            <a:ext cx="2377440" cy="3657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NO → run hybrid retrieval as usual</a:t>
            </a:r>
            <a:endParaRPr lang="en-US" sz="1050" dirty="0"/>
          </a:p>
        </p:txBody>
      </p:sp>
      <p:sp>
        <p:nvSpPr>
          <p:cNvPr id="26" name="Shape 23"/>
          <p:cNvSpPr/>
          <p:nvPr/>
        </p:nvSpPr>
        <p:spPr>
          <a:xfrm>
            <a:off x="6675120" y="3931920"/>
            <a:ext cx="5056632" cy="2423160"/>
          </a:xfrm>
          <a:prstGeom prst="roundRect">
            <a:avLst>
              <a:gd name="adj" fmla="val 4528"/>
            </a:avLst>
          </a:prstGeom>
          <a:solidFill>
            <a:srgbClr val="F8FAFC"/>
          </a:solidFill>
          <a:ln w="12700">
            <a:solidFill>
              <a:srgbClr val="CBD5E1"/>
            </a:solidFill>
            <a:prstDash val="solid"/>
          </a:ln>
        </p:spPr>
      </p:sp>
      <p:sp>
        <p:nvSpPr>
          <p:cNvPr id="27" name="Text 24"/>
          <p:cNvSpPr txBox="1"/>
          <p:nvPr/>
        </p:nvSpPr>
        <p:spPr>
          <a:xfrm>
            <a:off x="6858000" y="3995928"/>
            <a:ext cx="4663440" cy="32004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Engineering Limitations &amp; Mitigations</a:t>
            </a:r>
            <a:endParaRPr lang="en-US" sz="1400" dirty="0"/>
          </a:p>
        </p:txBody>
      </p:sp>
      <p:sp>
        <p:nvSpPr>
          <p:cNvPr id="28" name="Text 25"/>
          <p:cNvSpPr txBox="1"/>
          <p:nvPr/>
        </p:nvSpPr>
        <p:spPr>
          <a:xfrm>
            <a:off x="6858000" y="4434840"/>
            <a:ext cx="4709160" cy="1828800"/>
          </a:xfrm>
          <a:prstGeom prst="rect">
            <a:avLst/>
          </a:prstGeom>
          <a:noFill/>
          <a:ln/>
        </p:spPr>
        <p:txBody>
          <a:bodyPr wrap="square" lIns="0" tIns="0" rIns="0" bIns="0" rtlCol="0" anchor="t"/>
          <a:lstStyle/>
          <a:p>
            <a:pPr marL="177800" indent="-177800">
              <a:spcAft>
                <a:spcPts val="1200"/>
              </a:spcAft>
              <a:buSzPct val="100000"/>
              <a:buChar char="•"/>
            </a:pPr>
            <a:r>
              <a:rPr lang="en-US" sz="1250" b="1" dirty="0">
                <a:solidFill>
                  <a:srgbClr val="1E293B"/>
                </a:solidFill>
                <a:latin typeface="Calibri" pitchFamily="34" charset="0"/>
                <a:ea typeface="Calibri" pitchFamily="34" charset="-122"/>
                <a:cs typeface="Calibri" pitchFamily="34" charset="-120"/>
              </a:rPr>
              <a:t>Simulated ASR:</a:t>
            </a:r>
            <a:r>
              <a:rPr lang="en-US" sz="1250" dirty="0">
                <a:solidFill>
                  <a:srgbClr val="334155"/>
                </a:solidFill>
                <a:latin typeface="Calibri" pitchFamily="34" charset="0"/>
                <a:ea typeface="Calibri" pitchFamily="34" charset="-122"/>
                <a:cs typeface="Calibri" pitchFamily="34" charset="-120"/>
              </a:rPr>
              <a:t> demo streams text chunks; live ASR is Phase 1.</a:t>
            </a:r>
            <a:endParaRPr lang="en-US" sz="1200" dirty="0"/>
          </a:p>
          <a:p>
            <a:pPr marL="177800" indent="-177800">
              <a:spcAft>
                <a:spcPts val="1200"/>
              </a:spcAft>
              <a:buSzPct val="100000"/>
              <a:buChar char="•"/>
            </a:pPr>
            <a:r>
              <a:rPr lang="en-US" sz="1250" b="1" dirty="0">
                <a:solidFill>
                  <a:srgbClr val="1E293B"/>
                </a:solidFill>
                <a:latin typeface="Calibri" pitchFamily="34" charset="0"/>
                <a:ea typeface="Calibri" pitchFamily="34" charset="-122"/>
                <a:cs typeface="Calibri" pitchFamily="34" charset="-120"/>
              </a:rPr>
              <a:t>Semi-structured PDFs: </a:t>
            </a:r>
            <a:r>
              <a:rPr lang="en-US" sz="1250" dirty="0">
                <a:solidFill>
                  <a:srgbClr val="334155"/>
                </a:solidFill>
                <a:latin typeface="Calibri" pitchFamily="34" charset="0"/>
                <a:ea typeface="Calibri" pitchFamily="34" charset="-122"/>
                <a:cs typeface="Calibri" pitchFamily="34" charset="-120"/>
              </a:rPr>
              <a:t>need section headers; rule-based chunking.</a:t>
            </a:r>
            <a:endParaRPr lang="en-US" sz="1200" dirty="0"/>
          </a:p>
          <a:p>
            <a:pPr marL="177800" indent="-177800">
              <a:spcAft>
                <a:spcPts val="1200"/>
              </a:spcAft>
              <a:buSzPct val="100000"/>
              <a:buChar char="•"/>
            </a:pPr>
            <a:r>
              <a:rPr lang="en-US" sz="1250" b="1" dirty="0">
                <a:solidFill>
                  <a:srgbClr val="1E293B"/>
                </a:solidFill>
                <a:latin typeface="Calibri" pitchFamily="34" charset="0"/>
                <a:ea typeface="Calibri" pitchFamily="34" charset="-122"/>
                <a:cs typeface="Calibri" pitchFamily="34" charset="-120"/>
              </a:rPr>
              <a:t>Semi-structured PDFs: </a:t>
            </a:r>
            <a:r>
              <a:rPr lang="en-US" sz="1250" dirty="0">
                <a:solidFill>
                  <a:srgbClr val="334155"/>
                </a:solidFill>
                <a:latin typeface="Calibri" pitchFamily="34" charset="0"/>
                <a:ea typeface="Calibri" pitchFamily="34" charset="-122"/>
                <a:cs typeface="Calibri" pitchFamily="34" charset="-120"/>
              </a:rPr>
              <a:t>need section headers; rule-based chunking.</a:t>
            </a:r>
            <a:endParaRPr lang="en-US" sz="1200" dirty="0"/>
          </a:p>
          <a:p>
            <a:pPr marL="177800" indent="-177800">
              <a:spcAft>
                <a:spcPts val="1200"/>
              </a:spcAft>
              <a:buSzPct val="100000"/>
              <a:buChar char="•"/>
            </a:pPr>
            <a:r>
              <a:rPr lang="en-US" sz="1250" b="1" dirty="0">
                <a:solidFill>
                  <a:srgbClr val="1E293B"/>
                </a:solidFill>
                <a:latin typeface="Calibri" pitchFamily="34" charset="0"/>
                <a:ea typeface="Calibri" pitchFamily="34" charset="-122"/>
                <a:cs typeface="Calibri" pitchFamily="34" charset="-120"/>
              </a:rPr>
              <a:t>Streaming ASR jitter: </a:t>
            </a:r>
            <a:r>
              <a:rPr lang="en-US" sz="1250" dirty="0">
                <a:solidFill>
                  <a:srgbClr val="334155"/>
                </a:solidFill>
                <a:latin typeface="Calibri" pitchFamily="34" charset="0"/>
                <a:ea typeface="Calibri" pitchFamily="34" charset="-122"/>
                <a:cs typeface="Calibri" pitchFamily="34" charset="-120"/>
              </a:rPr>
              <a:t>rolling token thresholding.</a:t>
            </a:r>
            <a:endParaRPr lang="en-US" sz="1200" dirty="0"/>
          </a:p>
          <a:p>
            <a:pPr marL="177800" indent="-177800">
              <a:spcAft>
                <a:spcPts val="1200"/>
              </a:spcAft>
              <a:buSzPct val="100000"/>
              <a:buChar char="•"/>
            </a:pPr>
            <a:r>
              <a:rPr lang="en-US" sz="1250" b="1" dirty="0">
                <a:solidFill>
                  <a:srgbClr val="1E293B"/>
                </a:solidFill>
                <a:latin typeface="Calibri" pitchFamily="34" charset="0"/>
                <a:ea typeface="Calibri" pitchFamily="34" charset="-122"/>
                <a:cs typeface="Calibri" pitchFamily="34" charset="-120"/>
              </a:rPr>
              <a:t>Context bloat: </a:t>
            </a:r>
            <a:r>
              <a:rPr lang="en-US" sz="1250" dirty="0">
                <a:solidFill>
                  <a:srgbClr val="334155"/>
                </a:solidFill>
                <a:latin typeface="Calibri" pitchFamily="34" charset="0"/>
                <a:ea typeface="Calibri" pitchFamily="34" charset="-122"/>
                <a:cs typeface="Calibri" pitchFamily="34" charset="-120"/>
              </a:rPr>
              <a:t>KV caching and state compaction.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600" b="1" dirty="0">
                <a:solidFill>
                  <a:srgbClr val="704EA6"/>
                </a:solidFill>
                <a:latin typeface="Calibri" pitchFamily="34" charset="0"/>
                <a:ea typeface="Calibri" pitchFamily="34" charset="-122"/>
                <a:cs typeface="Calibri" pitchFamily="34" charset="-120"/>
              </a:rPr>
              <a:t>What’s Next &amp; Production Roadmap</a:t>
            </a:r>
            <a:endParaRPr lang="en-US" sz="2600" dirty="0"/>
          </a:p>
        </p:txBody>
      </p:sp>
      <p:sp>
        <p:nvSpPr>
          <p:cNvPr id="3" name="Text 1"/>
          <p:cNvSpPr txBox="1"/>
          <p:nvPr/>
        </p:nvSpPr>
        <p:spPr>
          <a:xfrm>
            <a:off x="457200" y="6492240"/>
            <a:ext cx="9144000" cy="228600"/>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Samsung PRISM GenAI Hackathon 2026–27  |  Team 4 Bottle Codeka  |  Theme 4: Streaming Live RAG</a:t>
            </a:r>
            <a:endParaRPr lang="en-US" sz="900" dirty="0"/>
          </a:p>
        </p:txBody>
      </p:sp>
      <p:sp>
        <p:nvSpPr>
          <p:cNvPr id="4" name="Text 2"/>
          <p:cNvSpPr txBox="1"/>
          <p:nvPr/>
        </p:nvSpPr>
        <p:spPr>
          <a:xfrm>
            <a:off x="11274552" y="6492240"/>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
        <p:nvSpPr>
          <p:cNvPr id="5" name="Shape 3"/>
          <p:cNvSpPr/>
          <p:nvPr/>
        </p:nvSpPr>
        <p:spPr>
          <a:xfrm>
            <a:off x="1188720" y="1828800"/>
            <a:ext cx="9784080" cy="0"/>
          </a:xfrm>
          <a:prstGeom prst="line">
            <a:avLst/>
          </a:prstGeom>
          <a:noFill/>
          <a:ln w="31750">
            <a:solidFill>
              <a:srgbClr val="704EA6"/>
            </a:solidFill>
            <a:prstDash val="solid"/>
            <a:tailEnd type="triangle"/>
          </a:ln>
        </p:spPr>
      </p:sp>
      <p:sp>
        <p:nvSpPr>
          <p:cNvPr id="6" name="Shape 4"/>
          <p:cNvSpPr/>
          <p:nvPr/>
        </p:nvSpPr>
        <p:spPr>
          <a:xfrm>
            <a:off x="457200" y="2331720"/>
            <a:ext cx="2697480" cy="3840480"/>
          </a:xfrm>
          <a:prstGeom prst="roundRect">
            <a:avLst>
              <a:gd name="adj" fmla="val 4068"/>
            </a:avLst>
          </a:prstGeom>
          <a:solidFill>
            <a:srgbClr val="F8FAFC"/>
          </a:solidFill>
          <a:ln w="12700">
            <a:solidFill>
              <a:srgbClr val="CBD5E1"/>
            </a:solidFill>
            <a:prstDash val="solid"/>
          </a:ln>
        </p:spPr>
      </p:sp>
      <p:sp>
        <p:nvSpPr>
          <p:cNvPr id="7" name="Shape 5"/>
          <p:cNvSpPr/>
          <p:nvPr/>
        </p:nvSpPr>
        <p:spPr>
          <a:xfrm>
            <a:off x="1554480" y="1463040"/>
            <a:ext cx="731520" cy="731520"/>
          </a:xfrm>
          <a:prstGeom prst="ellipse">
            <a:avLst/>
          </a:prstGeom>
          <a:solidFill>
            <a:srgbClr val="704EA6"/>
          </a:solidFill>
          <a:ln w="38100">
            <a:solidFill>
              <a:srgbClr val="FFFFFF"/>
            </a:solidFill>
            <a:prstDash val="solid"/>
          </a:ln>
        </p:spPr>
      </p:sp>
      <p:sp>
        <p:nvSpPr>
          <p:cNvPr id="8" name="Text 6"/>
          <p:cNvSpPr txBox="1"/>
          <p:nvPr/>
        </p:nvSpPr>
        <p:spPr>
          <a:xfrm>
            <a:off x="1554480" y="146304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txBox="1"/>
          <p:nvPr/>
        </p:nvSpPr>
        <p:spPr>
          <a:xfrm>
            <a:off x="640080" y="2468880"/>
            <a:ext cx="2331720" cy="320040"/>
          </a:xfrm>
          <a:prstGeom prst="rect">
            <a:avLst/>
          </a:prstGeom>
          <a:noFill/>
          <a:ln/>
        </p:spPr>
        <p:txBody>
          <a:bodyPr wrap="square" lIns="0" tIns="0" rIns="0" bIns="0" rtlCol="0" anchor="ctr"/>
          <a:lstStyle/>
          <a:p>
            <a:pPr marL="0" indent="0" algn="ctr">
              <a:buNone/>
            </a:pPr>
            <a:r>
              <a:rPr lang="en-US" sz="1300" b="1" dirty="0">
                <a:solidFill>
                  <a:srgbClr val="704EA6"/>
                </a:solidFill>
                <a:latin typeface="Calibri" pitchFamily="34" charset="0"/>
                <a:ea typeface="Calibri" pitchFamily="34" charset="-122"/>
                <a:cs typeface="Calibri" pitchFamily="34" charset="-120"/>
              </a:rPr>
              <a:t>Phase 1  |  Q1 2027</a:t>
            </a:r>
            <a:endParaRPr lang="en-US" sz="1300" dirty="0"/>
          </a:p>
        </p:txBody>
      </p:sp>
      <p:sp>
        <p:nvSpPr>
          <p:cNvPr id="10" name="Text 8"/>
          <p:cNvSpPr txBox="1"/>
          <p:nvPr/>
        </p:nvSpPr>
        <p:spPr>
          <a:xfrm>
            <a:off x="640080" y="2880360"/>
            <a:ext cx="2331720" cy="731520"/>
          </a:xfrm>
          <a:prstGeom prst="rect">
            <a:avLst/>
          </a:prstGeom>
          <a:noFill/>
          <a:ln/>
        </p:spPr>
        <p:txBody>
          <a:bodyPr wrap="square" lIns="0" tIns="0" rIns="0" bIns="0" rtlCol="0" anchor="ctr"/>
          <a:lstStyle/>
          <a:p>
            <a:pPr marL="0" indent="0" algn="ctr">
              <a:buNone/>
            </a:pPr>
            <a:r>
              <a:rPr lang="en-US" sz="1600" b="1" dirty="0">
                <a:solidFill>
                  <a:srgbClr val="1E293B"/>
                </a:solidFill>
                <a:latin typeface="Calibri" pitchFamily="34" charset="0"/>
                <a:ea typeface="Calibri" pitchFamily="34" charset="-122"/>
                <a:cs typeface="Calibri" pitchFamily="34" charset="-120"/>
              </a:rPr>
              <a:t>End-to-End Acoustic ASR</a:t>
            </a:r>
            <a:endParaRPr lang="en-US" sz="1600" dirty="0"/>
          </a:p>
        </p:txBody>
      </p:sp>
      <p:sp>
        <p:nvSpPr>
          <p:cNvPr id="11" name="Text 9"/>
          <p:cNvSpPr txBox="1"/>
          <p:nvPr/>
        </p:nvSpPr>
        <p:spPr>
          <a:xfrm>
            <a:off x="685800" y="3749040"/>
            <a:ext cx="2240280" cy="2286000"/>
          </a:xfrm>
          <a:prstGeom prst="rect">
            <a:avLst/>
          </a:prstGeom>
          <a:noFill/>
          <a:ln/>
        </p:spPr>
        <p:txBody>
          <a:bodyPr wrap="square" lIns="0" tIns="0" rIns="0" bIns="0" rtlCol="0" anchor="t"/>
          <a:lstStyle/>
          <a:p>
            <a:pPr marL="0" indent="0" algn="ctr">
              <a:buNone/>
            </a:pPr>
            <a:r>
              <a:rPr lang="en-US" sz="1450" dirty="0">
                <a:solidFill>
                  <a:srgbClr val="334155"/>
                </a:solidFill>
                <a:latin typeface="Calibri" pitchFamily="34" charset="0"/>
                <a:ea typeface="Calibri" pitchFamily="34" charset="-122"/>
                <a:cs typeface="Calibri" pitchFamily="34" charset="-120"/>
              </a:rPr>
              <a:t>Integrate Whisper / Conformer streaming ASR to trigger speculative retrieval on sub-word phoneme probabilities.</a:t>
            </a:r>
            <a:endParaRPr lang="en-US" sz="1450" dirty="0"/>
          </a:p>
        </p:txBody>
      </p:sp>
      <p:sp>
        <p:nvSpPr>
          <p:cNvPr id="12" name="Shape 10"/>
          <p:cNvSpPr/>
          <p:nvPr/>
        </p:nvSpPr>
        <p:spPr>
          <a:xfrm>
            <a:off x="3291840" y="2331720"/>
            <a:ext cx="2697480" cy="3840480"/>
          </a:xfrm>
          <a:prstGeom prst="roundRect">
            <a:avLst>
              <a:gd name="adj" fmla="val 4068"/>
            </a:avLst>
          </a:prstGeom>
          <a:solidFill>
            <a:srgbClr val="F8FAFC"/>
          </a:solidFill>
          <a:ln w="12700">
            <a:solidFill>
              <a:srgbClr val="CBD5E1"/>
            </a:solidFill>
            <a:prstDash val="solid"/>
          </a:ln>
        </p:spPr>
      </p:sp>
      <p:sp>
        <p:nvSpPr>
          <p:cNvPr id="13" name="Shape 11"/>
          <p:cNvSpPr/>
          <p:nvPr/>
        </p:nvSpPr>
        <p:spPr>
          <a:xfrm>
            <a:off x="4389120" y="1463040"/>
            <a:ext cx="731520" cy="731520"/>
          </a:xfrm>
          <a:prstGeom prst="ellipse">
            <a:avLst/>
          </a:prstGeom>
          <a:solidFill>
            <a:srgbClr val="704EA6"/>
          </a:solidFill>
          <a:ln w="38100">
            <a:solidFill>
              <a:srgbClr val="FFFFFF"/>
            </a:solidFill>
            <a:prstDash val="solid"/>
          </a:ln>
        </p:spPr>
      </p:sp>
      <p:sp>
        <p:nvSpPr>
          <p:cNvPr id="14" name="Text 12"/>
          <p:cNvSpPr txBox="1"/>
          <p:nvPr/>
        </p:nvSpPr>
        <p:spPr>
          <a:xfrm>
            <a:off x="4389120" y="146304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Text 13"/>
          <p:cNvSpPr txBox="1"/>
          <p:nvPr/>
        </p:nvSpPr>
        <p:spPr>
          <a:xfrm>
            <a:off x="3474720" y="2468880"/>
            <a:ext cx="2331720" cy="320040"/>
          </a:xfrm>
          <a:prstGeom prst="rect">
            <a:avLst/>
          </a:prstGeom>
          <a:noFill/>
          <a:ln/>
        </p:spPr>
        <p:txBody>
          <a:bodyPr wrap="square" lIns="0" tIns="0" rIns="0" bIns="0" rtlCol="0" anchor="ctr"/>
          <a:lstStyle/>
          <a:p>
            <a:pPr marL="0" indent="0" algn="ctr">
              <a:buNone/>
            </a:pPr>
            <a:r>
              <a:rPr lang="en-US" sz="1300" b="1" dirty="0">
                <a:solidFill>
                  <a:srgbClr val="704EA6"/>
                </a:solidFill>
                <a:latin typeface="Calibri" pitchFamily="34" charset="0"/>
                <a:ea typeface="Calibri" pitchFamily="34" charset="-122"/>
                <a:cs typeface="Calibri" pitchFamily="34" charset="-120"/>
              </a:rPr>
              <a:t>Phase 2  |  Q2 2027</a:t>
            </a:r>
            <a:endParaRPr lang="en-US" sz="1300" dirty="0"/>
          </a:p>
        </p:txBody>
      </p:sp>
      <p:sp>
        <p:nvSpPr>
          <p:cNvPr id="16" name="Text 14"/>
          <p:cNvSpPr txBox="1"/>
          <p:nvPr/>
        </p:nvSpPr>
        <p:spPr>
          <a:xfrm>
            <a:off x="3474720" y="2880360"/>
            <a:ext cx="2331720" cy="731520"/>
          </a:xfrm>
          <a:prstGeom prst="rect">
            <a:avLst/>
          </a:prstGeom>
          <a:noFill/>
          <a:ln/>
        </p:spPr>
        <p:txBody>
          <a:bodyPr wrap="square" lIns="0" tIns="0" rIns="0" bIns="0" rtlCol="0" anchor="ctr"/>
          <a:lstStyle/>
          <a:p>
            <a:pPr marL="0" indent="0" algn="ctr">
              <a:buNone/>
            </a:pPr>
            <a:r>
              <a:rPr lang="en-US" sz="1600" b="1" dirty="0">
                <a:solidFill>
                  <a:srgbClr val="1E293B"/>
                </a:solidFill>
                <a:latin typeface="Calibri" pitchFamily="34" charset="0"/>
                <a:ea typeface="Calibri" pitchFamily="34" charset="-122"/>
                <a:cs typeface="Calibri" pitchFamily="34" charset="-120"/>
              </a:rPr>
              <a:t>On-Device NPU Acceleration</a:t>
            </a:r>
            <a:endParaRPr lang="en-US" sz="1600" dirty="0"/>
          </a:p>
        </p:txBody>
      </p:sp>
      <p:sp>
        <p:nvSpPr>
          <p:cNvPr id="17" name="Text 15"/>
          <p:cNvSpPr txBox="1"/>
          <p:nvPr/>
        </p:nvSpPr>
        <p:spPr>
          <a:xfrm>
            <a:off x="3520440" y="3749040"/>
            <a:ext cx="2240280" cy="2286000"/>
          </a:xfrm>
          <a:prstGeom prst="rect">
            <a:avLst/>
          </a:prstGeom>
          <a:noFill/>
          <a:ln/>
        </p:spPr>
        <p:txBody>
          <a:bodyPr wrap="square" lIns="0" tIns="0" rIns="0" bIns="0" rtlCol="0" anchor="t"/>
          <a:lstStyle/>
          <a:p>
            <a:pPr marL="0" indent="0" algn="ctr">
              <a:buNone/>
            </a:pPr>
            <a:r>
              <a:rPr lang="en-US" sz="1450" dirty="0">
                <a:solidFill>
                  <a:srgbClr val="334155"/>
                </a:solidFill>
                <a:latin typeface="Calibri" pitchFamily="34" charset="0"/>
                <a:ea typeface="Calibri" pitchFamily="34" charset="-122"/>
                <a:cs typeface="Calibri" pitchFamily="34" charset="-120"/>
              </a:rPr>
              <a:t>Quantize embeddings and hybrid indexes with ONNX Runtime and TensorRT-LLM for Galaxy Exynos / Snapdragon NPUs.</a:t>
            </a:r>
            <a:endParaRPr lang="en-US" sz="1450" dirty="0"/>
          </a:p>
        </p:txBody>
      </p:sp>
      <p:sp>
        <p:nvSpPr>
          <p:cNvPr id="18" name="Shape 16"/>
          <p:cNvSpPr/>
          <p:nvPr/>
        </p:nvSpPr>
        <p:spPr>
          <a:xfrm>
            <a:off x="6126480" y="2331720"/>
            <a:ext cx="2697480" cy="3840480"/>
          </a:xfrm>
          <a:prstGeom prst="roundRect">
            <a:avLst>
              <a:gd name="adj" fmla="val 4068"/>
            </a:avLst>
          </a:prstGeom>
          <a:solidFill>
            <a:srgbClr val="F8FAFC"/>
          </a:solidFill>
          <a:ln w="12700">
            <a:solidFill>
              <a:srgbClr val="CBD5E1"/>
            </a:solidFill>
            <a:prstDash val="solid"/>
          </a:ln>
        </p:spPr>
      </p:sp>
      <p:sp>
        <p:nvSpPr>
          <p:cNvPr id="19" name="Shape 17"/>
          <p:cNvSpPr/>
          <p:nvPr/>
        </p:nvSpPr>
        <p:spPr>
          <a:xfrm>
            <a:off x="7223760" y="1463040"/>
            <a:ext cx="731520" cy="731520"/>
          </a:xfrm>
          <a:prstGeom prst="ellipse">
            <a:avLst/>
          </a:prstGeom>
          <a:solidFill>
            <a:srgbClr val="704EA6"/>
          </a:solidFill>
          <a:ln w="38100">
            <a:solidFill>
              <a:srgbClr val="FFFFFF"/>
            </a:solidFill>
            <a:prstDash val="solid"/>
          </a:ln>
        </p:spPr>
      </p:sp>
      <p:sp>
        <p:nvSpPr>
          <p:cNvPr id="20" name="Text 18"/>
          <p:cNvSpPr txBox="1"/>
          <p:nvPr/>
        </p:nvSpPr>
        <p:spPr>
          <a:xfrm>
            <a:off x="7223760" y="146304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Text 19"/>
          <p:cNvSpPr txBox="1"/>
          <p:nvPr/>
        </p:nvSpPr>
        <p:spPr>
          <a:xfrm>
            <a:off x="6309360" y="2468880"/>
            <a:ext cx="2331720" cy="320040"/>
          </a:xfrm>
          <a:prstGeom prst="rect">
            <a:avLst/>
          </a:prstGeom>
          <a:noFill/>
          <a:ln/>
        </p:spPr>
        <p:txBody>
          <a:bodyPr wrap="square" lIns="0" tIns="0" rIns="0" bIns="0" rtlCol="0" anchor="ctr"/>
          <a:lstStyle/>
          <a:p>
            <a:pPr marL="0" indent="0" algn="ctr">
              <a:buNone/>
            </a:pPr>
            <a:r>
              <a:rPr lang="en-US" sz="1300" b="1" dirty="0">
                <a:solidFill>
                  <a:srgbClr val="704EA6"/>
                </a:solidFill>
                <a:latin typeface="Calibri" pitchFamily="34" charset="0"/>
                <a:ea typeface="Calibri" pitchFamily="34" charset="-122"/>
                <a:cs typeface="Calibri" pitchFamily="34" charset="-120"/>
              </a:rPr>
              <a:t>Phase 3  |  Q3 2027</a:t>
            </a:r>
            <a:endParaRPr lang="en-US" sz="1300" dirty="0"/>
          </a:p>
        </p:txBody>
      </p:sp>
      <p:sp>
        <p:nvSpPr>
          <p:cNvPr id="22" name="Text 20"/>
          <p:cNvSpPr txBox="1"/>
          <p:nvPr/>
        </p:nvSpPr>
        <p:spPr>
          <a:xfrm>
            <a:off x="6309360" y="2880360"/>
            <a:ext cx="2331720" cy="731520"/>
          </a:xfrm>
          <a:prstGeom prst="rect">
            <a:avLst/>
          </a:prstGeom>
          <a:noFill/>
          <a:ln/>
        </p:spPr>
        <p:txBody>
          <a:bodyPr wrap="square" lIns="0" tIns="0" rIns="0" bIns="0" rtlCol="0" anchor="ctr"/>
          <a:lstStyle/>
          <a:p>
            <a:pPr marL="0" indent="0" algn="ctr">
              <a:buNone/>
            </a:pPr>
            <a:r>
              <a:rPr lang="en-US" sz="1600" b="1" dirty="0">
                <a:solidFill>
                  <a:srgbClr val="1E293B"/>
                </a:solidFill>
                <a:latin typeface="Calibri" pitchFamily="34" charset="0"/>
                <a:ea typeface="Calibri" pitchFamily="34" charset="-122"/>
                <a:cs typeface="Calibri" pitchFamily="34" charset="-120"/>
              </a:rPr>
              <a:t>Knowledge Graph Augmentation</a:t>
            </a:r>
            <a:endParaRPr lang="en-US" sz="1600" dirty="0"/>
          </a:p>
        </p:txBody>
      </p:sp>
      <p:sp>
        <p:nvSpPr>
          <p:cNvPr id="23" name="Text 21"/>
          <p:cNvSpPr txBox="1"/>
          <p:nvPr/>
        </p:nvSpPr>
        <p:spPr>
          <a:xfrm>
            <a:off x="6355080" y="3749040"/>
            <a:ext cx="2240280" cy="2286000"/>
          </a:xfrm>
          <a:prstGeom prst="rect">
            <a:avLst/>
          </a:prstGeom>
          <a:noFill/>
          <a:ln/>
        </p:spPr>
        <p:txBody>
          <a:bodyPr wrap="square" lIns="0" tIns="0" rIns="0" bIns="0" rtlCol="0" anchor="t"/>
          <a:lstStyle/>
          <a:p>
            <a:pPr marL="0" indent="0" algn="ctr">
              <a:buNone/>
            </a:pPr>
            <a:r>
              <a:rPr lang="en-US" sz="1450" dirty="0">
                <a:solidFill>
                  <a:srgbClr val="334155"/>
                </a:solidFill>
                <a:latin typeface="Calibri" pitchFamily="34" charset="0"/>
                <a:ea typeface="Calibri" pitchFamily="34" charset="-122"/>
                <a:cs typeface="Calibri" pitchFamily="34" charset="-120"/>
              </a:rPr>
              <a:t>Connect hybrid search with Neo4j knowledge graphs for multi-hop reasoning across reporting hierarchies.</a:t>
            </a:r>
            <a:endParaRPr lang="en-US" sz="1450" dirty="0"/>
          </a:p>
        </p:txBody>
      </p:sp>
      <p:sp>
        <p:nvSpPr>
          <p:cNvPr id="24" name="Shape 22"/>
          <p:cNvSpPr/>
          <p:nvPr/>
        </p:nvSpPr>
        <p:spPr>
          <a:xfrm>
            <a:off x="8961120" y="2331720"/>
            <a:ext cx="2697480" cy="3840480"/>
          </a:xfrm>
          <a:prstGeom prst="roundRect">
            <a:avLst>
              <a:gd name="adj" fmla="val 4068"/>
            </a:avLst>
          </a:prstGeom>
          <a:solidFill>
            <a:srgbClr val="F8FAFC"/>
          </a:solidFill>
          <a:ln w="12700">
            <a:solidFill>
              <a:srgbClr val="CBD5E1"/>
            </a:solidFill>
            <a:prstDash val="solid"/>
          </a:ln>
        </p:spPr>
      </p:sp>
      <p:sp>
        <p:nvSpPr>
          <p:cNvPr id="25" name="Shape 23"/>
          <p:cNvSpPr/>
          <p:nvPr/>
        </p:nvSpPr>
        <p:spPr>
          <a:xfrm>
            <a:off x="10058400" y="1463040"/>
            <a:ext cx="731520" cy="731520"/>
          </a:xfrm>
          <a:prstGeom prst="ellipse">
            <a:avLst/>
          </a:prstGeom>
          <a:solidFill>
            <a:srgbClr val="704EA6"/>
          </a:solidFill>
          <a:ln w="38100">
            <a:solidFill>
              <a:srgbClr val="FFFFFF"/>
            </a:solidFill>
            <a:prstDash val="solid"/>
          </a:ln>
        </p:spPr>
      </p:sp>
      <p:sp>
        <p:nvSpPr>
          <p:cNvPr id="26" name="Text 24"/>
          <p:cNvSpPr txBox="1"/>
          <p:nvPr/>
        </p:nvSpPr>
        <p:spPr>
          <a:xfrm>
            <a:off x="10058400" y="146304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7" name="Text 25"/>
          <p:cNvSpPr txBox="1"/>
          <p:nvPr/>
        </p:nvSpPr>
        <p:spPr>
          <a:xfrm>
            <a:off x="9144000" y="2468880"/>
            <a:ext cx="2331720" cy="320040"/>
          </a:xfrm>
          <a:prstGeom prst="rect">
            <a:avLst/>
          </a:prstGeom>
          <a:noFill/>
          <a:ln/>
        </p:spPr>
        <p:txBody>
          <a:bodyPr wrap="square" lIns="0" tIns="0" rIns="0" bIns="0" rtlCol="0" anchor="ctr"/>
          <a:lstStyle/>
          <a:p>
            <a:pPr marL="0" indent="0" algn="ctr">
              <a:buNone/>
            </a:pPr>
            <a:r>
              <a:rPr lang="en-US" sz="1300" b="1" dirty="0">
                <a:solidFill>
                  <a:srgbClr val="704EA6"/>
                </a:solidFill>
                <a:latin typeface="Calibri" pitchFamily="34" charset="0"/>
                <a:ea typeface="Calibri" pitchFamily="34" charset="-122"/>
                <a:cs typeface="Calibri" pitchFamily="34" charset="-120"/>
              </a:rPr>
              <a:t>Phase 4  |  Q4 2027</a:t>
            </a:r>
            <a:endParaRPr lang="en-US" sz="1300" dirty="0"/>
          </a:p>
        </p:txBody>
      </p:sp>
      <p:sp>
        <p:nvSpPr>
          <p:cNvPr id="28" name="Text 26"/>
          <p:cNvSpPr txBox="1"/>
          <p:nvPr/>
        </p:nvSpPr>
        <p:spPr>
          <a:xfrm>
            <a:off x="9144000" y="2880360"/>
            <a:ext cx="2331720" cy="731520"/>
          </a:xfrm>
          <a:prstGeom prst="rect">
            <a:avLst/>
          </a:prstGeom>
          <a:noFill/>
          <a:ln/>
        </p:spPr>
        <p:txBody>
          <a:bodyPr wrap="square" lIns="0" tIns="0" rIns="0" bIns="0" rtlCol="0" anchor="ctr"/>
          <a:lstStyle/>
          <a:p>
            <a:pPr marL="0" indent="0" algn="ctr">
              <a:buNone/>
            </a:pPr>
            <a:r>
              <a:rPr lang="en-US" sz="1600" b="1" dirty="0">
                <a:solidFill>
                  <a:srgbClr val="1E293B"/>
                </a:solidFill>
                <a:latin typeface="Calibri" pitchFamily="34" charset="0"/>
                <a:ea typeface="Calibri" pitchFamily="34" charset="-122"/>
                <a:cs typeface="Calibri" pitchFamily="34" charset="-120"/>
              </a:rPr>
              <a:t>Multimodal Live Grounding</a:t>
            </a:r>
            <a:endParaRPr lang="en-US" sz="1600" dirty="0"/>
          </a:p>
        </p:txBody>
      </p:sp>
      <p:sp>
        <p:nvSpPr>
          <p:cNvPr id="29" name="Text 27"/>
          <p:cNvSpPr txBox="1"/>
          <p:nvPr/>
        </p:nvSpPr>
        <p:spPr>
          <a:xfrm>
            <a:off x="9189720" y="3749040"/>
            <a:ext cx="2240280" cy="2286000"/>
          </a:xfrm>
          <a:prstGeom prst="rect">
            <a:avLst/>
          </a:prstGeom>
          <a:noFill/>
          <a:ln/>
        </p:spPr>
        <p:txBody>
          <a:bodyPr wrap="square" lIns="0" tIns="0" rIns="0" bIns="0" rtlCol="0" anchor="t"/>
          <a:lstStyle/>
          <a:p>
            <a:pPr marL="0" indent="0" algn="ctr">
              <a:buNone/>
            </a:pPr>
            <a:r>
              <a:rPr lang="en-US" sz="1450" dirty="0">
                <a:solidFill>
                  <a:srgbClr val="334155"/>
                </a:solidFill>
                <a:latin typeface="Calibri" pitchFamily="34" charset="0"/>
                <a:ea typeface="Calibri" pitchFamily="34" charset="-122"/>
                <a:cs typeface="Calibri" pitchFamily="34" charset="-120"/>
              </a:rPr>
              <a:t>Extend live speculative grounding to video feeds, presentation slides and technical schematics.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600" b="1" dirty="0">
                <a:solidFill>
                  <a:srgbClr val="704EA6"/>
                </a:solidFill>
                <a:latin typeface="Calibri" pitchFamily="34" charset="0"/>
                <a:ea typeface="Calibri" pitchFamily="34" charset="-122"/>
                <a:cs typeface="Calibri" pitchFamily="34" charset="-120"/>
              </a:rPr>
              <a:t>Brownie Points: Why 4 Bottle Codeka Stands Apart</a:t>
            </a:r>
            <a:endParaRPr lang="en-US" sz="2600" dirty="0"/>
          </a:p>
        </p:txBody>
      </p:sp>
      <p:sp>
        <p:nvSpPr>
          <p:cNvPr id="3" name="Text 1"/>
          <p:cNvSpPr txBox="1"/>
          <p:nvPr/>
        </p:nvSpPr>
        <p:spPr>
          <a:xfrm>
            <a:off x="457200" y="6492240"/>
            <a:ext cx="9144000" cy="228600"/>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Samsung PRISM GenAI Hackathon 2026–27  |  Team 4 Bottle Codeka  |  Theme 4: Streaming Live RAG</a:t>
            </a:r>
            <a:endParaRPr lang="en-US" sz="900" dirty="0"/>
          </a:p>
        </p:txBody>
      </p:sp>
      <p:sp>
        <p:nvSpPr>
          <p:cNvPr id="4" name="Text 2"/>
          <p:cNvSpPr txBox="1"/>
          <p:nvPr/>
        </p:nvSpPr>
        <p:spPr>
          <a:xfrm>
            <a:off x="11274552" y="6492240"/>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
        <p:nvSpPr>
          <p:cNvPr id="5" name="Shape 3"/>
          <p:cNvSpPr/>
          <p:nvPr/>
        </p:nvSpPr>
        <p:spPr>
          <a:xfrm>
            <a:off x="457200" y="1005840"/>
            <a:ext cx="11274552" cy="694944"/>
          </a:xfrm>
          <a:prstGeom prst="roundRect">
            <a:avLst>
              <a:gd name="adj" fmla="val 15789"/>
            </a:avLst>
          </a:prstGeom>
          <a:solidFill>
            <a:srgbClr val="F8FAFC"/>
          </a:solidFill>
          <a:ln w="12700">
            <a:solidFill>
              <a:srgbClr val="CBD5E1"/>
            </a:solidFill>
            <a:prstDash val="solid"/>
          </a:ln>
        </p:spPr>
      </p:sp>
      <p:sp>
        <p:nvSpPr>
          <p:cNvPr id="6" name="Shape 4"/>
          <p:cNvSpPr/>
          <p:nvPr/>
        </p:nvSpPr>
        <p:spPr>
          <a:xfrm>
            <a:off x="658368" y="1133856"/>
            <a:ext cx="438912" cy="438912"/>
          </a:xfrm>
          <a:prstGeom prst="ellipse">
            <a:avLst/>
          </a:prstGeom>
          <a:solidFill>
            <a:srgbClr val="704EA6"/>
          </a:solidFill>
          <a:ln w="12700">
            <a:solidFill>
              <a:srgbClr val="704EA6"/>
            </a:solidFill>
            <a:prstDash val="solid"/>
          </a:ln>
        </p:spPr>
      </p:sp>
      <p:sp>
        <p:nvSpPr>
          <p:cNvPr id="7" name="Text 5"/>
          <p:cNvSpPr txBox="1"/>
          <p:nvPr/>
        </p:nvSpPr>
        <p:spPr>
          <a:xfrm>
            <a:off x="658368" y="1133856"/>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325880" y="1060704"/>
            <a:ext cx="10241280" cy="310896"/>
          </a:xfrm>
          <a:prstGeom prst="rect">
            <a:avLst/>
          </a:prstGeom>
          <a:noFill/>
          <a:ln/>
        </p:spPr>
        <p:txBody>
          <a:bodyPr wrap="square" lIns="0" tIns="0" rIns="0" bIns="0" rtlCol="0" anchor="ctr"/>
          <a:lstStyle/>
          <a:p>
            <a:pPr marL="0" indent="0">
              <a:buNone/>
            </a:pPr>
            <a:r>
              <a:rPr lang="en-US" sz="1550" b="1" dirty="0">
                <a:solidFill>
                  <a:srgbClr val="1E293B"/>
                </a:solidFill>
                <a:latin typeface="Calibri" pitchFamily="34" charset="0"/>
                <a:ea typeface="Calibri" pitchFamily="34" charset="-122"/>
                <a:cs typeface="Calibri" pitchFamily="34" charset="-120"/>
              </a:rPr>
              <a:t>Real Enterprise Corpus (Zero Synthetic Data)</a:t>
            </a:r>
            <a:endParaRPr lang="en-US" sz="1550" dirty="0"/>
          </a:p>
        </p:txBody>
      </p:sp>
      <p:sp>
        <p:nvSpPr>
          <p:cNvPr id="9" name="Text 7"/>
          <p:cNvSpPr txBox="1"/>
          <p:nvPr/>
        </p:nvSpPr>
        <p:spPr>
          <a:xfrm>
            <a:off x="1325880" y="1371600"/>
            <a:ext cx="10241280" cy="27432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Evaluated on the complete 21-section master policy document (policy.pdf) with no dummy or mock data.</a:t>
            </a:r>
            <a:endParaRPr lang="en-US" sz="1250" dirty="0"/>
          </a:p>
        </p:txBody>
      </p:sp>
      <p:sp>
        <p:nvSpPr>
          <p:cNvPr id="10" name="Shape 8"/>
          <p:cNvSpPr/>
          <p:nvPr/>
        </p:nvSpPr>
        <p:spPr>
          <a:xfrm>
            <a:off x="457200" y="1792224"/>
            <a:ext cx="11274552" cy="694944"/>
          </a:xfrm>
          <a:prstGeom prst="roundRect">
            <a:avLst>
              <a:gd name="adj" fmla="val 15789"/>
            </a:avLst>
          </a:prstGeom>
          <a:solidFill>
            <a:srgbClr val="F8FAFC"/>
          </a:solidFill>
          <a:ln w="12700">
            <a:solidFill>
              <a:srgbClr val="CBD5E1"/>
            </a:solidFill>
            <a:prstDash val="solid"/>
          </a:ln>
        </p:spPr>
      </p:sp>
      <p:sp>
        <p:nvSpPr>
          <p:cNvPr id="11" name="Shape 9"/>
          <p:cNvSpPr/>
          <p:nvPr/>
        </p:nvSpPr>
        <p:spPr>
          <a:xfrm>
            <a:off x="658368" y="1920240"/>
            <a:ext cx="438912" cy="438912"/>
          </a:xfrm>
          <a:prstGeom prst="ellipse">
            <a:avLst/>
          </a:prstGeom>
          <a:solidFill>
            <a:srgbClr val="704EA6"/>
          </a:solidFill>
          <a:ln w="12700">
            <a:solidFill>
              <a:srgbClr val="704EA6"/>
            </a:solidFill>
            <a:prstDash val="solid"/>
          </a:ln>
        </p:spPr>
      </p:sp>
      <p:sp>
        <p:nvSpPr>
          <p:cNvPr id="12" name="Text 10"/>
          <p:cNvSpPr txBox="1"/>
          <p:nvPr/>
        </p:nvSpPr>
        <p:spPr>
          <a:xfrm>
            <a:off x="658368" y="1920240"/>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325880" y="1847088"/>
            <a:ext cx="10241280" cy="310896"/>
          </a:xfrm>
          <a:prstGeom prst="rect">
            <a:avLst/>
          </a:prstGeom>
          <a:noFill/>
          <a:ln/>
        </p:spPr>
        <p:txBody>
          <a:bodyPr wrap="square" lIns="0" tIns="0" rIns="0" bIns="0" rtlCol="0" anchor="ctr"/>
          <a:lstStyle/>
          <a:p>
            <a:pPr marL="0" indent="0">
              <a:buNone/>
            </a:pPr>
            <a:r>
              <a:rPr lang="en-US" sz="1550" b="1" dirty="0">
                <a:solidFill>
                  <a:srgbClr val="1E293B"/>
                </a:solidFill>
                <a:latin typeface="Calibri" pitchFamily="34" charset="0"/>
                <a:ea typeface="Calibri" pitchFamily="34" charset="-122"/>
                <a:cs typeface="Calibri" pitchFamily="34" charset="-120"/>
              </a:rPr>
              <a:t>Sub-50ms TTFT after trigger (16ms, demo harness)</a:t>
            </a:r>
            <a:endParaRPr lang="en-US" sz="1550" dirty="0"/>
          </a:p>
        </p:txBody>
      </p:sp>
      <p:sp>
        <p:nvSpPr>
          <p:cNvPr id="14" name="Text 12"/>
          <p:cNvSpPr txBox="1"/>
          <p:nvPr/>
        </p:nvSpPr>
        <p:spPr>
          <a:xfrm>
            <a:off x="1325880" y="2157984"/>
            <a:ext cx="10241280" cy="27432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Token-by-token streaming yielders; the demo drives them with simulated ASR text chunks (live ASR: Phase 1).</a:t>
            </a:r>
            <a:endParaRPr lang="en-US" sz="1250" dirty="0"/>
          </a:p>
        </p:txBody>
      </p:sp>
      <p:sp>
        <p:nvSpPr>
          <p:cNvPr id="15" name="Shape 13"/>
          <p:cNvSpPr/>
          <p:nvPr/>
        </p:nvSpPr>
        <p:spPr>
          <a:xfrm>
            <a:off x="457200" y="2578608"/>
            <a:ext cx="11274552" cy="694944"/>
          </a:xfrm>
          <a:prstGeom prst="roundRect">
            <a:avLst>
              <a:gd name="adj" fmla="val 15789"/>
            </a:avLst>
          </a:prstGeom>
          <a:solidFill>
            <a:srgbClr val="F8FAFC"/>
          </a:solidFill>
          <a:ln w="12700">
            <a:solidFill>
              <a:srgbClr val="CBD5E1"/>
            </a:solidFill>
            <a:prstDash val="solid"/>
          </a:ln>
        </p:spPr>
      </p:sp>
      <p:sp>
        <p:nvSpPr>
          <p:cNvPr id="16" name="Shape 14"/>
          <p:cNvSpPr/>
          <p:nvPr/>
        </p:nvSpPr>
        <p:spPr>
          <a:xfrm>
            <a:off x="658368" y="2706624"/>
            <a:ext cx="438912" cy="438912"/>
          </a:xfrm>
          <a:prstGeom prst="ellipse">
            <a:avLst/>
          </a:prstGeom>
          <a:solidFill>
            <a:srgbClr val="704EA6"/>
          </a:solidFill>
          <a:ln w="12700">
            <a:solidFill>
              <a:srgbClr val="704EA6"/>
            </a:solidFill>
            <a:prstDash val="solid"/>
          </a:ln>
        </p:spPr>
      </p:sp>
      <p:sp>
        <p:nvSpPr>
          <p:cNvPr id="17" name="Text 15"/>
          <p:cNvSpPr txBox="1"/>
          <p:nvPr/>
        </p:nvSpPr>
        <p:spPr>
          <a:xfrm>
            <a:off x="658368" y="2706624"/>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1325880" y="2633472"/>
            <a:ext cx="10241280" cy="310896"/>
          </a:xfrm>
          <a:prstGeom prst="rect">
            <a:avLst/>
          </a:prstGeom>
          <a:noFill/>
          <a:ln/>
        </p:spPr>
        <p:txBody>
          <a:bodyPr wrap="square" lIns="0" tIns="0" rIns="0" bIns="0" rtlCol="0" anchor="ctr"/>
          <a:lstStyle/>
          <a:p>
            <a:pPr marL="0" indent="0">
              <a:buNone/>
            </a:pPr>
            <a:r>
              <a:rPr lang="en-US" sz="1550" b="1" dirty="0">
                <a:solidFill>
                  <a:srgbClr val="1E293B"/>
                </a:solidFill>
                <a:latin typeface="Calibri" pitchFamily="34" charset="0"/>
                <a:ea typeface="Calibri" pitchFamily="34" charset="-122"/>
                <a:cs typeface="Calibri" pitchFamily="34" charset="-120"/>
              </a:rPr>
              <a:t>Self-Healing Mid-Stream Pivot Controller</a:t>
            </a:r>
            <a:endParaRPr lang="en-US" sz="1550" dirty="0"/>
          </a:p>
        </p:txBody>
      </p:sp>
      <p:sp>
        <p:nvSpPr>
          <p:cNvPr id="19" name="Text 17"/>
          <p:cNvSpPr txBox="1"/>
          <p:nvPr/>
        </p:nvSpPr>
        <p:spPr>
          <a:xfrm>
            <a:off x="1325880" y="2944368"/>
            <a:ext cx="10241280" cy="27432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Tracks streaming token diffs and aborts in-flight vector calls when the user self-corrects.</a:t>
            </a:r>
            <a:endParaRPr lang="en-US" sz="1250" dirty="0"/>
          </a:p>
        </p:txBody>
      </p:sp>
      <p:sp>
        <p:nvSpPr>
          <p:cNvPr id="20" name="Shape 18"/>
          <p:cNvSpPr/>
          <p:nvPr/>
        </p:nvSpPr>
        <p:spPr>
          <a:xfrm>
            <a:off x="457200" y="3364992"/>
            <a:ext cx="11274552" cy="694944"/>
          </a:xfrm>
          <a:prstGeom prst="roundRect">
            <a:avLst>
              <a:gd name="adj" fmla="val 15789"/>
            </a:avLst>
          </a:prstGeom>
          <a:solidFill>
            <a:srgbClr val="F8FAFC"/>
          </a:solidFill>
          <a:ln w="12700">
            <a:solidFill>
              <a:srgbClr val="CBD5E1"/>
            </a:solidFill>
            <a:prstDash val="solid"/>
          </a:ln>
        </p:spPr>
      </p:sp>
      <p:sp>
        <p:nvSpPr>
          <p:cNvPr id="21" name="Shape 19"/>
          <p:cNvSpPr/>
          <p:nvPr/>
        </p:nvSpPr>
        <p:spPr>
          <a:xfrm>
            <a:off x="658368" y="3493008"/>
            <a:ext cx="438912" cy="438912"/>
          </a:xfrm>
          <a:prstGeom prst="ellipse">
            <a:avLst/>
          </a:prstGeom>
          <a:solidFill>
            <a:srgbClr val="704EA6"/>
          </a:solidFill>
          <a:ln w="12700">
            <a:solidFill>
              <a:srgbClr val="704EA6"/>
            </a:solidFill>
            <a:prstDash val="solid"/>
          </a:ln>
        </p:spPr>
      </p:sp>
      <p:sp>
        <p:nvSpPr>
          <p:cNvPr id="22" name="Text 20"/>
          <p:cNvSpPr txBox="1"/>
          <p:nvPr/>
        </p:nvSpPr>
        <p:spPr>
          <a:xfrm>
            <a:off x="658368" y="3493008"/>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txBox="1"/>
          <p:nvPr/>
        </p:nvSpPr>
        <p:spPr>
          <a:xfrm>
            <a:off x="1325880" y="3419856"/>
            <a:ext cx="10241280" cy="310896"/>
          </a:xfrm>
          <a:prstGeom prst="rect">
            <a:avLst/>
          </a:prstGeom>
          <a:noFill/>
          <a:ln/>
        </p:spPr>
        <p:txBody>
          <a:bodyPr wrap="square" lIns="0" tIns="0" rIns="0" bIns="0" rtlCol="0" anchor="ctr"/>
          <a:lstStyle/>
          <a:p>
            <a:pPr marL="0" indent="0">
              <a:buNone/>
            </a:pPr>
            <a:r>
              <a:rPr lang="en-US" sz="1550" b="1" dirty="0">
                <a:solidFill>
                  <a:srgbClr val="1E293B"/>
                </a:solidFill>
                <a:latin typeface="Calibri" pitchFamily="34" charset="0"/>
                <a:ea typeface="Calibri" pitchFamily="34" charset="-122"/>
                <a:cs typeface="Calibri" pitchFamily="34" charset="-120"/>
              </a:rPr>
              <a:t>Dual-LLM Failover with Offline Fallback</a:t>
            </a:r>
            <a:endParaRPr lang="en-US" sz="1550" dirty="0"/>
          </a:p>
        </p:txBody>
      </p:sp>
      <p:sp>
        <p:nvSpPr>
          <p:cNvPr id="24" name="Text 22"/>
          <p:cNvSpPr txBox="1"/>
          <p:nvPr/>
        </p:nvSpPr>
        <p:spPr>
          <a:xfrm>
            <a:off x="1325880" y="3730752"/>
            <a:ext cx="10241280" cy="27432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Dual LLM (Groq LPU for speed, NVIDIA NIM for reasoning) with automatic failover to offline Qwen (privacy).</a:t>
            </a:r>
            <a:endParaRPr lang="en-US" sz="1250" dirty="0"/>
          </a:p>
        </p:txBody>
      </p:sp>
      <p:sp>
        <p:nvSpPr>
          <p:cNvPr id="25" name="Shape 23"/>
          <p:cNvSpPr/>
          <p:nvPr/>
        </p:nvSpPr>
        <p:spPr>
          <a:xfrm>
            <a:off x="457200" y="4151376"/>
            <a:ext cx="11274552" cy="694944"/>
          </a:xfrm>
          <a:prstGeom prst="roundRect">
            <a:avLst>
              <a:gd name="adj" fmla="val 15789"/>
            </a:avLst>
          </a:prstGeom>
          <a:solidFill>
            <a:srgbClr val="F8FAFC"/>
          </a:solidFill>
          <a:ln w="12700">
            <a:solidFill>
              <a:srgbClr val="CBD5E1"/>
            </a:solidFill>
            <a:prstDash val="solid"/>
          </a:ln>
        </p:spPr>
      </p:sp>
      <p:sp>
        <p:nvSpPr>
          <p:cNvPr id="26" name="Shape 24"/>
          <p:cNvSpPr/>
          <p:nvPr/>
        </p:nvSpPr>
        <p:spPr>
          <a:xfrm>
            <a:off x="658368" y="4279392"/>
            <a:ext cx="438912" cy="438912"/>
          </a:xfrm>
          <a:prstGeom prst="ellipse">
            <a:avLst/>
          </a:prstGeom>
          <a:solidFill>
            <a:srgbClr val="704EA6"/>
          </a:solidFill>
          <a:ln w="12700">
            <a:solidFill>
              <a:srgbClr val="704EA6"/>
            </a:solidFill>
            <a:prstDash val="solid"/>
          </a:ln>
        </p:spPr>
      </p:sp>
      <p:sp>
        <p:nvSpPr>
          <p:cNvPr id="27" name="Text 25"/>
          <p:cNvSpPr txBox="1"/>
          <p:nvPr/>
        </p:nvSpPr>
        <p:spPr>
          <a:xfrm>
            <a:off x="658368" y="427939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txBox="1"/>
          <p:nvPr/>
        </p:nvSpPr>
        <p:spPr>
          <a:xfrm>
            <a:off x="1325880" y="4206240"/>
            <a:ext cx="10241280" cy="310896"/>
          </a:xfrm>
          <a:prstGeom prst="rect">
            <a:avLst/>
          </a:prstGeom>
          <a:noFill/>
          <a:ln/>
        </p:spPr>
        <p:txBody>
          <a:bodyPr wrap="square" lIns="0" tIns="0" rIns="0" bIns="0" rtlCol="0" anchor="ctr"/>
          <a:lstStyle/>
          <a:p>
            <a:pPr marL="0" indent="0">
              <a:buNone/>
            </a:pPr>
            <a:r>
              <a:rPr lang="en-US" sz="1550" b="1" dirty="0">
                <a:solidFill>
                  <a:srgbClr val="1E293B"/>
                </a:solidFill>
                <a:latin typeface="Calibri" pitchFamily="34" charset="0"/>
                <a:ea typeface="Calibri" pitchFamily="34" charset="-122"/>
                <a:cs typeface="Calibri" pitchFamily="34" charset="-120"/>
              </a:rPr>
              <a:t>Live Cybernetic HUD &amp; Telemetry</a:t>
            </a:r>
            <a:endParaRPr lang="en-US" sz="1550" dirty="0"/>
          </a:p>
        </p:txBody>
      </p:sp>
      <p:sp>
        <p:nvSpPr>
          <p:cNvPr id="29" name="Text 27"/>
          <p:cNvSpPr txBox="1"/>
          <p:nvPr/>
        </p:nvSpPr>
        <p:spPr>
          <a:xfrm>
            <a:off x="1325880" y="4517136"/>
            <a:ext cx="10241280" cy="27432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Real-time turn-by-turn latency, token budgets, cost estimates and citation audit trails.</a:t>
            </a:r>
            <a:endParaRPr lang="en-US" sz="1250" dirty="0"/>
          </a:p>
        </p:txBody>
      </p:sp>
      <p:sp>
        <p:nvSpPr>
          <p:cNvPr id="30" name="Shape 28"/>
          <p:cNvSpPr/>
          <p:nvPr/>
        </p:nvSpPr>
        <p:spPr>
          <a:xfrm>
            <a:off x="457200" y="5029200"/>
            <a:ext cx="11274552" cy="1325880"/>
          </a:xfrm>
          <a:prstGeom prst="roundRect">
            <a:avLst>
              <a:gd name="adj" fmla="val 8276"/>
            </a:avLst>
          </a:prstGeom>
          <a:solidFill>
            <a:srgbClr val="F8FAFC"/>
          </a:solidFill>
          <a:ln w="12700">
            <a:solidFill>
              <a:srgbClr val="CBD5E1"/>
            </a:solidFill>
            <a:prstDash val="solid"/>
          </a:ln>
        </p:spPr>
      </p:sp>
      <p:sp>
        <p:nvSpPr>
          <p:cNvPr id="31" name="Text 29"/>
          <p:cNvSpPr txBox="1"/>
          <p:nvPr/>
        </p:nvSpPr>
        <p:spPr>
          <a:xfrm>
            <a:off x="640080" y="5074920"/>
            <a:ext cx="4572000" cy="320040"/>
          </a:xfrm>
          <a:prstGeom prst="rect">
            <a:avLst/>
          </a:prstGeom>
          <a:noFill/>
          <a:ln/>
        </p:spPr>
        <p:txBody>
          <a:bodyPr wrap="square" lIns="0" tIns="0" rIns="0" bIns="0" rtlCol="0" anchor="ctr"/>
          <a:lstStyle/>
          <a:p>
            <a:pPr marL="0" indent="0">
              <a:buNone/>
            </a:pPr>
            <a:r>
              <a:rPr lang="en-US" sz="1300" b="1" dirty="0">
                <a:solidFill>
                  <a:srgbClr val="704EA6"/>
                </a:solidFill>
                <a:latin typeface="Calibri" pitchFamily="34" charset="0"/>
                <a:ea typeface="Calibri" pitchFamily="34" charset="-122"/>
                <a:cs typeface="Calibri" pitchFamily="34" charset="-120"/>
              </a:rPr>
              <a:t>Failover Flow: Dual LLM + Offline Fallback</a:t>
            </a:r>
            <a:endParaRPr lang="en-US" sz="1300" dirty="0"/>
          </a:p>
        </p:txBody>
      </p:sp>
      <p:sp>
        <p:nvSpPr>
          <p:cNvPr id="32" name="Shape 30"/>
          <p:cNvSpPr/>
          <p:nvPr/>
        </p:nvSpPr>
        <p:spPr>
          <a:xfrm>
            <a:off x="640080" y="5440680"/>
            <a:ext cx="3200400" cy="548640"/>
          </a:xfrm>
          <a:prstGeom prst="roundRect">
            <a:avLst>
              <a:gd name="adj" fmla="val 13333"/>
            </a:avLst>
          </a:prstGeom>
          <a:solidFill>
            <a:srgbClr val="DCFCE7"/>
          </a:solidFill>
          <a:ln w="12700">
            <a:solidFill>
              <a:srgbClr val="86EFAC"/>
            </a:solidFill>
            <a:prstDash val="solid"/>
          </a:ln>
        </p:spPr>
      </p:sp>
      <p:sp>
        <p:nvSpPr>
          <p:cNvPr id="33" name="Text 31"/>
          <p:cNvSpPr txBox="1"/>
          <p:nvPr/>
        </p:nvSpPr>
        <p:spPr>
          <a:xfrm>
            <a:off x="640080" y="5440680"/>
            <a:ext cx="3200400" cy="548640"/>
          </a:xfrm>
          <a:prstGeom prst="rect">
            <a:avLst/>
          </a:prstGeom>
          <a:noFill/>
          <a:ln/>
        </p:spPr>
        <p:txBody>
          <a:bodyPr wrap="square" lIns="508" tIns="508" rIns="508" bIns="508"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Groq LPU: primary, ultra-fast streaming</a:t>
            </a:r>
            <a:endParaRPr lang="en-US" sz="1150" dirty="0"/>
          </a:p>
        </p:txBody>
      </p:sp>
      <p:sp>
        <p:nvSpPr>
          <p:cNvPr id="34" name="Shape 32"/>
          <p:cNvSpPr/>
          <p:nvPr/>
        </p:nvSpPr>
        <p:spPr>
          <a:xfrm>
            <a:off x="3886200" y="5715000"/>
            <a:ext cx="914400" cy="0"/>
          </a:xfrm>
          <a:prstGeom prst="line">
            <a:avLst/>
          </a:prstGeom>
          <a:noFill/>
          <a:ln w="22225">
            <a:solidFill>
              <a:srgbClr val="64748B"/>
            </a:solidFill>
            <a:prstDash val="solid"/>
            <a:tailEnd type="triangle"/>
          </a:ln>
        </p:spPr>
      </p:sp>
      <p:sp>
        <p:nvSpPr>
          <p:cNvPr id="35" name="Text 33"/>
          <p:cNvSpPr txBox="1"/>
          <p:nvPr/>
        </p:nvSpPr>
        <p:spPr>
          <a:xfrm>
            <a:off x="3840480" y="5440680"/>
            <a:ext cx="1005840" cy="228600"/>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error / timeout</a:t>
            </a:r>
            <a:endParaRPr lang="en-US" sz="950" dirty="0"/>
          </a:p>
        </p:txBody>
      </p:sp>
      <p:sp>
        <p:nvSpPr>
          <p:cNvPr id="36" name="Shape 34"/>
          <p:cNvSpPr/>
          <p:nvPr/>
        </p:nvSpPr>
        <p:spPr>
          <a:xfrm>
            <a:off x="4846320" y="5440680"/>
            <a:ext cx="3200400" cy="548640"/>
          </a:xfrm>
          <a:prstGeom prst="roundRect">
            <a:avLst>
              <a:gd name="adj" fmla="val 13333"/>
            </a:avLst>
          </a:prstGeom>
          <a:solidFill>
            <a:srgbClr val="E0F2FE"/>
          </a:solidFill>
          <a:ln w="12700">
            <a:solidFill>
              <a:srgbClr val="7DD3FC"/>
            </a:solidFill>
            <a:prstDash val="solid"/>
          </a:ln>
        </p:spPr>
      </p:sp>
      <p:sp>
        <p:nvSpPr>
          <p:cNvPr id="37" name="Text 35"/>
          <p:cNvSpPr txBox="1"/>
          <p:nvPr/>
        </p:nvSpPr>
        <p:spPr>
          <a:xfrm>
            <a:off x="4846320" y="5440680"/>
            <a:ext cx="3200400" cy="548640"/>
          </a:xfrm>
          <a:prstGeom prst="rect">
            <a:avLst/>
          </a:prstGeom>
          <a:noFill/>
          <a:ln/>
        </p:spPr>
        <p:txBody>
          <a:bodyPr wrap="square" lIns="508" tIns="508" rIns="508" bIns="508"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NVIDIA NIM: high-capacity reasoning</a:t>
            </a:r>
            <a:endParaRPr lang="en-US" sz="1150" dirty="0"/>
          </a:p>
        </p:txBody>
      </p:sp>
      <p:sp>
        <p:nvSpPr>
          <p:cNvPr id="38" name="Shape 36"/>
          <p:cNvSpPr/>
          <p:nvPr/>
        </p:nvSpPr>
        <p:spPr>
          <a:xfrm>
            <a:off x="8092440" y="5715000"/>
            <a:ext cx="914400" cy="0"/>
          </a:xfrm>
          <a:prstGeom prst="line">
            <a:avLst/>
          </a:prstGeom>
          <a:noFill/>
          <a:ln w="22225">
            <a:solidFill>
              <a:srgbClr val="64748B"/>
            </a:solidFill>
            <a:prstDash val="solid"/>
            <a:tailEnd type="triangle"/>
          </a:ln>
        </p:spPr>
      </p:sp>
      <p:sp>
        <p:nvSpPr>
          <p:cNvPr id="39" name="Text 37"/>
          <p:cNvSpPr txBox="1"/>
          <p:nvPr/>
        </p:nvSpPr>
        <p:spPr>
          <a:xfrm>
            <a:off x="8046720" y="5440680"/>
            <a:ext cx="1005840" cy="228600"/>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unreachable</a:t>
            </a:r>
            <a:endParaRPr lang="en-US" sz="950" dirty="0"/>
          </a:p>
        </p:txBody>
      </p:sp>
      <p:sp>
        <p:nvSpPr>
          <p:cNvPr id="40" name="Shape 38"/>
          <p:cNvSpPr/>
          <p:nvPr/>
        </p:nvSpPr>
        <p:spPr>
          <a:xfrm>
            <a:off x="9052560" y="5440680"/>
            <a:ext cx="2514600" cy="548640"/>
          </a:xfrm>
          <a:prstGeom prst="roundRect">
            <a:avLst>
              <a:gd name="adj" fmla="val 13333"/>
            </a:avLst>
          </a:prstGeom>
          <a:solidFill>
            <a:srgbClr val="FEF9C3"/>
          </a:solidFill>
          <a:ln w="12700">
            <a:solidFill>
              <a:srgbClr val="FDE047"/>
            </a:solidFill>
            <a:prstDash val="solid"/>
          </a:ln>
        </p:spPr>
      </p:sp>
      <p:sp>
        <p:nvSpPr>
          <p:cNvPr id="41" name="Text 39"/>
          <p:cNvSpPr txBox="1"/>
          <p:nvPr/>
        </p:nvSpPr>
        <p:spPr>
          <a:xfrm>
            <a:off x="9052560" y="5440680"/>
            <a:ext cx="2514600" cy="548640"/>
          </a:xfrm>
          <a:prstGeom prst="rect">
            <a:avLst/>
          </a:prstGeom>
          <a:noFill/>
          <a:ln/>
        </p:spPr>
        <p:txBody>
          <a:bodyPr wrap="square" lIns="508" tIns="508" rIns="508" bIns="508"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Qwen via Ollama: offline, private</a:t>
            </a:r>
            <a:endParaRPr lang="en-US" sz="1150" dirty="0"/>
          </a:p>
        </p:txBody>
      </p:sp>
      <p:sp>
        <p:nvSpPr>
          <p:cNvPr id="42" name="Text 40"/>
          <p:cNvSpPr txBox="1"/>
          <p:nvPr/>
        </p:nvSpPr>
        <p:spPr>
          <a:xfrm>
            <a:off x="640080" y="6053328"/>
            <a:ext cx="10881360" cy="22860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The live Key Hub also supports OpenRouter, OpenAI and Anthropic keys (ultron /key &lt;provider&gt; &lt;key&gt;).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600" b="1" dirty="0">
                <a:solidFill>
                  <a:srgbClr val="704EA6"/>
                </a:solidFill>
                <a:latin typeface="Calibri" pitchFamily="34" charset="0"/>
                <a:ea typeface="Calibri" pitchFamily="34" charset="-122"/>
                <a:cs typeface="Calibri" pitchFamily="34" charset="-120"/>
              </a:rPr>
              <a:t>Checklist: Updated on Public GitHub</a:t>
            </a:r>
            <a:endParaRPr lang="en-US" sz="2600" dirty="0"/>
          </a:p>
        </p:txBody>
      </p:sp>
      <p:sp>
        <p:nvSpPr>
          <p:cNvPr id="3" name="Text 1"/>
          <p:cNvSpPr txBox="1"/>
          <p:nvPr/>
        </p:nvSpPr>
        <p:spPr>
          <a:xfrm>
            <a:off x="457200" y="6492240"/>
            <a:ext cx="9144000" cy="228600"/>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Samsung PRISM GenAI Hackathon 2026–27  |  Team 4 Bottle Codeka  |  Theme 4: Streaming Live RAG</a:t>
            </a:r>
            <a:endParaRPr lang="en-US" sz="900" dirty="0"/>
          </a:p>
        </p:txBody>
      </p:sp>
      <p:sp>
        <p:nvSpPr>
          <p:cNvPr id="4" name="Text 2"/>
          <p:cNvSpPr txBox="1"/>
          <p:nvPr/>
        </p:nvSpPr>
        <p:spPr>
          <a:xfrm>
            <a:off x="11274552" y="6492240"/>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
        <p:nvSpPr>
          <p:cNvPr id="5" name="Shape 3"/>
          <p:cNvSpPr/>
          <p:nvPr/>
        </p:nvSpPr>
        <p:spPr>
          <a:xfrm>
            <a:off x="457200" y="1051560"/>
            <a:ext cx="11274552" cy="932688"/>
          </a:xfrm>
          <a:prstGeom prst="roundRect">
            <a:avLst>
              <a:gd name="adj" fmla="val 11765"/>
            </a:avLst>
          </a:prstGeom>
          <a:solidFill>
            <a:srgbClr val="F8FAFC"/>
          </a:solidFill>
          <a:ln w="12700">
            <a:solidFill>
              <a:srgbClr val="CBD5E1"/>
            </a:solidFill>
            <a:prstDash val="solid"/>
          </a:ln>
        </p:spPr>
      </p:sp>
      <p:sp>
        <p:nvSpPr>
          <p:cNvPr id="6" name="Shape 4"/>
          <p:cNvSpPr/>
          <p:nvPr/>
        </p:nvSpPr>
        <p:spPr>
          <a:xfrm>
            <a:off x="731520" y="1266444"/>
            <a:ext cx="502920" cy="502920"/>
          </a:xfrm>
          <a:prstGeom prst="ellipse">
            <a:avLst/>
          </a:prstGeom>
          <a:solidFill>
            <a:srgbClr val="10B981"/>
          </a:solidFill>
          <a:ln w="12700">
            <a:solidFill>
              <a:srgbClr val="10B981"/>
            </a:solidFill>
            <a:prstDash val="solid"/>
          </a:ln>
        </p:spPr>
      </p:sp>
      <p:sp>
        <p:nvSpPr>
          <p:cNvPr id="7" name="Shape 5"/>
          <p:cNvSpPr/>
          <p:nvPr/>
        </p:nvSpPr>
        <p:spPr>
          <a:xfrm>
            <a:off x="859536" y="1536192"/>
            <a:ext cx="109728" cy="109728"/>
          </a:xfrm>
          <a:prstGeom prst="line">
            <a:avLst/>
          </a:prstGeom>
          <a:noFill/>
          <a:ln w="38100">
            <a:solidFill>
              <a:srgbClr val="FFFFFF"/>
            </a:solidFill>
            <a:prstDash val="solid"/>
          </a:ln>
        </p:spPr>
      </p:sp>
      <p:sp>
        <p:nvSpPr>
          <p:cNvPr id="8" name="Shape 6"/>
          <p:cNvSpPr/>
          <p:nvPr/>
        </p:nvSpPr>
        <p:spPr>
          <a:xfrm flipV="1">
            <a:off x="969264" y="1417320"/>
            <a:ext cx="155448" cy="228600"/>
          </a:xfrm>
          <a:prstGeom prst="line">
            <a:avLst/>
          </a:prstGeom>
          <a:noFill/>
          <a:ln w="38100">
            <a:solidFill>
              <a:srgbClr val="FFFFFF"/>
            </a:solidFill>
            <a:prstDash val="solid"/>
          </a:ln>
        </p:spPr>
      </p:sp>
      <p:sp>
        <p:nvSpPr>
          <p:cNvPr id="9" name="Text 7"/>
          <p:cNvSpPr txBox="1"/>
          <p:nvPr/>
        </p:nvSpPr>
        <p:spPr>
          <a:xfrm>
            <a:off x="1554480" y="1161288"/>
            <a:ext cx="8503920" cy="347472"/>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Working prototype code: public GitHub repo</a:t>
            </a:r>
            <a:endParaRPr lang="en-US" sz="1600" dirty="0"/>
          </a:p>
        </p:txBody>
      </p:sp>
      <p:sp>
        <p:nvSpPr>
          <p:cNvPr id="10" name="Text 8"/>
          <p:cNvSpPr txBox="1"/>
          <p:nvPr/>
        </p:nvSpPr>
        <p:spPr>
          <a:xfrm>
            <a:off x="1554480" y="1545336"/>
            <a:ext cx="8503920" cy="310896"/>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https://github.com/abhinav29102005/ultron  |  Modular streaming RAG, session management, test suites.</a:t>
            </a:r>
            <a:endParaRPr lang="en-US" sz="1300" dirty="0"/>
          </a:p>
        </p:txBody>
      </p:sp>
      <p:sp>
        <p:nvSpPr>
          <p:cNvPr id="11" name="Shape 9"/>
          <p:cNvSpPr/>
          <p:nvPr/>
        </p:nvSpPr>
        <p:spPr>
          <a:xfrm>
            <a:off x="10332720" y="1307592"/>
            <a:ext cx="1097280" cy="411480"/>
          </a:xfrm>
          <a:prstGeom prst="roundRect">
            <a:avLst>
              <a:gd name="adj" fmla="val 17778"/>
            </a:avLst>
          </a:prstGeom>
          <a:solidFill>
            <a:srgbClr val="DCFCE7"/>
          </a:solidFill>
          <a:ln w="12700">
            <a:solidFill>
              <a:srgbClr val="86EFAC"/>
            </a:solidFill>
            <a:prstDash val="solid"/>
          </a:ln>
        </p:spPr>
      </p:sp>
      <p:sp>
        <p:nvSpPr>
          <p:cNvPr id="12" name="Text 10"/>
          <p:cNvSpPr txBox="1"/>
          <p:nvPr/>
        </p:nvSpPr>
        <p:spPr>
          <a:xfrm>
            <a:off x="10332720" y="1307592"/>
            <a:ext cx="1097280" cy="411480"/>
          </a:xfrm>
          <a:prstGeom prst="rect">
            <a:avLst/>
          </a:prstGeom>
          <a:noFill/>
          <a:ln/>
        </p:spPr>
        <p:txBody>
          <a:bodyPr wrap="square" lIns="508" tIns="508" rIns="508" bIns="508"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YES (Y)</a:t>
            </a:r>
            <a:endParaRPr lang="en-US" sz="1300" dirty="0"/>
          </a:p>
        </p:txBody>
      </p:sp>
      <p:sp>
        <p:nvSpPr>
          <p:cNvPr id="13" name="Shape 11"/>
          <p:cNvSpPr/>
          <p:nvPr/>
        </p:nvSpPr>
        <p:spPr>
          <a:xfrm>
            <a:off x="457200" y="2103120"/>
            <a:ext cx="11274552" cy="932688"/>
          </a:xfrm>
          <a:prstGeom prst="roundRect">
            <a:avLst>
              <a:gd name="adj" fmla="val 11765"/>
            </a:avLst>
          </a:prstGeom>
          <a:solidFill>
            <a:srgbClr val="F8FAFC"/>
          </a:solidFill>
          <a:ln w="12700">
            <a:solidFill>
              <a:srgbClr val="CBD5E1"/>
            </a:solidFill>
            <a:prstDash val="solid"/>
          </a:ln>
        </p:spPr>
      </p:sp>
      <p:sp>
        <p:nvSpPr>
          <p:cNvPr id="14" name="Shape 12"/>
          <p:cNvSpPr/>
          <p:nvPr/>
        </p:nvSpPr>
        <p:spPr>
          <a:xfrm>
            <a:off x="731520" y="2318004"/>
            <a:ext cx="502920" cy="502920"/>
          </a:xfrm>
          <a:prstGeom prst="ellipse">
            <a:avLst/>
          </a:prstGeom>
          <a:solidFill>
            <a:srgbClr val="10B981"/>
          </a:solidFill>
          <a:ln w="12700">
            <a:solidFill>
              <a:srgbClr val="10B981"/>
            </a:solidFill>
            <a:prstDash val="solid"/>
          </a:ln>
        </p:spPr>
      </p:sp>
      <p:sp>
        <p:nvSpPr>
          <p:cNvPr id="15" name="Shape 13"/>
          <p:cNvSpPr/>
          <p:nvPr/>
        </p:nvSpPr>
        <p:spPr>
          <a:xfrm>
            <a:off x="859536" y="2587752"/>
            <a:ext cx="109728" cy="109728"/>
          </a:xfrm>
          <a:prstGeom prst="line">
            <a:avLst/>
          </a:prstGeom>
          <a:noFill/>
          <a:ln w="38100">
            <a:solidFill>
              <a:srgbClr val="FFFFFF"/>
            </a:solidFill>
            <a:prstDash val="solid"/>
          </a:ln>
        </p:spPr>
      </p:sp>
      <p:sp>
        <p:nvSpPr>
          <p:cNvPr id="16" name="Shape 14"/>
          <p:cNvSpPr/>
          <p:nvPr/>
        </p:nvSpPr>
        <p:spPr>
          <a:xfrm flipV="1">
            <a:off x="969264" y="2468880"/>
            <a:ext cx="155448" cy="228600"/>
          </a:xfrm>
          <a:prstGeom prst="line">
            <a:avLst/>
          </a:prstGeom>
          <a:noFill/>
          <a:ln w="38100">
            <a:solidFill>
              <a:srgbClr val="FFFFFF"/>
            </a:solidFill>
            <a:prstDash val="solid"/>
          </a:ln>
        </p:spPr>
      </p:sp>
      <p:sp>
        <p:nvSpPr>
          <p:cNvPr id="17" name="Text 15"/>
          <p:cNvSpPr txBox="1"/>
          <p:nvPr/>
        </p:nvSpPr>
        <p:spPr>
          <a:xfrm>
            <a:off x="1554480" y="2212848"/>
            <a:ext cx="8503920" cy="347472"/>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README with reproducible setup instructions</a:t>
            </a:r>
            <a:endParaRPr lang="en-US" sz="1600" dirty="0"/>
          </a:p>
        </p:txBody>
      </p:sp>
      <p:sp>
        <p:nvSpPr>
          <p:cNvPr id="18" name="Text 16"/>
          <p:cNvSpPr txBox="1"/>
          <p:nvPr/>
        </p:nvSpPr>
        <p:spPr>
          <a:xfrm>
            <a:off x="1554480" y="2596896"/>
            <a:ext cx="8503920" cy="310896"/>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Step-by-step setup, Python 3.11+ environment, API key setup wizard and benchmark runner.</a:t>
            </a:r>
            <a:endParaRPr lang="en-US" sz="1300" dirty="0"/>
          </a:p>
        </p:txBody>
      </p:sp>
      <p:sp>
        <p:nvSpPr>
          <p:cNvPr id="19" name="Shape 17"/>
          <p:cNvSpPr/>
          <p:nvPr/>
        </p:nvSpPr>
        <p:spPr>
          <a:xfrm>
            <a:off x="10332720" y="2359152"/>
            <a:ext cx="1097280" cy="411480"/>
          </a:xfrm>
          <a:prstGeom prst="roundRect">
            <a:avLst>
              <a:gd name="adj" fmla="val 17778"/>
            </a:avLst>
          </a:prstGeom>
          <a:solidFill>
            <a:srgbClr val="DCFCE7"/>
          </a:solidFill>
          <a:ln w="12700">
            <a:solidFill>
              <a:srgbClr val="86EFAC"/>
            </a:solidFill>
            <a:prstDash val="solid"/>
          </a:ln>
        </p:spPr>
      </p:sp>
      <p:sp>
        <p:nvSpPr>
          <p:cNvPr id="20" name="Text 18"/>
          <p:cNvSpPr txBox="1"/>
          <p:nvPr/>
        </p:nvSpPr>
        <p:spPr>
          <a:xfrm>
            <a:off x="10332720" y="2359152"/>
            <a:ext cx="1097280" cy="411480"/>
          </a:xfrm>
          <a:prstGeom prst="rect">
            <a:avLst/>
          </a:prstGeom>
          <a:noFill/>
          <a:ln/>
        </p:spPr>
        <p:txBody>
          <a:bodyPr wrap="square" lIns="508" tIns="508" rIns="508" bIns="508"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YES (Y)</a:t>
            </a:r>
            <a:endParaRPr lang="en-US" sz="1300" dirty="0"/>
          </a:p>
        </p:txBody>
      </p:sp>
      <p:sp>
        <p:nvSpPr>
          <p:cNvPr id="21" name="Shape 19"/>
          <p:cNvSpPr/>
          <p:nvPr/>
        </p:nvSpPr>
        <p:spPr>
          <a:xfrm>
            <a:off x="457200" y="3154680"/>
            <a:ext cx="11274552" cy="932688"/>
          </a:xfrm>
          <a:prstGeom prst="roundRect">
            <a:avLst>
              <a:gd name="adj" fmla="val 11765"/>
            </a:avLst>
          </a:prstGeom>
          <a:solidFill>
            <a:srgbClr val="F8FAFC"/>
          </a:solidFill>
          <a:ln w="12700">
            <a:solidFill>
              <a:srgbClr val="CBD5E1"/>
            </a:solidFill>
            <a:prstDash val="solid"/>
          </a:ln>
        </p:spPr>
      </p:sp>
      <p:sp>
        <p:nvSpPr>
          <p:cNvPr id="22" name="Shape 20"/>
          <p:cNvSpPr/>
          <p:nvPr/>
        </p:nvSpPr>
        <p:spPr>
          <a:xfrm>
            <a:off x="731520" y="3369564"/>
            <a:ext cx="502920" cy="502920"/>
          </a:xfrm>
          <a:prstGeom prst="ellipse">
            <a:avLst/>
          </a:prstGeom>
          <a:solidFill>
            <a:srgbClr val="10B981"/>
          </a:solidFill>
          <a:ln w="12700">
            <a:solidFill>
              <a:srgbClr val="10B981"/>
            </a:solidFill>
            <a:prstDash val="solid"/>
          </a:ln>
        </p:spPr>
      </p:sp>
      <p:sp>
        <p:nvSpPr>
          <p:cNvPr id="23" name="Shape 21"/>
          <p:cNvSpPr/>
          <p:nvPr/>
        </p:nvSpPr>
        <p:spPr>
          <a:xfrm>
            <a:off x="859536" y="3639312"/>
            <a:ext cx="109728" cy="109728"/>
          </a:xfrm>
          <a:prstGeom prst="line">
            <a:avLst/>
          </a:prstGeom>
          <a:noFill/>
          <a:ln w="38100">
            <a:solidFill>
              <a:srgbClr val="FFFFFF"/>
            </a:solidFill>
            <a:prstDash val="solid"/>
          </a:ln>
        </p:spPr>
      </p:sp>
      <p:sp>
        <p:nvSpPr>
          <p:cNvPr id="24" name="Shape 22"/>
          <p:cNvSpPr/>
          <p:nvPr/>
        </p:nvSpPr>
        <p:spPr>
          <a:xfrm flipV="1">
            <a:off x="969264" y="3520440"/>
            <a:ext cx="155448" cy="228600"/>
          </a:xfrm>
          <a:prstGeom prst="line">
            <a:avLst/>
          </a:prstGeom>
          <a:noFill/>
          <a:ln w="38100">
            <a:solidFill>
              <a:srgbClr val="FFFFFF"/>
            </a:solidFill>
            <a:prstDash val="solid"/>
          </a:ln>
        </p:spPr>
      </p:sp>
      <p:sp>
        <p:nvSpPr>
          <p:cNvPr id="25" name="Text 23"/>
          <p:cNvSpPr txBox="1"/>
          <p:nvPr/>
        </p:nvSpPr>
        <p:spPr>
          <a:xfrm>
            <a:off x="1554480" y="3264408"/>
            <a:ext cx="8503920" cy="347472"/>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Demo video, max 5 minutes</a:t>
            </a:r>
            <a:endParaRPr lang="en-US" sz="1600" dirty="0"/>
          </a:p>
        </p:txBody>
      </p:sp>
      <p:sp>
        <p:nvSpPr>
          <p:cNvPr id="26" name="Text 24"/>
          <p:cNvSpPr txBox="1"/>
          <p:nvPr/>
        </p:nvSpPr>
        <p:spPr>
          <a:xfrm>
            <a:off x="1554480" y="3648456"/>
            <a:ext cx="8503920" cy="310896"/>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9-scene walkthrough recorded with the built-in /demo harness and live Telemetry HUD.</a:t>
            </a:r>
            <a:endParaRPr lang="en-US" sz="1300" dirty="0"/>
          </a:p>
        </p:txBody>
      </p:sp>
      <p:sp>
        <p:nvSpPr>
          <p:cNvPr id="27" name="Shape 25"/>
          <p:cNvSpPr/>
          <p:nvPr/>
        </p:nvSpPr>
        <p:spPr>
          <a:xfrm>
            <a:off x="10332720" y="3410712"/>
            <a:ext cx="1097280" cy="411480"/>
          </a:xfrm>
          <a:prstGeom prst="roundRect">
            <a:avLst>
              <a:gd name="adj" fmla="val 17778"/>
            </a:avLst>
          </a:prstGeom>
          <a:solidFill>
            <a:srgbClr val="DCFCE7"/>
          </a:solidFill>
          <a:ln w="12700">
            <a:solidFill>
              <a:srgbClr val="86EFAC"/>
            </a:solidFill>
            <a:prstDash val="solid"/>
          </a:ln>
        </p:spPr>
      </p:sp>
      <p:sp>
        <p:nvSpPr>
          <p:cNvPr id="28" name="Text 26"/>
          <p:cNvSpPr txBox="1"/>
          <p:nvPr/>
        </p:nvSpPr>
        <p:spPr>
          <a:xfrm>
            <a:off x="10332720" y="3410712"/>
            <a:ext cx="1097280" cy="411480"/>
          </a:xfrm>
          <a:prstGeom prst="rect">
            <a:avLst/>
          </a:prstGeom>
          <a:noFill/>
          <a:ln/>
        </p:spPr>
        <p:txBody>
          <a:bodyPr wrap="square" lIns="508" tIns="508" rIns="508" bIns="508"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YES (Y)</a:t>
            </a:r>
            <a:endParaRPr lang="en-US" sz="1300" dirty="0"/>
          </a:p>
        </p:txBody>
      </p:sp>
      <p:sp>
        <p:nvSpPr>
          <p:cNvPr id="29" name="Shape 27"/>
          <p:cNvSpPr/>
          <p:nvPr/>
        </p:nvSpPr>
        <p:spPr>
          <a:xfrm>
            <a:off x="457200" y="4206240"/>
            <a:ext cx="11274552" cy="932688"/>
          </a:xfrm>
          <a:prstGeom prst="roundRect">
            <a:avLst>
              <a:gd name="adj" fmla="val 11765"/>
            </a:avLst>
          </a:prstGeom>
          <a:solidFill>
            <a:srgbClr val="F8FAFC"/>
          </a:solidFill>
          <a:ln w="12700">
            <a:solidFill>
              <a:srgbClr val="CBD5E1"/>
            </a:solidFill>
            <a:prstDash val="solid"/>
          </a:ln>
        </p:spPr>
      </p:sp>
      <p:sp>
        <p:nvSpPr>
          <p:cNvPr id="30" name="Shape 28"/>
          <p:cNvSpPr/>
          <p:nvPr/>
        </p:nvSpPr>
        <p:spPr>
          <a:xfrm>
            <a:off x="731520" y="4421124"/>
            <a:ext cx="502920" cy="502920"/>
          </a:xfrm>
          <a:prstGeom prst="ellipse">
            <a:avLst/>
          </a:prstGeom>
          <a:solidFill>
            <a:srgbClr val="10B981"/>
          </a:solidFill>
          <a:ln w="12700">
            <a:solidFill>
              <a:srgbClr val="10B981"/>
            </a:solidFill>
            <a:prstDash val="solid"/>
          </a:ln>
        </p:spPr>
      </p:sp>
      <p:sp>
        <p:nvSpPr>
          <p:cNvPr id="31" name="Shape 29"/>
          <p:cNvSpPr/>
          <p:nvPr/>
        </p:nvSpPr>
        <p:spPr>
          <a:xfrm>
            <a:off x="859536" y="4690872"/>
            <a:ext cx="109728" cy="109728"/>
          </a:xfrm>
          <a:prstGeom prst="line">
            <a:avLst/>
          </a:prstGeom>
          <a:noFill/>
          <a:ln w="38100">
            <a:solidFill>
              <a:srgbClr val="FFFFFF"/>
            </a:solidFill>
            <a:prstDash val="solid"/>
          </a:ln>
        </p:spPr>
      </p:sp>
      <p:sp>
        <p:nvSpPr>
          <p:cNvPr id="32" name="Shape 30"/>
          <p:cNvSpPr/>
          <p:nvPr/>
        </p:nvSpPr>
        <p:spPr>
          <a:xfrm flipV="1">
            <a:off x="969264" y="4572000"/>
            <a:ext cx="155448" cy="228600"/>
          </a:xfrm>
          <a:prstGeom prst="line">
            <a:avLst/>
          </a:prstGeom>
          <a:noFill/>
          <a:ln w="38100">
            <a:solidFill>
              <a:srgbClr val="FFFFFF"/>
            </a:solidFill>
            <a:prstDash val="solid"/>
          </a:ln>
        </p:spPr>
      </p:sp>
      <p:sp>
        <p:nvSpPr>
          <p:cNvPr id="33" name="Text 31"/>
          <p:cNvSpPr txBox="1"/>
          <p:nvPr/>
        </p:nvSpPr>
        <p:spPr>
          <a:xfrm>
            <a:off x="1554480" y="4315968"/>
            <a:ext cx="8503920" cy="347472"/>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Live website with one-line installer</a:t>
            </a:r>
            <a:endParaRPr lang="en-US" sz="1600" dirty="0"/>
          </a:p>
        </p:txBody>
      </p:sp>
      <p:sp>
        <p:nvSpPr>
          <p:cNvPr id="34" name="Text 32"/>
          <p:cNvSpPr txBox="1"/>
          <p:nvPr/>
        </p:nvSpPr>
        <p:spPr>
          <a:xfrm>
            <a:off x="1554480" y="4700016"/>
            <a:ext cx="8503920" cy="310896"/>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https://ultron.abhinavkumarsingh.tech/  |  Key hub, /health endpoint and curl installer.</a:t>
            </a:r>
            <a:endParaRPr lang="en-US" sz="1300" dirty="0"/>
          </a:p>
        </p:txBody>
      </p:sp>
      <p:sp>
        <p:nvSpPr>
          <p:cNvPr id="35" name="Shape 33"/>
          <p:cNvSpPr/>
          <p:nvPr/>
        </p:nvSpPr>
        <p:spPr>
          <a:xfrm>
            <a:off x="10332720" y="4462272"/>
            <a:ext cx="1097280" cy="411480"/>
          </a:xfrm>
          <a:prstGeom prst="roundRect">
            <a:avLst>
              <a:gd name="adj" fmla="val 17778"/>
            </a:avLst>
          </a:prstGeom>
          <a:solidFill>
            <a:srgbClr val="DCFCE7"/>
          </a:solidFill>
          <a:ln w="12700">
            <a:solidFill>
              <a:srgbClr val="86EFAC"/>
            </a:solidFill>
            <a:prstDash val="solid"/>
          </a:ln>
        </p:spPr>
      </p:sp>
      <p:sp>
        <p:nvSpPr>
          <p:cNvPr id="36" name="Text 34"/>
          <p:cNvSpPr txBox="1"/>
          <p:nvPr/>
        </p:nvSpPr>
        <p:spPr>
          <a:xfrm>
            <a:off x="10332720" y="4462272"/>
            <a:ext cx="1097280" cy="411480"/>
          </a:xfrm>
          <a:prstGeom prst="rect">
            <a:avLst/>
          </a:prstGeom>
          <a:noFill/>
          <a:ln/>
        </p:spPr>
        <p:txBody>
          <a:bodyPr wrap="square" lIns="508" tIns="508" rIns="508" bIns="508"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YES (Y)</a:t>
            </a:r>
            <a:endParaRPr lang="en-US" sz="1300" dirty="0"/>
          </a:p>
        </p:txBody>
      </p:sp>
      <p:sp>
        <p:nvSpPr>
          <p:cNvPr id="37" name="Shape 35"/>
          <p:cNvSpPr/>
          <p:nvPr/>
        </p:nvSpPr>
        <p:spPr>
          <a:xfrm>
            <a:off x="457200" y="5257800"/>
            <a:ext cx="11274552" cy="932688"/>
          </a:xfrm>
          <a:prstGeom prst="roundRect">
            <a:avLst>
              <a:gd name="adj" fmla="val 11765"/>
            </a:avLst>
          </a:prstGeom>
          <a:solidFill>
            <a:srgbClr val="F8FAFC"/>
          </a:solidFill>
          <a:ln w="12700">
            <a:solidFill>
              <a:srgbClr val="CBD5E1"/>
            </a:solidFill>
            <a:prstDash val="solid"/>
          </a:ln>
        </p:spPr>
      </p:sp>
      <p:sp>
        <p:nvSpPr>
          <p:cNvPr id="38" name="Shape 36"/>
          <p:cNvSpPr/>
          <p:nvPr/>
        </p:nvSpPr>
        <p:spPr>
          <a:xfrm>
            <a:off x="731520" y="5472684"/>
            <a:ext cx="502920" cy="502920"/>
          </a:xfrm>
          <a:prstGeom prst="ellipse">
            <a:avLst/>
          </a:prstGeom>
          <a:solidFill>
            <a:srgbClr val="10B981"/>
          </a:solidFill>
          <a:ln w="12700">
            <a:solidFill>
              <a:srgbClr val="10B981"/>
            </a:solidFill>
            <a:prstDash val="solid"/>
          </a:ln>
        </p:spPr>
      </p:sp>
      <p:sp>
        <p:nvSpPr>
          <p:cNvPr id="39" name="Shape 37"/>
          <p:cNvSpPr/>
          <p:nvPr/>
        </p:nvSpPr>
        <p:spPr>
          <a:xfrm>
            <a:off x="859536" y="5742432"/>
            <a:ext cx="109728" cy="109728"/>
          </a:xfrm>
          <a:prstGeom prst="line">
            <a:avLst/>
          </a:prstGeom>
          <a:noFill/>
          <a:ln w="38100">
            <a:solidFill>
              <a:srgbClr val="FFFFFF"/>
            </a:solidFill>
            <a:prstDash val="solid"/>
          </a:ln>
        </p:spPr>
      </p:sp>
      <p:sp>
        <p:nvSpPr>
          <p:cNvPr id="40" name="Shape 38"/>
          <p:cNvSpPr/>
          <p:nvPr/>
        </p:nvSpPr>
        <p:spPr>
          <a:xfrm flipV="1">
            <a:off x="969264" y="5623560"/>
            <a:ext cx="155448" cy="228600"/>
          </a:xfrm>
          <a:prstGeom prst="line">
            <a:avLst/>
          </a:prstGeom>
          <a:noFill/>
          <a:ln w="38100">
            <a:solidFill>
              <a:srgbClr val="FFFFFF"/>
            </a:solidFill>
            <a:prstDash val="solid"/>
          </a:ln>
        </p:spPr>
      </p:sp>
      <p:sp>
        <p:nvSpPr>
          <p:cNvPr id="41" name="Text 39"/>
          <p:cNvSpPr txBox="1"/>
          <p:nvPr/>
        </p:nvSpPr>
        <p:spPr>
          <a:xfrm>
            <a:off x="1554480" y="5367528"/>
            <a:ext cx="8503920" cy="347472"/>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Presentation file (PPT or PDF)</a:t>
            </a:r>
            <a:endParaRPr lang="en-US" sz="1600" dirty="0"/>
          </a:p>
        </p:txBody>
      </p:sp>
      <p:sp>
        <p:nvSpPr>
          <p:cNvPr id="42" name="Text 40"/>
          <p:cNvSpPr txBox="1"/>
          <p:nvPr/>
        </p:nvSpPr>
        <p:spPr>
          <a:xfrm>
            <a:off x="1554480" y="5751576"/>
            <a:ext cx="8503920" cy="310896"/>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Completed official template: Thapar_4_Bottle_Codeka_Submission.pptx.</a:t>
            </a:r>
            <a:endParaRPr lang="en-US" sz="1300" dirty="0"/>
          </a:p>
        </p:txBody>
      </p:sp>
      <p:sp>
        <p:nvSpPr>
          <p:cNvPr id="43" name="Shape 41"/>
          <p:cNvSpPr/>
          <p:nvPr/>
        </p:nvSpPr>
        <p:spPr>
          <a:xfrm>
            <a:off x="10332720" y="5513832"/>
            <a:ext cx="1097280" cy="411480"/>
          </a:xfrm>
          <a:prstGeom prst="roundRect">
            <a:avLst>
              <a:gd name="adj" fmla="val 17778"/>
            </a:avLst>
          </a:prstGeom>
          <a:solidFill>
            <a:srgbClr val="DCFCE7"/>
          </a:solidFill>
          <a:ln w="12700">
            <a:solidFill>
              <a:srgbClr val="86EFAC"/>
            </a:solidFill>
            <a:prstDash val="solid"/>
          </a:ln>
        </p:spPr>
      </p:sp>
      <p:sp>
        <p:nvSpPr>
          <p:cNvPr id="44" name="Text 42"/>
          <p:cNvSpPr txBox="1"/>
          <p:nvPr/>
        </p:nvSpPr>
        <p:spPr>
          <a:xfrm>
            <a:off x="10332720" y="5513832"/>
            <a:ext cx="1097280" cy="411480"/>
          </a:xfrm>
          <a:prstGeom prst="rect">
            <a:avLst/>
          </a:prstGeom>
          <a:noFill/>
          <a:ln/>
        </p:spPr>
        <p:txBody>
          <a:bodyPr wrap="square" lIns="508" tIns="508" rIns="508" bIns="508"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YES (Y)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600" b="1" dirty="0">
                <a:solidFill>
                  <a:srgbClr val="704EA6"/>
                </a:solidFill>
                <a:latin typeface="Calibri" pitchFamily="34" charset="0"/>
                <a:ea typeface="Calibri" pitchFamily="34" charset="-122"/>
                <a:cs typeface="Calibri" pitchFamily="34" charset="-120"/>
              </a:rPr>
              <a:t>Team: 4 Bottle Codeka</a:t>
            </a:r>
            <a:endParaRPr lang="en-US" sz="2600" dirty="0"/>
          </a:p>
        </p:txBody>
      </p:sp>
      <p:sp>
        <p:nvSpPr>
          <p:cNvPr id="3" name="Text 1"/>
          <p:cNvSpPr txBox="1"/>
          <p:nvPr/>
        </p:nvSpPr>
        <p:spPr>
          <a:xfrm>
            <a:off x="457200" y="6492240"/>
            <a:ext cx="9144000" cy="228600"/>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Samsung PRISM GenAI Hackathon 2026–27  |  Team 4 Bottle Codeka  |  Theme 4: Streaming Live RAG</a:t>
            </a:r>
            <a:endParaRPr lang="en-US" sz="900" dirty="0"/>
          </a:p>
        </p:txBody>
      </p:sp>
      <p:sp>
        <p:nvSpPr>
          <p:cNvPr id="4" name="Text 2"/>
          <p:cNvSpPr txBox="1"/>
          <p:nvPr/>
        </p:nvSpPr>
        <p:spPr>
          <a:xfrm>
            <a:off x="11274552" y="6492240"/>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
        <p:nvSpPr>
          <p:cNvPr id="5" name="Text 3"/>
          <p:cNvSpPr txBox="1"/>
          <p:nvPr/>
        </p:nvSpPr>
        <p:spPr>
          <a:xfrm>
            <a:off x="457200" y="868680"/>
            <a:ext cx="9144000" cy="320040"/>
          </a:xfrm>
          <a:prstGeom prst="rect">
            <a:avLst/>
          </a:prstGeom>
          <a:noFill/>
          <a:ln/>
        </p:spPr>
        <p:txBody>
          <a:bodyPr wrap="square" lIns="0" tIns="0" rIns="0" bIns="0" rtlCol="0" anchor="t"/>
          <a:lstStyle/>
          <a:p>
            <a:pPr marL="0" indent="0">
              <a:buNone/>
            </a:pPr>
            <a:r>
              <a:rPr lang="en-US" sz="1500" b="1" dirty="0">
                <a:solidFill>
                  <a:srgbClr val="334155"/>
                </a:solidFill>
                <a:latin typeface="Calibri" pitchFamily="34" charset="0"/>
                <a:ea typeface="Calibri" pitchFamily="34" charset="-122"/>
                <a:cs typeface="Calibri" pitchFamily="34" charset="-120"/>
              </a:rPr>
              <a:t>Thapar Institute of Engineering &amp; Technology, Patiala</a:t>
            </a:r>
            <a:endParaRPr lang="en-US" sz="1500" dirty="0"/>
          </a:p>
        </p:txBody>
      </p:sp>
      <p:sp>
        <p:nvSpPr>
          <p:cNvPr id="6" name="Shape 4"/>
          <p:cNvSpPr/>
          <p:nvPr/>
        </p:nvSpPr>
        <p:spPr>
          <a:xfrm>
            <a:off x="457200" y="1280160"/>
            <a:ext cx="5532120" cy="1325880"/>
          </a:xfrm>
          <a:prstGeom prst="roundRect">
            <a:avLst>
              <a:gd name="adj" fmla="val 8276"/>
            </a:avLst>
          </a:prstGeom>
          <a:solidFill>
            <a:srgbClr val="F8FAFC"/>
          </a:solidFill>
          <a:ln w="12700">
            <a:solidFill>
              <a:srgbClr val="CBD5E1"/>
            </a:solidFill>
            <a:prstDash val="solid"/>
          </a:ln>
        </p:spPr>
      </p:sp>
      <p:sp>
        <p:nvSpPr>
          <p:cNvPr id="7" name="Shape 5"/>
          <p:cNvSpPr/>
          <p:nvPr/>
        </p:nvSpPr>
        <p:spPr>
          <a:xfrm>
            <a:off x="685800" y="1600200"/>
            <a:ext cx="685800" cy="685800"/>
          </a:xfrm>
          <a:prstGeom prst="ellipse">
            <a:avLst/>
          </a:prstGeom>
          <a:solidFill>
            <a:srgbClr val="704EA6"/>
          </a:solidFill>
          <a:ln w="12700">
            <a:solidFill>
              <a:srgbClr val="704EA6"/>
            </a:solidFill>
            <a:prstDash val="solid"/>
          </a:ln>
        </p:spPr>
      </p:sp>
      <p:sp>
        <p:nvSpPr>
          <p:cNvPr id="8" name="Text 6"/>
          <p:cNvSpPr txBox="1"/>
          <p:nvPr/>
        </p:nvSpPr>
        <p:spPr>
          <a:xfrm>
            <a:off x="685800" y="160020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AK</a:t>
            </a:r>
            <a:endParaRPr lang="en-US" sz="1800" dirty="0"/>
          </a:p>
        </p:txBody>
      </p:sp>
      <p:sp>
        <p:nvSpPr>
          <p:cNvPr id="9" name="Text 7"/>
          <p:cNvSpPr txBox="1"/>
          <p:nvPr/>
        </p:nvSpPr>
        <p:spPr>
          <a:xfrm>
            <a:off x="1554480" y="1371600"/>
            <a:ext cx="4297680" cy="1143000"/>
          </a:xfrm>
          <a:prstGeom prst="rect">
            <a:avLst/>
          </a:prstGeom>
          <a:noFill/>
          <a:ln/>
        </p:spPr>
        <p:txBody>
          <a:bodyPr wrap="square" lIns="0" tIns="0" rIns="0" bIns="0" rtlCol="0" anchor="ctr"/>
          <a:lstStyle/>
          <a:p>
            <a:pPr marL="0" indent="0">
              <a:spcAft>
                <a:spcPts val="300"/>
              </a:spcAft>
              <a:buNone/>
            </a:pPr>
            <a:r>
              <a:rPr lang="en-US" sz="1600" b="1" dirty="0">
                <a:solidFill>
                  <a:srgbClr val="1E293B"/>
                </a:solidFill>
                <a:latin typeface="Calibri" pitchFamily="34" charset="0"/>
                <a:ea typeface="Calibri" pitchFamily="34" charset="-122"/>
                <a:cs typeface="Calibri" pitchFamily="34" charset="-120"/>
              </a:rPr>
              <a:t>Abhinav Kumar Singh</a:t>
            </a:r>
            <a:endParaRPr lang="en-US" sz="1200" dirty="0"/>
          </a:p>
          <a:p>
            <a:pPr marL="0" indent="0">
              <a:spcAft>
                <a:spcPts val="300"/>
              </a:spcAft>
              <a:buNone/>
            </a:pPr>
            <a:r>
              <a:rPr lang="en-US" sz="1150" b="1" dirty="0">
                <a:solidFill>
                  <a:srgbClr val="704EA6"/>
                </a:solidFill>
                <a:latin typeface="Calibri" pitchFamily="34" charset="0"/>
                <a:ea typeface="Calibri" pitchFamily="34" charset="-122"/>
                <a:cs typeface="Calibri" pitchFamily="34" charset="-120"/>
              </a:rPr>
              <a:t>Team Leader</a:t>
            </a:r>
            <a:endParaRPr lang="en-US" sz="1200" dirty="0"/>
          </a:p>
          <a:p>
            <a:pPr marL="0" indent="0">
              <a:spcAft>
                <a:spcPts val="300"/>
              </a:spcAft>
              <a:buNone/>
            </a:pPr>
            <a:r>
              <a:rPr lang="en-US" sz="1200" dirty="0">
                <a:solidFill>
                  <a:srgbClr val="334155"/>
                </a:solidFill>
                <a:latin typeface="Calibri" pitchFamily="34" charset="0"/>
                <a:ea typeface="Calibri" pitchFamily="34" charset="-122"/>
                <a:cs typeface="Calibri" pitchFamily="34" charset="-120"/>
              </a:rPr>
              <a:t>asingh2910.official@gmail.com</a:t>
            </a:r>
            <a:endParaRPr lang="en-US" sz="1200" dirty="0"/>
          </a:p>
          <a:p>
            <a:pPr marL="0" indent="0">
              <a:spcAft>
                <a:spcPts val="300"/>
              </a:spcAft>
              <a:buNone/>
            </a:pPr>
            <a:r>
              <a:rPr lang="en-US" sz="1200" dirty="0">
                <a:solidFill>
                  <a:srgbClr val="334155"/>
                </a:solidFill>
                <a:latin typeface="Calibri" pitchFamily="34" charset="0"/>
                <a:ea typeface="Calibri" pitchFamily="34" charset="-122"/>
                <a:cs typeface="Calibri" pitchFamily="34" charset="-120"/>
              </a:rPr>
              <a:t>+91-6398779479</a:t>
            </a:r>
            <a:endParaRPr lang="en-US" sz="1200" dirty="0"/>
          </a:p>
        </p:txBody>
      </p:sp>
      <p:sp>
        <p:nvSpPr>
          <p:cNvPr id="10" name="Shape 8"/>
          <p:cNvSpPr/>
          <p:nvPr/>
        </p:nvSpPr>
        <p:spPr>
          <a:xfrm>
            <a:off x="6199632" y="1280160"/>
            <a:ext cx="5532120" cy="1325880"/>
          </a:xfrm>
          <a:prstGeom prst="roundRect">
            <a:avLst>
              <a:gd name="adj" fmla="val 8276"/>
            </a:avLst>
          </a:prstGeom>
          <a:solidFill>
            <a:srgbClr val="F8FAFC"/>
          </a:solidFill>
          <a:ln w="12700">
            <a:solidFill>
              <a:srgbClr val="CBD5E1"/>
            </a:solidFill>
            <a:prstDash val="solid"/>
          </a:ln>
        </p:spPr>
      </p:sp>
      <p:sp>
        <p:nvSpPr>
          <p:cNvPr id="11" name="Shape 9"/>
          <p:cNvSpPr/>
          <p:nvPr/>
        </p:nvSpPr>
        <p:spPr>
          <a:xfrm>
            <a:off x="6428232" y="1600200"/>
            <a:ext cx="685800" cy="685800"/>
          </a:xfrm>
          <a:prstGeom prst="ellipse">
            <a:avLst/>
          </a:prstGeom>
          <a:solidFill>
            <a:srgbClr val="704EA6"/>
          </a:solidFill>
          <a:ln w="12700">
            <a:solidFill>
              <a:srgbClr val="704EA6"/>
            </a:solidFill>
            <a:prstDash val="solid"/>
          </a:ln>
        </p:spPr>
      </p:sp>
      <p:sp>
        <p:nvSpPr>
          <p:cNvPr id="12" name="Text 10"/>
          <p:cNvSpPr txBox="1"/>
          <p:nvPr/>
        </p:nvSpPr>
        <p:spPr>
          <a:xfrm>
            <a:off x="6428232" y="160020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SM</a:t>
            </a:r>
            <a:endParaRPr lang="en-US" sz="1800" dirty="0"/>
          </a:p>
        </p:txBody>
      </p:sp>
      <p:sp>
        <p:nvSpPr>
          <p:cNvPr id="13" name="Text 11"/>
          <p:cNvSpPr txBox="1"/>
          <p:nvPr/>
        </p:nvSpPr>
        <p:spPr>
          <a:xfrm>
            <a:off x="7296912" y="1371600"/>
            <a:ext cx="4297680" cy="1143000"/>
          </a:xfrm>
          <a:prstGeom prst="rect">
            <a:avLst/>
          </a:prstGeom>
          <a:noFill/>
          <a:ln/>
        </p:spPr>
        <p:txBody>
          <a:bodyPr wrap="square" lIns="0" tIns="0" rIns="0" bIns="0" rtlCol="0" anchor="ctr"/>
          <a:lstStyle/>
          <a:p>
            <a:pPr marL="0" indent="0">
              <a:spcAft>
                <a:spcPts val="300"/>
              </a:spcAft>
              <a:buNone/>
            </a:pPr>
            <a:r>
              <a:rPr lang="en-US" sz="1600" b="1" dirty="0">
                <a:solidFill>
                  <a:srgbClr val="1E293B"/>
                </a:solidFill>
                <a:latin typeface="Calibri" pitchFamily="34" charset="0"/>
                <a:ea typeface="Calibri" pitchFamily="34" charset="-122"/>
                <a:cs typeface="Calibri" pitchFamily="34" charset="-120"/>
              </a:rPr>
              <a:t>Sukhansh Mittal</a:t>
            </a:r>
            <a:endParaRPr lang="en-US" sz="1200" dirty="0"/>
          </a:p>
          <a:p>
            <a:pPr marL="0" indent="0">
              <a:spcAft>
                <a:spcPts val="300"/>
              </a:spcAft>
              <a:buNone/>
            </a:pPr>
            <a:r>
              <a:rPr lang="en-US" sz="1150" b="1" dirty="0">
                <a:solidFill>
                  <a:srgbClr val="704EA6"/>
                </a:solidFill>
                <a:latin typeface="Calibri" pitchFamily="34" charset="0"/>
                <a:ea typeface="Calibri" pitchFamily="34" charset="-122"/>
                <a:cs typeface="Calibri" pitchFamily="34" charset="-120"/>
              </a:rPr>
              <a:t>Member</a:t>
            </a:r>
            <a:endParaRPr lang="en-US" sz="1200" dirty="0"/>
          </a:p>
          <a:p>
            <a:pPr marL="0" indent="0">
              <a:spcAft>
                <a:spcPts val="300"/>
              </a:spcAft>
              <a:buNone/>
            </a:pPr>
            <a:r>
              <a:rPr lang="en-US" sz="1200">
                <a:solidFill>
                  <a:srgbClr val="334155"/>
                </a:solidFill>
                <a:latin typeface="Calibri" pitchFamily="34" charset="0"/>
                <a:ea typeface="Calibri" pitchFamily="34" charset="-122"/>
                <a:cs typeface="Calibri" pitchFamily="34" charset="-120"/>
              </a:rPr>
              <a:t>smittal1_</a:t>
            </a:r>
            <a:r>
              <a:rPr lang="en-US" sz="1200" dirty="0">
                <a:solidFill>
                  <a:srgbClr val="334155"/>
                </a:solidFill>
                <a:latin typeface="Calibri" pitchFamily="34" charset="0"/>
                <a:ea typeface="Calibri" pitchFamily="34" charset="-122"/>
                <a:cs typeface="Calibri" pitchFamily="34" charset="-120"/>
              </a:rPr>
              <a:t>be24@thapar.edu</a:t>
            </a:r>
            <a:endParaRPr lang="en-US" sz="1200" dirty="0"/>
          </a:p>
          <a:p>
            <a:pPr marL="0" indent="0">
              <a:spcAft>
                <a:spcPts val="300"/>
              </a:spcAft>
              <a:buNone/>
            </a:pPr>
            <a:r>
              <a:rPr lang="en-US" sz="1200" dirty="0">
                <a:solidFill>
                  <a:srgbClr val="334155"/>
                </a:solidFill>
                <a:latin typeface="Calibri" pitchFamily="34" charset="0"/>
                <a:ea typeface="Calibri" pitchFamily="34" charset="-122"/>
                <a:cs typeface="Calibri" pitchFamily="34" charset="-120"/>
              </a:rPr>
              <a:t>+91-9877366331</a:t>
            </a:r>
            <a:endParaRPr lang="en-US" sz="1200" dirty="0"/>
          </a:p>
        </p:txBody>
      </p:sp>
      <p:sp>
        <p:nvSpPr>
          <p:cNvPr id="14" name="Shape 12"/>
          <p:cNvSpPr/>
          <p:nvPr/>
        </p:nvSpPr>
        <p:spPr>
          <a:xfrm>
            <a:off x="457200" y="2743200"/>
            <a:ext cx="5532120" cy="1325880"/>
          </a:xfrm>
          <a:prstGeom prst="roundRect">
            <a:avLst>
              <a:gd name="adj" fmla="val 8276"/>
            </a:avLst>
          </a:prstGeom>
          <a:solidFill>
            <a:srgbClr val="F8FAFC"/>
          </a:solidFill>
          <a:ln w="12700">
            <a:solidFill>
              <a:srgbClr val="CBD5E1"/>
            </a:solidFill>
            <a:prstDash val="solid"/>
          </a:ln>
        </p:spPr>
      </p:sp>
      <p:sp>
        <p:nvSpPr>
          <p:cNvPr id="15" name="Shape 13"/>
          <p:cNvSpPr/>
          <p:nvPr/>
        </p:nvSpPr>
        <p:spPr>
          <a:xfrm>
            <a:off x="685800" y="3063240"/>
            <a:ext cx="685800" cy="685800"/>
          </a:xfrm>
          <a:prstGeom prst="ellipse">
            <a:avLst/>
          </a:prstGeom>
          <a:solidFill>
            <a:srgbClr val="704EA6"/>
          </a:solidFill>
          <a:ln w="12700">
            <a:solidFill>
              <a:srgbClr val="704EA6"/>
            </a:solidFill>
            <a:prstDash val="solid"/>
          </a:ln>
        </p:spPr>
      </p:sp>
      <p:sp>
        <p:nvSpPr>
          <p:cNvPr id="16" name="Text 14"/>
          <p:cNvSpPr txBox="1"/>
          <p:nvPr/>
        </p:nvSpPr>
        <p:spPr>
          <a:xfrm>
            <a:off x="685800" y="306324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LJ</a:t>
            </a:r>
            <a:endParaRPr lang="en-US" sz="1800" dirty="0"/>
          </a:p>
        </p:txBody>
      </p:sp>
      <p:sp>
        <p:nvSpPr>
          <p:cNvPr id="17" name="Text 15"/>
          <p:cNvSpPr txBox="1"/>
          <p:nvPr/>
        </p:nvSpPr>
        <p:spPr>
          <a:xfrm>
            <a:off x="1554480" y="2834640"/>
            <a:ext cx="4297680" cy="1143000"/>
          </a:xfrm>
          <a:prstGeom prst="rect">
            <a:avLst/>
          </a:prstGeom>
          <a:noFill/>
          <a:ln/>
        </p:spPr>
        <p:txBody>
          <a:bodyPr wrap="square" lIns="0" tIns="0" rIns="0" bIns="0" rtlCol="0" anchor="ctr"/>
          <a:lstStyle/>
          <a:p>
            <a:pPr marL="0" indent="0">
              <a:spcAft>
                <a:spcPts val="300"/>
              </a:spcAft>
              <a:buNone/>
            </a:pPr>
            <a:r>
              <a:rPr lang="en-US" sz="1600" b="1" dirty="0">
                <a:solidFill>
                  <a:srgbClr val="1E293B"/>
                </a:solidFill>
                <a:latin typeface="Calibri" pitchFamily="34" charset="0"/>
                <a:ea typeface="Calibri" pitchFamily="34" charset="-122"/>
                <a:cs typeface="Calibri" pitchFamily="34" charset="-120"/>
              </a:rPr>
              <a:t>Lakkshya Jha</a:t>
            </a:r>
            <a:endParaRPr lang="en-US" sz="1200" dirty="0"/>
          </a:p>
          <a:p>
            <a:pPr marL="0" indent="0">
              <a:spcAft>
                <a:spcPts val="300"/>
              </a:spcAft>
              <a:buNone/>
            </a:pPr>
            <a:r>
              <a:rPr lang="en-US" sz="1150" b="1" dirty="0">
                <a:solidFill>
                  <a:srgbClr val="704EA6"/>
                </a:solidFill>
                <a:latin typeface="Calibri" pitchFamily="34" charset="0"/>
                <a:ea typeface="Calibri" pitchFamily="34" charset="-122"/>
                <a:cs typeface="Calibri" pitchFamily="34" charset="-120"/>
              </a:rPr>
              <a:t>Member</a:t>
            </a:r>
            <a:endParaRPr lang="en-US" sz="1200" dirty="0"/>
          </a:p>
          <a:p>
            <a:pPr marL="0" indent="0">
              <a:spcAft>
                <a:spcPts val="300"/>
              </a:spcAft>
              <a:buNone/>
            </a:pPr>
            <a:r>
              <a:rPr lang="en-US" sz="1200" dirty="0">
                <a:solidFill>
                  <a:srgbClr val="334155"/>
                </a:solidFill>
                <a:latin typeface="Calibri" pitchFamily="34" charset="0"/>
                <a:ea typeface="Calibri" pitchFamily="34" charset="-122"/>
                <a:cs typeface="Calibri" pitchFamily="34" charset="-120"/>
              </a:rPr>
              <a:t>ljha_be24@thapar.edu</a:t>
            </a:r>
            <a:endParaRPr lang="en-US" sz="1200" dirty="0"/>
          </a:p>
          <a:p>
            <a:pPr marL="0" indent="0">
              <a:spcAft>
                <a:spcPts val="300"/>
              </a:spcAft>
              <a:buNone/>
            </a:pPr>
            <a:r>
              <a:rPr lang="en-US" sz="1200" dirty="0">
                <a:solidFill>
                  <a:srgbClr val="334155"/>
                </a:solidFill>
                <a:latin typeface="Calibri" pitchFamily="34" charset="0"/>
                <a:ea typeface="Calibri" pitchFamily="34" charset="-122"/>
                <a:cs typeface="Calibri" pitchFamily="34" charset="-120"/>
              </a:rPr>
              <a:t>+91-9574875069</a:t>
            </a:r>
            <a:endParaRPr lang="en-US" sz="1200" dirty="0"/>
          </a:p>
        </p:txBody>
      </p:sp>
      <p:sp>
        <p:nvSpPr>
          <p:cNvPr id="18" name="Shape 16"/>
          <p:cNvSpPr/>
          <p:nvPr/>
        </p:nvSpPr>
        <p:spPr>
          <a:xfrm>
            <a:off x="6199632" y="2743200"/>
            <a:ext cx="5532120" cy="1325880"/>
          </a:xfrm>
          <a:prstGeom prst="roundRect">
            <a:avLst>
              <a:gd name="adj" fmla="val 8276"/>
            </a:avLst>
          </a:prstGeom>
          <a:solidFill>
            <a:srgbClr val="F8FAFC"/>
          </a:solidFill>
          <a:ln w="12700">
            <a:solidFill>
              <a:srgbClr val="CBD5E1"/>
            </a:solidFill>
            <a:prstDash val="solid"/>
          </a:ln>
        </p:spPr>
      </p:sp>
      <p:sp>
        <p:nvSpPr>
          <p:cNvPr id="19" name="Shape 17"/>
          <p:cNvSpPr/>
          <p:nvPr/>
        </p:nvSpPr>
        <p:spPr>
          <a:xfrm>
            <a:off x="6428232" y="3063240"/>
            <a:ext cx="685800" cy="685800"/>
          </a:xfrm>
          <a:prstGeom prst="ellipse">
            <a:avLst/>
          </a:prstGeom>
          <a:solidFill>
            <a:srgbClr val="704EA6"/>
          </a:solidFill>
          <a:ln w="12700">
            <a:solidFill>
              <a:srgbClr val="704EA6"/>
            </a:solidFill>
            <a:prstDash val="solid"/>
          </a:ln>
        </p:spPr>
      </p:sp>
      <p:sp>
        <p:nvSpPr>
          <p:cNvPr id="20" name="Text 18"/>
          <p:cNvSpPr txBox="1"/>
          <p:nvPr/>
        </p:nvSpPr>
        <p:spPr>
          <a:xfrm>
            <a:off x="6428232" y="306324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VS</a:t>
            </a:r>
            <a:endParaRPr lang="en-US" sz="1800" dirty="0"/>
          </a:p>
        </p:txBody>
      </p:sp>
      <p:sp>
        <p:nvSpPr>
          <p:cNvPr id="21" name="Text 19"/>
          <p:cNvSpPr txBox="1"/>
          <p:nvPr/>
        </p:nvSpPr>
        <p:spPr>
          <a:xfrm>
            <a:off x="7296912" y="2834640"/>
            <a:ext cx="4297680" cy="1143000"/>
          </a:xfrm>
          <a:prstGeom prst="rect">
            <a:avLst/>
          </a:prstGeom>
          <a:noFill/>
          <a:ln/>
        </p:spPr>
        <p:txBody>
          <a:bodyPr wrap="square" lIns="0" tIns="0" rIns="0" bIns="0" rtlCol="0" anchor="ctr"/>
          <a:lstStyle/>
          <a:p>
            <a:pPr marL="0" indent="0">
              <a:spcAft>
                <a:spcPts val="300"/>
              </a:spcAft>
              <a:buNone/>
            </a:pPr>
            <a:r>
              <a:rPr lang="en-US" sz="1600" b="1" dirty="0">
                <a:solidFill>
                  <a:srgbClr val="1E293B"/>
                </a:solidFill>
                <a:latin typeface="Calibri" pitchFamily="34" charset="0"/>
                <a:ea typeface="Calibri" pitchFamily="34" charset="-122"/>
                <a:cs typeface="Calibri" pitchFamily="34" charset="-120"/>
              </a:rPr>
              <a:t>Vikramaditya Singh</a:t>
            </a:r>
            <a:endParaRPr lang="en-US" sz="1200" dirty="0"/>
          </a:p>
          <a:p>
            <a:pPr marL="0" indent="0">
              <a:spcAft>
                <a:spcPts val="300"/>
              </a:spcAft>
              <a:buNone/>
            </a:pPr>
            <a:r>
              <a:rPr lang="en-US" sz="1150" b="1" dirty="0">
                <a:solidFill>
                  <a:srgbClr val="704EA6"/>
                </a:solidFill>
                <a:latin typeface="Calibri" pitchFamily="34" charset="0"/>
                <a:ea typeface="Calibri" pitchFamily="34" charset="-122"/>
                <a:cs typeface="Calibri" pitchFamily="34" charset="-120"/>
              </a:rPr>
              <a:t>Member</a:t>
            </a:r>
            <a:endParaRPr lang="en-US" sz="1200" dirty="0"/>
          </a:p>
          <a:p>
            <a:pPr marL="0" indent="0">
              <a:spcAft>
                <a:spcPts val="300"/>
              </a:spcAft>
              <a:buNone/>
            </a:pPr>
            <a:r>
              <a:rPr lang="en-US" sz="1200" dirty="0">
                <a:solidFill>
                  <a:srgbClr val="334155"/>
                </a:solidFill>
                <a:latin typeface="Calibri" pitchFamily="34" charset="0"/>
                <a:ea typeface="Calibri" pitchFamily="34" charset="-122"/>
                <a:cs typeface="Calibri" pitchFamily="34" charset="-120"/>
              </a:rPr>
              <a:t>vsingh1_be24@thapar.edu</a:t>
            </a:r>
            <a:endParaRPr lang="en-US" sz="1200" dirty="0"/>
          </a:p>
          <a:p>
            <a:pPr marL="0" indent="0">
              <a:spcAft>
                <a:spcPts val="300"/>
              </a:spcAft>
              <a:buNone/>
            </a:pPr>
            <a:r>
              <a:rPr lang="en-US" sz="1200" dirty="0">
                <a:solidFill>
                  <a:srgbClr val="334155"/>
                </a:solidFill>
                <a:latin typeface="Calibri" pitchFamily="34" charset="0"/>
                <a:ea typeface="Calibri" pitchFamily="34" charset="-122"/>
                <a:cs typeface="Calibri" pitchFamily="34" charset="-120"/>
              </a:rPr>
              <a:t>+91-6239134155</a:t>
            </a:r>
            <a:endParaRPr lang="en-US" sz="1200" dirty="0"/>
          </a:p>
        </p:txBody>
      </p:sp>
      <p:sp>
        <p:nvSpPr>
          <p:cNvPr id="22" name="Shape 20"/>
          <p:cNvSpPr/>
          <p:nvPr/>
        </p:nvSpPr>
        <p:spPr>
          <a:xfrm>
            <a:off x="457200" y="4251960"/>
            <a:ext cx="11274552" cy="502920"/>
          </a:xfrm>
          <a:prstGeom prst="roundRect">
            <a:avLst>
              <a:gd name="adj" fmla="val 21818"/>
            </a:avLst>
          </a:prstGeom>
          <a:solidFill>
            <a:srgbClr val="EEF2FF"/>
          </a:solidFill>
          <a:ln w="12700">
            <a:solidFill>
              <a:srgbClr val="C7D2FE"/>
            </a:solidFill>
            <a:prstDash val="solid"/>
          </a:ln>
        </p:spPr>
      </p:sp>
      <p:sp>
        <p:nvSpPr>
          <p:cNvPr id="23" name="Text 21"/>
          <p:cNvSpPr txBox="1"/>
          <p:nvPr/>
        </p:nvSpPr>
        <p:spPr>
          <a:xfrm>
            <a:off x="457200" y="4251960"/>
            <a:ext cx="11274552" cy="502920"/>
          </a:xfrm>
          <a:prstGeom prst="rect">
            <a:avLst/>
          </a:prstGeom>
          <a:noFill/>
          <a:ln/>
        </p:spPr>
        <p:txBody>
          <a:bodyPr wrap="square" lIns="0" tIns="0" rIns="0" bIns="0" rtlCol="0" anchor="ctr"/>
          <a:lstStyle/>
          <a:p>
            <a:pPr marL="0" indent="0" algn="ctr">
              <a:buNone/>
            </a:pPr>
            <a:r>
              <a:rPr lang="en-US" sz="1500" b="1" dirty="0">
                <a:solidFill>
                  <a:srgbClr val="1E293B"/>
                </a:solidFill>
                <a:latin typeface="Calibri" pitchFamily="34" charset="0"/>
                <a:ea typeface="Calibri" pitchFamily="34" charset="-122"/>
                <a:cs typeface="Calibri" pitchFamily="34" charset="-120"/>
              </a:rPr>
              <a:t>GitHub:  </a:t>
            </a:r>
            <a:r>
              <a:rPr lang="en-US" sz="1500" b="1" dirty="0">
                <a:solidFill>
                  <a:srgbClr val="704EA6"/>
                </a:solidFill>
                <a:latin typeface="Calibri" pitchFamily="34" charset="0"/>
                <a:ea typeface="Calibri" pitchFamily="34" charset="-122"/>
                <a:cs typeface="Calibri" pitchFamily="34" charset="-120"/>
              </a:rPr>
              <a:t>https://github.com/abhinav29102005/ultron</a:t>
            </a:r>
            <a:endParaRPr lang="en-US" sz="1500" dirty="0"/>
          </a:p>
        </p:txBody>
      </p:sp>
      <p:sp>
        <p:nvSpPr>
          <p:cNvPr id="24" name="Shape 22"/>
          <p:cNvSpPr/>
          <p:nvPr/>
        </p:nvSpPr>
        <p:spPr>
          <a:xfrm>
            <a:off x="457200" y="4846320"/>
            <a:ext cx="11274552" cy="502920"/>
          </a:xfrm>
          <a:prstGeom prst="roundRect">
            <a:avLst>
              <a:gd name="adj" fmla="val 21818"/>
            </a:avLst>
          </a:prstGeom>
          <a:solidFill>
            <a:srgbClr val="EEF2FF"/>
          </a:solidFill>
          <a:ln w="12700">
            <a:solidFill>
              <a:srgbClr val="C7D2FE"/>
            </a:solidFill>
            <a:prstDash val="solid"/>
          </a:ln>
        </p:spPr>
      </p:sp>
      <p:sp>
        <p:nvSpPr>
          <p:cNvPr id="25" name="Text 23"/>
          <p:cNvSpPr txBox="1"/>
          <p:nvPr/>
        </p:nvSpPr>
        <p:spPr>
          <a:xfrm>
            <a:off x="457200" y="4846320"/>
            <a:ext cx="11274552" cy="502920"/>
          </a:xfrm>
          <a:prstGeom prst="rect">
            <a:avLst/>
          </a:prstGeom>
          <a:noFill/>
          <a:ln/>
        </p:spPr>
        <p:txBody>
          <a:bodyPr wrap="square" lIns="0" tIns="0" rIns="0" bIns="0" rtlCol="0" anchor="ctr"/>
          <a:lstStyle/>
          <a:p>
            <a:pPr marL="0" indent="0" algn="ctr">
              <a:buNone/>
            </a:pPr>
            <a:r>
              <a:rPr lang="en-US" sz="1500" b="1" dirty="0">
                <a:solidFill>
                  <a:srgbClr val="1E293B"/>
                </a:solidFill>
                <a:latin typeface="Calibri" pitchFamily="34" charset="0"/>
                <a:ea typeface="Calibri" pitchFamily="34" charset="-122"/>
                <a:cs typeface="Calibri" pitchFamily="34" charset="-120"/>
              </a:rPr>
              <a:t>Live Website:  </a:t>
            </a:r>
            <a:r>
              <a:rPr lang="en-US" sz="1500" b="1" dirty="0">
                <a:solidFill>
                  <a:srgbClr val="704EA6"/>
                </a:solidFill>
                <a:latin typeface="Calibri" pitchFamily="34" charset="0"/>
                <a:ea typeface="Calibri" pitchFamily="34" charset="-122"/>
                <a:cs typeface="Calibri" pitchFamily="34" charset="-120"/>
              </a:rPr>
              <a:t>https://ultron.abhinavkumarsingh.tech/</a:t>
            </a:r>
            <a:endParaRPr lang="en-US" sz="1500" dirty="0"/>
          </a:p>
        </p:txBody>
      </p:sp>
      <p:sp>
        <p:nvSpPr>
          <p:cNvPr id="26" name="Text 24"/>
          <p:cNvSpPr txBox="1"/>
          <p:nvPr/>
        </p:nvSpPr>
        <p:spPr>
          <a:xfrm>
            <a:off x="457200" y="5468112"/>
            <a:ext cx="11274552" cy="502920"/>
          </a:xfrm>
          <a:prstGeom prst="rect">
            <a:avLst/>
          </a:prstGeom>
          <a:noFill/>
          <a:ln/>
        </p:spPr>
        <p:txBody>
          <a:bodyPr wrap="square" lIns="0" tIns="0" rIns="0" bIns="0" rtlCol="0" anchor="ctr"/>
          <a:lstStyle/>
          <a:p>
            <a:pPr marL="0" indent="0" algn="ctr">
              <a:buNone/>
            </a:pPr>
            <a:r>
              <a:rPr lang="en-US" sz="2800" b="1" dirty="0">
                <a:solidFill>
                  <a:srgbClr val="704EA6"/>
                </a:solidFill>
                <a:latin typeface="Calibri" pitchFamily="34" charset="0"/>
                <a:ea typeface="Calibri" pitchFamily="34" charset="-122"/>
                <a:cs typeface="Calibri" pitchFamily="34" charset="-120"/>
              </a:rPr>
              <a:t>Thank you</a:t>
            </a:r>
            <a:endParaRPr lang="en-US" sz="2800" dirty="0"/>
          </a:p>
        </p:txBody>
      </p:sp>
      <p:sp>
        <p:nvSpPr>
          <p:cNvPr id="27" name="Text 25"/>
          <p:cNvSpPr txBox="1"/>
          <p:nvPr/>
        </p:nvSpPr>
        <p:spPr>
          <a:xfrm>
            <a:off x="457200" y="5943600"/>
            <a:ext cx="11274552" cy="27432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2150</Words>
  <Application>Microsoft Office PowerPoint</Application>
  <PresentationFormat>Widescreen</PresentationFormat>
  <Paragraphs>308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Sukhansh Mittal</cp:lastModifiedBy>
  <cp:revision>2</cp:revision>
  <dcterms:created xsi:type="dcterms:W3CDTF">2026-09-30T09:36:38Z</dcterms:created>
  <dcterms:modified xsi:type="dcterms:W3CDTF">2026-09-30T13:31:10Z</dcterms:modified>
</cp:coreProperties>
</file>